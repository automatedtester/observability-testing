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talk is about closing the gap between the tests we write in the lab and what our systems do in production. There's a live demo about halfway through, and the backup slides are there if the demo gods aren't kind.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 The key point: I've been on the 'make the browser tell the test what's happening' side for a long time with WebDriver and BiDi. This talk flips it: make production tell the tests what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Ask the room: hands up if your last serious production incident was caught by your E2E suite. [Usually few hands.] Most of the time the suite was green while the incident was happening.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suite is a model of the system that lives in our heads. It's great at the known-unknowns. Production is full of unknown-unknowns: the paths we never scripted.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shift left to find bugs early, which is good. But then production emits millions of spans a day describing exactly how the system behaves, and QA rarely touches that data. That's the gap this talk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forces make static oracles break down. With AI agents you can't assert on exact text, so you assert on behaviour: did it call the right tools, in a sane order, within budget. Micro-frontends and distributed systems mean the interesting failures sit between components. Those are exactly what traces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define the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this isn't 'let's just test in prod'. It's an SDLC shift: the same telemetry that tells SREs about incidents becomes the oracle for tests everywhere. Your unit and contract tests stay. ODT sits on top as the integration and behaviour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thing to remember is the traceparent header. Whoever sends it decides which trace the downstream work belongs to. If the test sends it, the test owns the trace. That's the trick the demo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mindset shift. Keep your UI assertions, and add assertions about the path the request took. Retries masking 500s are the classic example: the UI is fine, but the system is degraded.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make this concrete with the demo repo: a tiny to-do app, fully instrumented, driven by Selenium.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process is itself an OTel service called selenium-tests. For each user action it opens a span, and a BiDi network intercept stamps that span's traceparent onto every request Chrome makes. Flask's instrumentation extracts it, so backend spans become children of the test span. Classic WebDriver can't set arbitrary request headers; BiDi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code barely changes. You wrap each step in traced_action. The span name is the step name, so when you open Jaeger the trace reads like the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BiDi callbacks run on the websocket thread, which doesn't share the test thread's OTel contextvars. So the test thread writes its context into a shared carrier and the callback reads it. The except branch still calls continue_request, because an un-continued intercept hangs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(about 5 minutes).
1. Terminal 1: ./scripts/run_jaeger.sh
2. Terminal 2: ./scripts/run_app.sh (point out the trace_id on log lines as they appear)
3. Terminal 3: HEADLESS=0 .venv/bin/python -m pytest tests/ -v
4. Jaeger: pick selenium-tests, open the newest trace, expand add task and show POST /api/tasks &gt; create_task nested under it. Click create_task and show the task.id attribute.
5. Copy a trace_id from the app console log and search it in Jaeger to show the log-to-trace pivot.
If anything fails, go to the next two slides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if the live demo fails. Test spans are amber, app spans teal, all under one trace id. The GET /api/tasks under add task is the UI re-rendering the list after the POST. That's behaviour you'd never write an assertion for, but you can see it here. The complete and delete steps also have a list refresh; it's left off the slide for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of these cost me real time, so I'm saving you the pain. The first one feels like a Chrome bug but it's the interaction between classic navigation and an active intercept. The second only shows up under concurrency: a page that fires several fetches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shows test to trace. Now let's reverse the arrow: trace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it gets exciting. Production traces tell you which journeys users take and how often. Cluster them by span shape, meaning which services and operations in which order. The top journeys become your integration suite. Because the demo makes tests emit traces too, you can diff a test trace against its production twin. Mention: scrub PII before anything leaves prod.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sketch, not code in the repo yet. It's the natural next step: pull the trace the test just produced from Jaeger's query API and assert on it. Tools like Tracetest do this off the shelf. For AI agents it's the only sane way to test: you assert the agent retrieved, planned and called a tool in a sensible order within a budget, not that it produced an exact 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don't need a platform team to start. One instrumented service plus traceparent from your tests is enough to find things your suite couldn't see. Caveats: traces carry user data, so scrub it. Sampling means you need 100% sampling in test environments. And spans are batched, so flush before you query, which the demo does in the tracer fixture teardown.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three takeaways. Then take questions. Point people to the demo repo; add the exact repo URL here once it's pushed.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0"/>
        </a:solidFill>
      </p:bgPr>
    </p:bg>
    <p:spTree>
      <p:nvGrpSpPr>
        <p:cNvPr id="1" name=""/>
        <p:cNvGrpSpPr/>
        <p:nvPr/>
      </p:nvGrpSpPr>
      <p:grpSpPr>
        <a:xfrm>
          <a:off x="0" y="0"/>
          <a:ext cx="0" cy="0"/>
          <a:chOff x="0" y="0"/>
          <a:chExt cx="0" cy="0"/>
        </a:xfrm>
      </p:grpSpPr>
      <p:sp>
        <p:nvSpPr>
          <p:cNvPr id="2" name="Shape 0"/>
          <p:cNvSpPr/>
          <p:nvPr/>
        </p:nvSpPr>
        <p:spPr>
          <a:xfrm>
            <a:off x="5120640" y="822960"/>
            <a:ext cx="3291840" cy="146304"/>
          </a:xfrm>
          <a:prstGeom prst="roundRect">
            <a:avLst>
              <a:gd name="adj" fmla="val 37500"/>
            </a:avLst>
          </a:prstGeom>
          <a:solidFill>
            <a:srgbClr val="F5A524"/>
          </a:solidFill>
          <a:ln w="12700">
            <a:solidFill>
              <a:srgbClr val="F5A524"/>
            </a:solidFill>
            <a:prstDash val="solid"/>
          </a:ln>
        </p:spPr>
      </p:sp>
      <p:sp>
        <p:nvSpPr>
          <p:cNvPr id="3" name="Shape 1"/>
          <p:cNvSpPr/>
          <p:nvPr/>
        </p:nvSpPr>
        <p:spPr>
          <a:xfrm>
            <a:off x="5394960" y="1115568"/>
            <a:ext cx="1097280" cy="146304"/>
          </a:xfrm>
          <a:prstGeom prst="roundRect">
            <a:avLst>
              <a:gd name="adj" fmla="val 37500"/>
            </a:avLst>
          </a:prstGeom>
          <a:solidFill>
            <a:srgbClr val="8B7CF6"/>
          </a:solidFill>
          <a:ln w="12700">
            <a:solidFill>
              <a:srgbClr val="8B7CF6"/>
            </a:solidFill>
            <a:prstDash val="solid"/>
          </a:ln>
        </p:spPr>
      </p:sp>
      <p:sp>
        <p:nvSpPr>
          <p:cNvPr id="4" name="Shape 2"/>
          <p:cNvSpPr/>
          <p:nvPr/>
        </p:nvSpPr>
        <p:spPr>
          <a:xfrm>
            <a:off x="5623560" y="1408176"/>
            <a:ext cx="640080" cy="146304"/>
          </a:xfrm>
          <a:prstGeom prst="roundRect">
            <a:avLst>
              <a:gd name="adj" fmla="val 37500"/>
            </a:avLst>
          </a:prstGeom>
          <a:solidFill>
            <a:srgbClr val="1FB5A8"/>
          </a:solidFill>
          <a:ln w="12700">
            <a:solidFill>
              <a:srgbClr val="1FB5A8"/>
            </a:solidFill>
            <a:prstDash val="solid"/>
          </a:ln>
        </p:spPr>
      </p:sp>
      <p:sp>
        <p:nvSpPr>
          <p:cNvPr id="5" name="Shape 3"/>
          <p:cNvSpPr/>
          <p:nvPr/>
        </p:nvSpPr>
        <p:spPr>
          <a:xfrm>
            <a:off x="6583680" y="1700784"/>
            <a:ext cx="1463040" cy="146304"/>
          </a:xfrm>
          <a:prstGeom prst="roundRect">
            <a:avLst>
              <a:gd name="adj" fmla="val 37500"/>
            </a:avLst>
          </a:prstGeom>
          <a:solidFill>
            <a:srgbClr val="8B7CF6"/>
          </a:solidFill>
          <a:ln w="12700">
            <a:solidFill>
              <a:srgbClr val="8B7CF6"/>
            </a:solidFill>
            <a:prstDash val="solid"/>
          </a:ln>
        </p:spPr>
      </p:sp>
      <p:sp>
        <p:nvSpPr>
          <p:cNvPr id="6" name="Shape 4"/>
          <p:cNvSpPr/>
          <p:nvPr/>
        </p:nvSpPr>
        <p:spPr>
          <a:xfrm>
            <a:off x="6812280" y="1993392"/>
            <a:ext cx="822960" cy="146304"/>
          </a:xfrm>
          <a:prstGeom prst="roundRect">
            <a:avLst>
              <a:gd name="adj" fmla="val 37500"/>
            </a:avLst>
          </a:prstGeom>
          <a:solidFill>
            <a:srgbClr val="1FB5A8"/>
          </a:solidFill>
          <a:ln w="12700">
            <a:solidFill>
              <a:srgbClr val="1FB5A8"/>
            </a:solidFill>
            <a:prstDash val="solid"/>
          </a:ln>
        </p:spPr>
      </p:sp>
      <p:sp>
        <p:nvSpPr>
          <p:cNvPr id="7" name="Shape 5"/>
          <p:cNvSpPr/>
          <p:nvPr/>
        </p:nvSpPr>
        <p:spPr>
          <a:xfrm>
            <a:off x="7726680" y="2286000"/>
            <a:ext cx="548640" cy="146304"/>
          </a:xfrm>
          <a:prstGeom prst="roundRect">
            <a:avLst>
              <a:gd name="adj" fmla="val 37500"/>
            </a:avLst>
          </a:prstGeom>
          <a:solidFill>
            <a:srgbClr val="1FB5A8"/>
          </a:solidFill>
          <a:ln w="12700">
            <a:solidFill>
              <a:srgbClr val="1FB5A8"/>
            </a:solidFill>
            <a:prstDash val="solid"/>
          </a:ln>
        </p:spPr>
      </p:sp>
      <p:sp>
        <p:nvSpPr>
          <p:cNvPr id="8" name="Text 6"/>
          <p:cNvSpPr txBox="1"/>
          <p:nvPr/>
        </p:nvSpPr>
        <p:spPr>
          <a:xfrm>
            <a:off x="548640" y="822960"/>
            <a:ext cx="3657600" cy="274320"/>
          </a:xfrm>
          <a:prstGeom prst="rect">
            <a:avLst/>
          </a:prstGeom>
          <a:noFill/>
          <a:ln/>
        </p:spPr>
        <p:txBody>
          <a:bodyPr wrap="square" lIns="0" tIns="0" rIns="0" bIns="0" rtlCol="0" anchor="t"/>
          <a:lstStyle/>
          <a:p>
            <a:pPr indent="0" marL="0">
              <a:buNone/>
            </a:pPr>
            <a:r>
              <a:rPr lang="en-US" sz="1100" b="1" spc="400" kern="0" dirty="0">
                <a:solidFill>
                  <a:srgbClr val="F5A524"/>
                </a:solidFill>
                <a:latin typeface="Arial" pitchFamily="34" charset="0"/>
                <a:ea typeface="Arial" pitchFamily="34" charset="-122"/>
                <a:cs typeface="Arial" pitchFamily="34" charset="-120"/>
              </a:rPr>
              <a:t>MOTACON 2026</a:t>
            </a:r>
            <a:endParaRPr lang="en-US" sz="1100" dirty="0"/>
          </a:p>
        </p:txBody>
      </p:sp>
      <p:sp>
        <p:nvSpPr>
          <p:cNvPr id="9" name="Text 7"/>
          <p:cNvSpPr txBox="1"/>
          <p:nvPr/>
        </p:nvSpPr>
        <p:spPr>
          <a:xfrm>
            <a:off x="548640" y="1828800"/>
            <a:ext cx="7772400" cy="146304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Stop guessing,</a:t>
            </a:r>
            <a:endParaRPr lang="en-US" sz="4800" dirty="0"/>
          </a:p>
          <a:p>
            <a:pPr indent="0" marL="0">
              <a:buNone/>
            </a:pPr>
            <a:r>
              <a:rPr lang="en-US" sz="4800" b="1" dirty="0">
                <a:solidFill>
                  <a:srgbClr val="FFFFFF"/>
                </a:solidFill>
                <a:latin typeface="Arial" pitchFamily="34" charset="0"/>
                <a:ea typeface="Arial" pitchFamily="34" charset="-122"/>
                <a:cs typeface="Arial" pitchFamily="34" charset="-120"/>
              </a:rPr>
              <a:t>start seeing</a:t>
            </a:r>
            <a:endParaRPr lang="en-US" sz="4800" dirty="0"/>
          </a:p>
        </p:txBody>
      </p:sp>
      <p:sp>
        <p:nvSpPr>
          <p:cNvPr id="10" name="Text 8"/>
          <p:cNvSpPr txBox="1"/>
          <p:nvPr/>
        </p:nvSpPr>
        <p:spPr>
          <a:xfrm>
            <a:off x="548640" y="3474720"/>
            <a:ext cx="7315200" cy="365760"/>
          </a:xfrm>
          <a:prstGeom prst="rect">
            <a:avLst/>
          </a:prstGeom>
          <a:noFill/>
          <a:ln/>
        </p:spPr>
        <p:txBody>
          <a:bodyPr wrap="square" lIns="0" tIns="0" rIns="0" bIns="0" rtlCol="0" anchor="t"/>
          <a:lstStyle/>
          <a:p>
            <a:pPr indent="0" marL="0">
              <a:buNone/>
            </a:pPr>
            <a:r>
              <a:rPr lang="en-US" sz="2000" dirty="0">
                <a:solidFill>
                  <a:srgbClr val="9AA4B5"/>
                </a:solidFill>
                <a:latin typeface="Arial" pitchFamily="34" charset="0"/>
                <a:ea typeface="Arial" pitchFamily="34" charset="-122"/>
                <a:cs typeface="Arial" pitchFamily="34" charset="-120"/>
              </a:rPr>
              <a:t>The rise of Observability-Driven Testing</a:t>
            </a:r>
            <a:endParaRPr lang="en-US" sz="2000" dirty="0"/>
          </a:p>
        </p:txBody>
      </p:sp>
      <p:sp>
        <p:nvSpPr>
          <p:cNvPr id="11" name="Text 9"/>
          <p:cNvSpPr txBox="1"/>
          <p:nvPr/>
        </p:nvSpPr>
        <p:spPr>
          <a:xfrm>
            <a:off x="548640" y="4343400"/>
            <a:ext cx="7315200" cy="274320"/>
          </a:xfrm>
          <a:prstGeom prst="rect">
            <a:avLst/>
          </a:prstGeom>
          <a:noFill/>
          <a:ln/>
        </p:spPr>
        <p:txBody>
          <a:bodyPr wrap="square" lIns="0" tIns="0" rIns="0" bIns="0" rtlCol="0" anchor="t"/>
          <a:lstStyle/>
          <a:p>
            <a:pPr indent="0" marL="0">
              <a:buNone/>
            </a:pPr>
            <a:r>
              <a:rPr lang="en-US" sz="1200" dirty="0">
                <a:solidFill>
                  <a:srgbClr val="9AA4B5"/>
                </a:solidFill>
                <a:latin typeface="Arial" pitchFamily="34" charset="0"/>
                <a:ea typeface="Arial" pitchFamily="34" charset="-122"/>
                <a:cs typeface="Arial" pitchFamily="34" charset="-120"/>
              </a:rPr>
              <a:t>David Burns  ·  @AutomatedTester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64592"/>
            <a:ext cx="8229600" cy="228600"/>
          </a:xfrm>
          <a:prstGeom prst="rect">
            <a:avLst/>
          </a:prstGeom>
          <a:noFill/>
          <a:ln/>
        </p:spPr>
        <p:txBody>
          <a:bodyPr wrap="square" lIns="0" tIns="0" rIns="0" bIns="0" rtlCol="0" anchor="t"/>
          <a:lstStyle/>
          <a:p>
            <a:pPr indent="0" marL="0">
              <a:buNone/>
            </a:pPr>
            <a:r>
              <a:rPr lang="en-US" sz="1000" b="1" spc="300" kern="0" dirty="0">
                <a:solidFill>
                  <a:srgbClr val="B7770A"/>
                </a:solidFill>
                <a:latin typeface="Arial" pitchFamily="34" charset="0"/>
                <a:ea typeface="Arial" pitchFamily="34" charset="-122"/>
                <a:cs typeface="Arial" pitchFamily="34" charset="-120"/>
              </a:rPr>
              <a:t>WHO'S TALKING</a:t>
            </a:r>
            <a:endParaRPr lang="en-US" sz="1000" dirty="0"/>
          </a:p>
        </p:txBody>
      </p:sp>
      <p:sp>
        <p:nvSpPr>
          <p:cNvPr id="3" name="Text 1"/>
          <p:cNvSpPr txBox="1"/>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0B1320"/>
                </a:solidFill>
                <a:latin typeface="Arial" pitchFamily="34" charset="0"/>
                <a:ea typeface="Arial" pitchFamily="34" charset="-122"/>
                <a:cs typeface="Arial" pitchFamily="34" charset="-120"/>
              </a:rPr>
              <a:t>David Burns</a:t>
            </a:r>
            <a:endParaRPr lang="en-US" sz="3000" dirty="0"/>
          </a:p>
        </p:txBody>
      </p:sp>
      <p:sp>
        <p:nvSpPr>
          <p:cNvPr id="4" name="Shape 2"/>
          <p:cNvSpPr/>
          <p:nvPr/>
        </p:nvSpPr>
        <p:spPr>
          <a:xfrm>
            <a:off x="457200" y="1325880"/>
            <a:ext cx="5120640" cy="841248"/>
          </a:xfrm>
          <a:prstGeom prst="roundRect">
            <a:avLst>
              <a:gd name="adj" fmla="val 8696"/>
            </a:avLst>
          </a:prstGeom>
          <a:solidFill>
            <a:srgbClr val="F1F4F8"/>
          </a:solidFill>
          <a:ln w="12700">
            <a:solidFill>
              <a:srgbClr val="F1F4F8"/>
            </a:solidFill>
            <a:prstDash val="solid"/>
          </a:ln>
        </p:spPr>
      </p:sp>
      <p:sp>
        <p:nvSpPr>
          <p:cNvPr id="5" name="Shape 3"/>
          <p:cNvSpPr/>
          <p:nvPr/>
        </p:nvSpPr>
        <p:spPr>
          <a:xfrm>
            <a:off x="658368" y="1545336"/>
            <a:ext cx="402336" cy="402336"/>
          </a:xfrm>
          <a:prstGeom prst="ellipse">
            <a:avLst/>
          </a:prstGeom>
          <a:solidFill>
            <a:srgbClr val="F5A524"/>
          </a:solidFill>
          <a:ln w="12700">
            <a:solidFill>
              <a:srgbClr val="F5A524"/>
            </a:solidFill>
            <a:prstDash val="solid"/>
          </a:ln>
        </p:spPr>
      </p:sp>
      <p:sp>
        <p:nvSpPr>
          <p:cNvPr id="6" name="Text 4"/>
          <p:cNvSpPr txBox="1"/>
          <p:nvPr/>
        </p:nvSpPr>
        <p:spPr>
          <a:xfrm>
            <a:off x="1234440" y="1453896"/>
            <a:ext cx="4206240" cy="274320"/>
          </a:xfrm>
          <a:prstGeom prst="rect">
            <a:avLst/>
          </a:prstGeom>
          <a:noFill/>
          <a:ln/>
        </p:spPr>
        <p:txBody>
          <a:bodyPr wrap="square" lIns="0" tIns="0" rIns="0" bIns="0" rtlCol="0" anchor="t"/>
          <a:lstStyle/>
          <a:p>
            <a:pPr indent="0" marL="0">
              <a:buNone/>
            </a:pPr>
            <a:r>
              <a:rPr lang="en-US" sz="1400" b="1" dirty="0">
                <a:solidFill>
                  <a:srgbClr val="0B1320"/>
                </a:solidFill>
                <a:latin typeface="Arial" pitchFamily="34" charset="0"/>
                <a:ea typeface="Arial" pitchFamily="34" charset="-122"/>
                <a:cs typeface="Arial" pitchFamily="34" charset="-120"/>
              </a:rPr>
              <a:t>Selenium</a:t>
            </a:r>
            <a:endParaRPr lang="en-US" sz="1400" dirty="0"/>
          </a:p>
        </p:txBody>
      </p:sp>
      <p:sp>
        <p:nvSpPr>
          <p:cNvPr id="7" name="Text 5"/>
          <p:cNvSpPr txBox="1"/>
          <p:nvPr/>
        </p:nvSpPr>
        <p:spPr>
          <a:xfrm>
            <a:off x="1234440" y="1737360"/>
            <a:ext cx="4206240" cy="365760"/>
          </a:xfrm>
          <a:prstGeom prst="rect">
            <a:avLst/>
          </a:prstGeom>
          <a:noFill/>
          <a:ln/>
        </p:spPr>
        <p:txBody>
          <a:bodyPr wrap="square" lIns="0" tIns="0" rIns="0" bIns="0" rtlCol="0" anchor="t"/>
          <a:lstStyle/>
          <a:p>
            <a:pPr indent="0" marL="0">
              <a:buNone/>
            </a:pPr>
            <a:r>
              <a:rPr lang="en-US" sz="1200" dirty="0">
                <a:solidFill>
                  <a:srgbClr val="5B6577"/>
                </a:solidFill>
                <a:latin typeface="Arial" pitchFamily="34" charset="0"/>
                <a:ea typeface="Arial" pitchFamily="34" charset="-122"/>
                <a:cs typeface="Arial" pitchFamily="34" charset="-120"/>
              </a:rPr>
              <a:t>Core maintainer of the Selenium project</a:t>
            </a:r>
            <a:endParaRPr lang="en-US" sz="1200" dirty="0"/>
          </a:p>
        </p:txBody>
      </p:sp>
      <p:sp>
        <p:nvSpPr>
          <p:cNvPr id="8" name="Shape 6"/>
          <p:cNvSpPr/>
          <p:nvPr/>
        </p:nvSpPr>
        <p:spPr>
          <a:xfrm>
            <a:off x="457200" y="2350008"/>
            <a:ext cx="5120640" cy="841248"/>
          </a:xfrm>
          <a:prstGeom prst="roundRect">
            <a:avLst>
              <a:gd name="adj" fmla="val 8696"/>
            </a:avLst>
          </a:prstGeom>
          <a:solidFill>
            <a:srgbClr val="F1F4F8"/>
          </a:solidFill>
          <a:ln w="12700">
            <a:solidFill>
              <a:srgbClr val="F1F4F8"/>
            </a:solidFill>
            <a:prstDash val="solid"/>
          </a:ln>
        </p:spPr>
      </p:sp>
      <p:sp>
        <p:nvSpPr>
          <p:cNvPr id="9" name="Shape 7"/>
          <p:cNvSpPr/>
          <p:nvPr/>
        </p:nvSpPr>
        <p:spPr>
          <a:xfrm>
            <a:off x="658368" y="2569464"/>
            <a:ext cx="402336" cy="402336"/>
          </a:xfrm>
          <a:prstGeom prst="ellipse">
            <a:avLst/>
          </a:prstGeom>
          <a:solidFill>
            <a:srgbClr val="8B7CF6"/>
          </a:solidFill>
          <a:ln w="12700">
            <a:solidFill>
              <a:srgbClr val="8B7CF6"/>
            </a:solidFill>
            <a:prstDash val="solid"/>
          </a:ln>
        </p:spPr>
      </p:sp>
      <p:sp>
        <p:nvSpPr>
          <p:cNvPr id="10" name="Text 8"/>
          <p:cNvSpPr txBox="1"/>
          <p:nvPr/>
        </p:nvSpPr>
        <p:spPr>
          <a:xfrm>
            <a:off x="1234440" y="2478024"/>
            <a:ext cx="4206240" cy="274320"/>
          </a:xfrm>
          <a:prstGeom prst="rect">
            <a:avLst/>
          </a:prstGeom>
          <a:noFill/>
          <a:ln/>
        </p:spPr>
        <p:txBody>
          <a:bodyPr wrap="square" lIns="0" tIns="0" rIns="0" bIns="0" rtlCol="0" anchor="t"/>
          <a:lstStyle/>
          <a:p>
            <a:pPr indent="0" marL="0">
              <a:buNone/>
            </a:pPr>
            <a:r>
              <a:rPr lang="en-US" sz="1400" b="1" dirty="0">
                <a:solidFill>
                  <a:srgbClr val="0B1320"/>
                </a:solidFill>
                <a:latin typeface="Arial" pitchFamily="34" charset="0"/>
                <a:ea typeface="Arial" pitchFamily="34" charset="-122"/>
                <a:cs typeface="Arial" pitchFamily="34" charset="-120"/>
              </a:rPr>
              <a:t>W3C</a:t>
            </a:r>
            <a:endParaRPr lang="en-US" sz="1400" dirty="0"/>
          </a:p>
        </p:txBody>
      </p:sp>
      <p:sp>
        <p:nvSpPr>
          <p:cNvPr id="11" name="Text 9"/>
          <p:cNvSpPr txBox="1"/>
          <p:nvPr/>
        </p:nvSpPr>
        <p:spPr>
          <a:xfrm>
            <a:off x="1234440" y="2761488"/>
            <a:ext cx="4206240" cy="365760"/>
          </a:xfrm>
          <a:prstGeom prst="rect">
            <a:avLst/>
          </a:prstGeom>
          <a:noFill/>
          <a:ln/>
        </p:spPr>
        <p:txBody>
          <a:bodyPr wrap="square" lIns="0" tIns="0" rIns="0" bIns="0" rtlCol="0" anchor="t"/>
          <a:lstStyle/>
          <a:p>
            <a:pPr indent="0" marL="0">
              <a:buNone/>
            </a:pPr>
            <a:r>
              <a:rPr lang="en-US" sz="1200" dirty="0">
                <a:solidFill>
                  <a:srgbClr val="5B6577"/>
                </a:solidFill>
                <a:latin typeface="Arial" pitchFamily="34" charset="0"/>
                <a:ea typeface="Arial" pitchFamily="34" charset="-122"/>
                <a:cs typeface="Arial" pitchFamily="34" charset="-120"/>
              </a:rPr>
              <a:t>Browser Testing &amp; Tools Working Group: WebDriver and WebDriver BiDi</a:t>
            </a:r>
            <a:endParaRPr lang="en-US" sz="1200" dirty="0"/>
          </a:p>
        </p:txBody>
      </p:sp>
      <p:sp>
        <p:nvSpPr>
          <p:cNvPr id="12" name="Shape 10"/>
          <p:cNvSpPr/>
          <p:nvPr/>
        </p:nvSpPr>
        <p:spPr>
          <a:xfrm>
            <a:off x="457200" y="3374136"/>
            <a:ext cx="5120640" cy="841248"/>
          </a:xfrm>
          <a:prstGeom prst="roundRect">
            <a:avLst>
              <a:gd name="adj" fmla="val 8696"/>
            </a:avLst>
          </a:prstGeom>
          <a:solidFill>
            <a:srgbClr val="F1F4F8"/>
          </a:solidFill>
          <a:ln w="12700">
            <a:solidFill>
              <a:srgbClr val="F1F4F8"/>
            </a:solidFill>
            <a:prstDash val="solid"/>
          </a:ln>
        </p:spPr>
      </p:sp>
      <p:sp>
        <p:nvSpPr>
          <p:cNvPr id="13" name="Shape 11"/>
          <p:cNvSpPr/>
          <p:nvPr/>
        </p:nvSpPr>
        <p:spPr>
          <a:xfrm>
            <a:off x="658368" y="3593592"/>
            <a:ext cx="402336" cy="402336"/>
          </a:xfrm>
          <a:prstGeom prst="ellipse">
            <a:avLst/>
          </a:prstGeom>
          <a:solidFill>
            <a:srgbClr val="1FB5A8"/>
          </a:solidFill>
          <a:ln w="12700">
            <a:solidFill>
              <a:srgbClr val="1FB5A8"/>
            </a:solidFill>
            <a:prstDash val="solid"/>
          </a:ln>
        </p:spPr>
      </p:sp>
      <p:sp>
        <p:nvSpPr>
          <p:cNvPr id="14" name="Text 12"/>
          <p:cNvSpPr txBox="1"/>
          <p:nvPr/>
        </p:nvSpPr>
        <p:spPr>
          <a:xfrm>
            <a:off x="1234440" y="3502152"/>
            <a:ext cx="4206240" cy="274320"/>
          </a:xfrm>
          <a:prstGeom prst="rect">
            <a:avLst/>
          </a:prstGeom>
          <a:noFill/>
          <a:ln/>
        </p:spPr>
        <p:txBody>
          <a:bodyPr wrap="square" lIns="0" tIns="0" rIns="0" bIns="0" rtlCol="0" anchor="t"/>
          <a:lstStyle/>
          <a:p>
            <a:pPr indent="0" marL="0">
              <a:buNone/>
            </a:pPr>
            <a:r>
              <a:rPr lang="en-US" sz="1400" b="1" dirty="0">
                <a:solidFill>
                  <a:srgbClr val="0B1320"/>
                </a:solidFill>
                <a:latin typeface="Arial" pitchFamily="34" charset="0"/>
                <a:ea typeface="Arial" pitchFamily="34" charset="-122"/>
                <a:cs typeface="Arial" pitchFamily="34" charset="-120"/>
              </a:rPr>
              <a:t>DevRel</a:t>
            </a:r>
            <a:endParaRPr lang="en-US" sz="1400" dirty="0"/>
          </a:p>
        </p:txBody>
      </p:sp>
      <p:sp>
        <p:nvSpPr>
          <p:cNvPr id="15" name="Text 13"/>
          <p:cNvSpPr txBox="1"/>
          <p:nvPr/>
        </p:nvSpPr>
        <p:spPr>
          <a:xfrm>
            <a:off x="1234440" y="3785616"/>
            <a:ext cx="4206240" cy="365760"/>
          </a:xfrm>
          <a:prstGeom prst="rect">
            <a:avLst/>
          </a:prstGeom>
          <a:noFill/>
          <a:ln/>
        </p:spPr>
        <p:txBody>
          <a:bodyPr wrap="square" lIns="0" tIns="0" rIns="0" bIns="0" rtlCol="0" anchor="t"/>
          <a:lstStyle/>
          <a:p>
            <a:pPr indent="0" marL="0">
              <a:buNone/>
            </a:pPr>
            <a:r>
              <a:rPr lang="en-US" sz="1200" dirty="0">
                <a:solidFill>
                  <a:srgbClr val="5B6577"/>
                </a:solidFill>
                <a:latin typeface="Arial" pitchFamily="34" charset="0"/>
                <a:ea typeface="Arial" pitchFamily="34" charset="-122"/>
                <a:cs typeface="Arial" pitchFamily="34" charset="-120"/>
              </a:rPr>
              <a:t>Developer Relations Engineer and host of the BrowserStack Talks podcast</a:t>
            </a:r>
            <a:endParaRPr lang="en-US" sz="1200" dirty="0"/>
          </a:p>
        </p:txBody>
      </p:sp>
      <p:sp>
        <p:nvSpPr>
          <p:cNvPr id="16" name="Shape 14"/>
          <p:cNvSpPr/>
          <p:nvPr/>
        </p:nvSpPr>
        <p:spPr>
          <a:xfrm>
            <a:off x="5943600" y="1325880"/>
            <a:ext cx="2743200" cy="2889504"/>
          </a:xfrm>
          <a:prstGeom prst="roundRect">
            <a:avLst>
              <a:gd name="adj" fmla="val 2667"/>
            </a:avLst>
          </a:prstGeom>
          <a:solidFill>
            <a:srgbClr val="0B1320"/>
          </a:solidFill>
          <a:ln w="12700">
            <a:solidFill>
              <a:srgbClr val="0B1320"/>
            </a:solidFill>
            <a:prstDash val="solid"/>
          </a:ln>
        </p:spPr>
      </p:sp>
      <p:sp>
        <p:nvSpPr>
          <p:cNvPr id="17" name="Text 15"/>
          <p:cNvSpPr txBox="1"/>
          <p:nvPr/>
        </p:nvSpPr>
        <p:spPr>
          <a:xfrm>
            <a:off x="6172200" y="1508760"/>
            <a:ext cx="2286000" cy="274320"/>
          </a:xfrm>
          <a:prstGeom prst="rect">
            <a:avLst/>
          </a:prstGeom>
          <a:noFill/>
          <a:ln/>
        </p:spPr>
        <p:txBody>
          <a:bodyPr wrap="square" lIns="0" tIns="0" rIns="0" bIns="0" rtlCol="0" anchor="t"/>
          <a:lstStyle/>
          <a:p>
            <a:pPr indent="0" marL="0">
              <a:buNone/>
            </a:pPr>
            <a:r>
              <a:rPr lang="en-US" sz="1200" b="1" dirty="0">
                <a:solidFill>
                  <a:srgbClr val="F5A524"/>
                </a:solidFill>
                <a:latin typeface="Arial" pitchFamily="34" charset="0"/>
                <a:ea typeface="Arial" pitchFamily="34" charset="-122"/>
                <a:cs typeface="Arial" pitchFamily="34" charset="-120"/>
              </a:rPr>
              <a:t>Why I care</a:t>
            </a:r>
            <a:endParaRPr lang="en-US" sz="1200" dirty="0"/>
          </a:p>
        </p:txBody>
      </p:sp>
      <p:sp>
        <p:nvSpPr>
          <p:cNvPr id="18" name="Text 16"/>
          <p:cNvSpPr txBox="1"/>
          <p:nvPr/>
        </p:nvSpPr>
        <p:spPr>
          <a:xfrm>
            <a:off x="6172200" y="1874520"/>
            <a:ext cx="2331720" cy="210312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I've spent years helping browsers report what tests do. Now I want tests to learn from what users do.</a:t>
            </a:r>
            <a:endParaRPr lang="en-US" sz="1400" dirty="0"/>
          </a:p>
        </p:txBody>
      </p:sp>
      <p:sp>
        <p:nvSpPr>
          <p:cNvPr id="19" name="Text 17"/>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5B6577"/>
                </a:solidFill>
                <a:latin typeface="Arial" pitchFamily="34" charset="0"/>
                <a:ea typeface="Arial" pitchFamily="34" charset="-122"/>
                <a:cs typeface="Arial" pitchFamily="34" charset="-120"/>
              </a:rPr>
              <a:t>Stop guessing, start seeing  ·  Motacon 2026</a:t>
            </a:r>
            <a:endParaRPr lang="en-US" sz="800" dirty="0"/>
          </a:p>
        </p:txBody>
      </p:sp>
      <p:sp>
        <p:nvSpPr>
          <p:cNvPr id="20" name="Text 18"/>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00" dirty="0">
                <a:solidFill>
                  <a:srgbClr val="5B6577"/>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320"/>
        </a:solidFill>
      </p:bgPr>
    </p:bg>
    <p:spTree>
      <p:nvGrpSpPr>
        <p:cNvPr id="1" name=""/>
        <p:cNvGrpSpPr/>
        <p:nvPr/>
      </p:nvGrpSpPr>
      <p:grpSpPr>
        <a:xfrm>
          <a:off x="0" y="0"/>
          <a:ext cx="0" cy="0"/>
          <a:chOff x="0" y="0"/>
          <a:chExt cx="0" cy="0"/>
        </a:xfrm>
      </p:grpSpPr>
      <p:sp>
        <p:nvSpPr>
          <p:cNvPr id="2" name="Text 0"/>
          <p:cNvSpPr txBox="1"/>
          <p:nvPr/>
        </p:nvSpPr>
        <p:spPr>
          <a:xfrm>
            <a:off x="457200" y="548640"/>
            <a:ext cx="1371600" cy="1097280"/>
          </a:xfrm>
          <a:prstGeom prst="rect">
            <a:avLst/>
          </a:prstGeom>
          <a:noFill/>
          <a:ln/>
        </p:spPr>
        <p:txBody>
          <a:bodyPr wrap="square" lIns="0" tIns="0" rIns="0" bIns="0" rtlCol="0" anchor="t"/>
          <a:lstStyle/>
          <a:p>
            <a:pPr indent="0" marL="0">
              <a:buNone/>
            </a:pPr>
            <a:r>
              <a:rPr lang="en-US" sz="11000" b="1" dirty="0">
                <a:solidFill>
                  <a:srgbClr val="F5A524"/>
                </a:solidFill>
                <a:latin typeface="Times New Roman" pitchFamily="34" charset="0"/>
                <a:ea typeface="Times New Roman" pitchFamily="34" charset="-122"/>
                <a:cs typeface="Times New Roman" pitchFamily="34" charset="-120"/>
              </a:rPr>
              <a:t>“</a:t>
            </a:r>
            <a:endParaRPr lang="en-US" sz="11000" dirty="0"/>
          </a:p>
        </p:txBody>
      </p:sp>
      <p:sp>
        <p:nvSpPr>
          <p:cNvPr id="3" name="Text 1"/>
          <p:cNvSpPr txBox="1"/>
          <p:nvPr/>
        </p:nvSpPr>
        <p:spPr>
          <a:xfrm>
            <a:off x="1097280" y="1371600"/>
            <a:ext cx="7132320" cy="146304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If your only signal of health is a hard-coded assertion against mock data, you aren't testing.</a:t>
            </a:r>
            <a:endParaRPr lang="en-US" sz="2800" dirty="0"/>
          </a:p>
        </p:txBody>
      </p:sp>
      <p:sp>
        <p:nvSpPr>
          <p:cNvPr id="4" name="Text 2"/>
          <p:cNvSpPr txBox="1"/>
          <p:nvPr/>
        </p:nvSpPr>
        <p:spPr>
          <a:xfrm>
            <a:off x="1097280" y="2926080"/>
            <a:ext cx="7132320" cy="640080"/>
          </a:xfrm>
          <a:prstGeom prst="rect">
            <a:avLst/>
          </a:prstGeom>
          <a:noFill/>
          <a:ln/>
        </p:spPr>
        <p:txBody>
          <a:bodyPr wrap="square" lIns="0" tIns="0" rIns="0" bIns="0" rtlCol="0" anchor="t"/>
          <a:lstStyle/>
          <a:p>
            <a:pPr indent="0" marL="0">
              <a:buNone/>
            </a:pPr>
            <a:r>
              <a:rPr lang="en-US" sz="3600" b="1" dirty="0">
                <a:solidFill>
                  <a:srgbClr val="F5A524"/>
                </a:solidFill>
                <a:latin typeface="Arial" pitchFamily="34" charset="0"/>
                <a:ea typeface="Arial" pitchFamily="34" charset="-122"/>
                <a:cs typeface="Arial" pitchFamily="34" charset="-120"/>
              </a:rPr>
              <a:t>You're hoping.</a:t>
            </a:r>
            <a:endParaRPr lang="en-US" sz="3600" dirty="0"/>
          </a:p>
        </p:txBody>
      </p:sp>
      <p:sp>
        <p:nvSpPr>
          <p:cNvPr id="5" name="Text 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9AA4B5"/>
                </a:solidFill>
                <a:latin typeface="Arial" pitchFamily="34" charset="0"/>
                <a:ea typeface="Arial" pitchFamily="34" charset="-122"/>
                <a:cs typeface="Arial" pitchFamily="34" charset="-120"/>
              </a:rPr>
              <a:t>Stop guessing, start seeing  ·  Motacon 2026</a:t>
            </a:r>
            <a:endParaRPr lang="en-US" sz="800" dirty="0"/>
          </a:p>
        </p:txBody>
      </p:sp>
      <p:sp>
        <p:nvSpPr>
          <p:cNvPr id="6" name="Text 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00" dirty="0">
                <a:solidFill>
                  <a:srgbClr val="9AA4B5"/>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64592"/>
            <a:ext cx="8229600" cy="228600"/>
          </a:xfrm>
          <a:prstGeom prst="rect">
            <a:avLst/>
          </a:prstGeom>
          <a:noFill/>
          <a:ln/>
        </p:spPr>
        <p:txBody>
          <a:bodyPr wrap="square" lIns="0" tIns="0" rIns="0" bIns="0" rtlCol="0" anchor="t"/>
          <a:lstStyle/>
          <a:p>
            <a:pPr indent="0" marL="0">
              <a:buNone/>
            </a:pPr>
            <a:r>
              <a:rPr lang="en-US" sz="1000" b="1" spc="300" kern="0" dirty="0">
                <a:solidFill>
                  <a:srgbClr val="B7770A"/>
                </a:solidFill>
                <a:latin typeface="Arial" pitchFamily="34" charset="0"/>
                <a:ea typeface="Arial" pitchFamily="34" charset="-122"/>
                <a:cs typeface="Arial" pitchFamily="34" charset="-120"/>
              </a:rPr>
              <a:t>THE PROBLEM</a:t>
            </a:r>
            <a:endParaRPr lang="en-US" sz="1000" dirty="0"/>
          </a:p>
        </p:txBody>
      </p:sp>
      <p:sp>
        <p:nvSpPr>
          <p:cNvPr id="3" name="Text 1"/>
          <p:cNvSpPr txBox="1"/>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0B1320"/>
                </a:solidFill>
                <a:latin typeface="Arial" pitchFamily="34" charset="0"/>
                <a:ea typeface="Arial" pitchFamily="34" charset="-122"/>
                <a:cs typeface="Arial" pitchFamily="34" charset="-120"/>
              </a:rPr>
              <a:t>We test what we can imagine</a:t>
            </a:r>
            <a:endParaRPr lang="en-US" sz="3000" dirty="0"/>
          </a:p>
        </p:txBody>
      </p:sp>
      <p:sp>
        <p:nvSpPr>
          <p:cNvPr id="4" name="Shape 2"/>
          <p:cNvSpPr/>
          <p:nvPr/>
        </p:nvSpPr>
        <p:spPr>
          <a:xfrm>
            <a:off x="457200" y="1280160"/>
            <a:ext cx="3931920" cy="3200400"/>
          </a:xfrm>
          <a:prstGeom prst="roundRect">
            <a:avLst>
              <a:gd name="adj" fmla="val 2286"/>
            </a:avLst>
          </a:prstGeom>
          <a:solidFill>
            <a:srgbClr val="F1F4F8"/>
          </a:solidFill>
          <a:ln w="12700">
            <a:solidFill>
              <a:srgbClr val="F1F4F8"/>
            </a:solidFill>
            <a:prstDash val="solid"/>
          </a:ln>
        </p:spPr>
      </p:sp>
      <p:sp>
        <p:nvSpPr>
          <p:cNvPr id="5" name="Text 3"/>
          <p:cNvSpPr txBox="1"/>
          <p:nvPr/>
        </p:nvSpPr>
        <p:spPr>
          <a:xfrm>
            <a:off x="731520" y="1463040"/>
            <a:ext cx="3474720" cy="365760"/>
          </a:xfrm>
          <a:prstGeom prst="rect">
            <a:avLst/>
          </a:prstGeom>
          <a:noFill/>
          <a:ln/>
        </p:spPr>
        <p:txBody>
          <a:bodyPr wrap="square" lIns="0" tIns="0" rIns="0" bIns="0" rtlCol="0" anchor="t"/>
          <a:lstStyle/>
          <a:p>
            <a:pPr indent="0" marL="0">
              <a:buNone/>
            </a:pPr>
            <a:r>
              <a:rPr lang="en-US" sz="1800" b="1" dirty="0">
                <a:solidFill>
                  <a:srgbClr val="0B1320"/>
                </a:solidFill>
                <a:latin typeface="Arial" pitchFamily="34" charset="0"/>
                <a:ea typeface="Arial" pitchFamily="34" charset="-122"/>
                <a:cs typeface="Arial" pitchFamily="34" charset="-120"/>
              </a:rPr>
              <a:t>Known-unknowns</a:t>
            </a:r>
            <a:endParaRPr lang="en-US" sz="1800" dirty="0"/>
          </a:p>
        </p:txBody>
      </p:sp>
      <p:sp>
        <p:nvSpPr>
          <p:cNvPr id="6" name="Text 4"/>
          <p:cNvSpPr txBox="1"/>
          <p:nvPr/>
        </p:nvSpPr>
        <p:spPr>
          <a:xfrm>
            <a:off x="731520" y="1828800"/>
            <a:ext cx="3474720" cy="274320"/>
          </a:xfrm>
          <a:prstGeom prst="rect">
            <a:avLst/>
          </a:prstGeom>
          <a:noFill/>
          <a:ln/>
        </p:spPr>
        <p:txBody>
          <a:bodyPr wrap="square" lIns="0" tIns="0" rIns="0" bIns="0" rtlCol="0" anchor="t"/>
          <a:lstStyle/>
          <a:p>
            <a:pPr indent="0" marL="0">
              <a:buNone/>
            </a:pPr>
            <a:r>
              <a:rPr lang="en-US" sz="1100" dirty="0">
                <a:solidFill>
                  <a:srgbClr val="5B6577"/>
                </a:solidFill>
                <a:latin typeface="Arial" pitchFamily="34" charset="0"/>
                <a:ea typeface="Arial" pitchFamily="34" charset="-122"/>
                <a:cs typeface="Arial" pitchFamily="34" charset="-120"/>
              </a:rPr>
              <a:t>What the lab covers</a:t>
            </a:r>
            <a:endParaRPr lang="en-US" sz="1100" dirty="0"/>
          </a:p>
        </p:txBody>
      </p:sp>
      <p:sp>
        <p:nvSpPr>
          <p:cNvPr id="7" name="Text 5"/>
          <p:cNvSpPr txBox="1"/>
          <p:nvPr/>
        </p:nvSpPr>
        <p:spPr>
          <a:xfrm>
            <a:off x="731520" y="2240280"/>
            <a:ext cx="347472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B1320"/>
                </a:solidFill>
                <a:latin typeface="Arial" pitchFamily="34" charset="0"/>
                <a:ea typeface="Arial" pitchFamily="34" charset="-122"/>
                <a:cs typeface="Arial" pitchFamily="34" charset="-120"/>
              </a:rPr>
              <a:t>Scripted journeys we thought of</a:t>
            </a:r>
            <a:endParaRPr lang="en-US" sz="1400" dirty="0"/>
          </a:p>
          <a:p>
            <a:pPr marL="342900" indent="-342900">
              <a:spcAft>
                <a:spcPts val="800"/>
              </a:spcAft>
              <a:buSzPct val="100000"/>
              <a:buChar char="•"/>
            </a:pPr>
            <a:r>
              <a:rPr lang="en-US" sz="1400" dirty="0">
                <a:solidFill>
                  <a:srgbClr val="0B1320"/>
                </a:solidFill>
                <a:latin typeface="Arial" pitchFamily="34" charset="0"/>
                <a:ea typeface="Arial" pitchFamily="34" charset="-122"/>
                <a:cs typeface="Arial" pitchFamily="34" charset="-120"/>
              </a:rPr>
              <a:t>Static expected values</a:t>
            </a:r>
            <a:endParaRPr lang="en-US" sz="1400" dirty="0"/>
          </a:p>
          <a:p>
            <a:pPr marL="342900" indent="-342900">
              <a:spcAft>
                <a:spcPts val="800"/>
              </a:spcAft>
              <a:buSzPct val="100000"/>
              <a:buChar char="•"/>
            </a:pPr>
            <a:r>
              <a:rPr lang="en-US" sz="1400" dirty="0">
                <a:solidFill>
                  <a:srgbClr val="0B1320"/>
                </a:solidFill>
                <a:latin typeface="Arial" pitchFamily="34" charset="0"/>
                <a:ea typeface="Arial" pitchFamily="34" charset="-122"/>
                <a:cs typeface="Arial" pitchFamily="34" charset="-120"/>
              </a:rPr>
              <a:t>Mocked services and seeded data</a:t>
            </a:r>
            <a:endParaRPr lang="en-US" sz="1400" dirty="0"/>
          </a:p>
          <a:p>
            <a:pPr marL="342900" indent="-342900">
              <a:spcAft>
                <a:spcPts val="800"/>
              </a:spcAft>
              <a:buSzPct val="100000"/>
              <a:buChar char="•"/>
            </a:pPr>
            <a:r>
              <a:rPr lang="en-US" sz="1400" dirty="0">
                <a:solidFill>
                  <a:srgbClr val="0B1320"/>
                </a:solidFill>
                <a:latin typeface="Arial" pitchFamily="34" charset="0"/>
                <a:ea typeface="Arial" pitchFamily="34" charset="-122"/>
                <a:cs typeface="Arial" pitchFamily="34" charset="-120"/>
              </a:rPr>
              <a:t>Weeks of authoring and maintenance</a:t>
            </a:r>
            <a:endParaRPr lang="en-US" sz="1400" dirty="0"/>
          </a:p>
        </p:txBody>
      </p:sp>
      <p:sp>
        <p:nvSpPr>
          <p:cNvPr id="8" name="Shape 6"/>
          <p:cNvSpPr/>
          <p:nvPr/>
        </p:nvSpPr>
        <p:spPr>
          <a:xfrm>
            <a:off x="4754880" y="1280160"/>
            <a:ext cx="3931920" cy="3200400"/>
          </a:xfrm>
          <a:prstGeom prst="roundRect">
            <a:avLst>
              <a:gd name="adj" fmla="val 2286"/>
            </a:avLst>
          </a:prstGeom>
          <a:solidFill>
            <a:srgbClr val="0B1320"/>
          </a:solidFill>
          <a:ln w="12700">
            <a:solidFill>
              <a:srgbClr val="0B1320"/>
            </a:solidFill>
            <a:prstDash val="solid"/>
          </a:ln>
        </p:spPr>
      </p:sp>
      <p:sp>
        <p:nvSpPr>
          <p:cNvPr id="9" name="Text 7"/>
          <p:cNvSpPr txBox="1"/>
          <p:nvPr/>
        </p:nvSpPr>
        <p:spPr>
          <a:xfrm>
            <a:off x="5029200" y="1463040"/>
            <a:ext cx="3474720" cy="365760"/>
          </a:xfrm>
          <a:prstGeom prst="rect">
            <a:avLst/>
          </a:prstGeom>
          <a:noFill/>
          <a:ln/>
        </p:spPr>
        <p:txBody>
          <a:bodyPr wrap="square" lIns="0" tIns="0" rIns="0" bIns="0" rtlCol="0" anchor="t"/>
          <a:lstStyle/>
          <a:p>
            <a:pPr indent="0" marL="0">
              <a:buNone/>
            </a:pPr>
            <a:r>
              <a:rPr lang="en-US" sz="1800" b="1" dirty="0">
                <a:solidFill>
                  <a:srgbClr val="F5A524"/>
                </a:solidFill>
                <a:latin typeface="Arial" pitchFamily="34" charset="0"/>
                <a:ea typeface="Arial" pitchFamily="34" charset="-122"/>
                <a:cs typeface="Arial" pitchFamily="34" charset="-120"/>
              </a:rPr>
              <a:t>Unknown-unknowns</a:t>
            </a:r>
            <a:endParaRPr lang="en-US" sz="1800" dirty="0"/>
          </a:p>
        </p:txBody>
      </p:sp>
      <p:sp>
        <p:nvSpPr>
          <p:cNvPr id="10" name="Text 8"/>
          <p:cNvSpPr txBox="1"/>
          <p:nvPr/>
        </p:nvSpPr>
        <p:spPr>
          <a:xfrm>
            <a:off x="5029200" y="1828800"/>
            <a:ext cx="3474720" cy="274320"/>
          </a:xfrm>
          <a:prstGeom prst="rect">
            <a:avLst/>
          </a:prstGeom>
          <a:noFill/>
          <a:ln/>
        </p:spPr>
        <p:txBody>
          <a:bodyPr wrap="square" lIns="0" tIns="0" rIns="0" bIns="0" rtlCol="0" anchor="t"/>
          <a:lstStyle/>
          <a:p>
            <a:pPr indent="0" marL="0">
              <a:buNone/>
            </a:pPr>
            <a:r>
              <a:rPr lang="en-US" sz="1100" dirty="0">
                <a:solidFill>
                  <a:srgbClr val="9AA4B5"/>
                </a:solidFill>
                <a:latin typeface="Arial" pitchFamily="34" charset="0"/>
                <a:ea typeface="Arial" pitchFamily="34" charset="-122"/>
                <a:cs typeface="Arial" pitchFamily="34" charset="-120"/>
              </a:rPr>
              <a:t>Where incidents actually happen</a:t>
            </a:r>
            <a:endParaRPr lang="en-US" sz="1100" dirty="0"/>
          </a:p>
        </p:txBody>
      </p:sp>
      <p:sp>
        <p:nvSpPr>
          <p:cNvPr id="11" name="Text 9"/>
          <p:cNvSpPr txBox="1"/>
          <p:nvPr/>
        </p:nvSpPr>
        <p:spPr>
          <a:xfrm>
            <a:off x="5029200" y="2240280"/>
            <a:ext cx="347472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Arial" pitchFamily="34" charset="0"/>
                <a:ea typeface="Arial" pitchFamily="34" charset="-122"/>
                <a:cs typeface="Arial" pitchFamily="34" charset="-120"/>
              </a:rPr>
              <a:t>Journeys real users invent</a:t>
            </a:r>
            <a:endParaRPr lang="en-US" sz="1400" dirty="0"/>
          </a:p>
          <a:p>
            <a:pPr marL="342900" indent="-342900">
              <a:spcAft>
                <a:spcPts val="800"/>
              </a:spcAft>
              <a:buSzPct val="100000"/>
              <a:buChar char="•"/>
            </a:pPr>
            <a:r>
              <a:rPr lang="en-US" sz="1400" dirty="0">
                <a:solidFill>
                  <a:srgbClr val="FFFFFF"/>
                </a:solidFill>
                <a:latin typeface="Arial" pitchFamily="34" charset="0"/>
                <a:ea typeface="Arial" pitchFamily="34" charset="-122"/>
                <a:cs typeface="Arial" pitchFamily="34" charset="-120"/>
              </a:rPr>
              <a:t>Emergent latency across services</a:t>
            </a:r>
            <a:endParaRPr lang="en-US" sz="1400" dirty="0"/>
          </a:p>
          <a:p>
            <a:pPr marL="342900" indent="-342900">
              <a:spcAft>
                <a:spcPts val="800"/>
              </a:spcAft>
              <a:buSzPct val="100000"/>
              <a:buChar char="•"/>
            </a:pPr>
            <a:r>
              <a:rPr lang="en-US" sz="1400" dirty="0">
                <a:solidFill>
                  <a:srgbClr val="FFFFFF"/>
                </a:solidFill>
                <a:latin typeface="Arial" pitchFamily="34" charset="0"/>
                <a:ea typeface="Arial" pitchFamily="34" charset="-122"/>
                <a:cs typeface="Arial" pitchFamily="34" charset="-120"/>
              </a:rPr>
              <a:t>Retries, timeouts and partial failure</a:t>
            </a:r>
            <a:endParaRPr lang="en-US" sz="1400" dirty="0"/>
          </a:p>
          <a:p>
            <a:pPr marL="342900" indent="-342900">
              <a:spcAft>
                <a:spcPts val="800"/>
              </a:spcAft>
              <a:buSzPct val="100000"/>
              <a:buChar char="•"/>
            </a:pPr>
            <a:r>
              <a:rPr lang="en-US" sz="1400" dirty="0">
                <a:solidFill>
                  <a:srgbClr val="FFFFFF"/>
                </a:solidFill>
                <a:latin typeface="Arial" pitchFamily="34" charset="0"/>
                <a:ea typeface="Arial" pitchFamily="34" charset="-122"/>
                <a:cs typeface="Arial" pitchFamily="34" charset="-120"/>
              </a:rPr>
              <a:t>Data shapes nobody seeded</a:t>
            </a:r>
            <a:endParaRPr lang="en-US" sz="1400" dirty="0"/>
          </a:p>
        </p:txBody>
      </p:sp>
      <p:sp>
        <p:nvSpPr>
          <p:cNvPr id="12" name="Text 10"/>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5B6577"/>
                </a:solidFill>
                <a:latin typeface="Arial" pitchFamily="34" charset="0"/>
                <a:ea typeface="Arial" pitchFamily="34" charset="-122"/>
                <a:cs typeface="Arial" pitchFamily="34" charset="-120"/>
              </a:rPr>
              <a:t>Stop guessing, start seeing  ·  Motacon 2026</a:t>
            </a:r>
            <a:endParaRPr lang="en-US" sz="800" dirty="0"/>
          </a:p>
        </p:txBody>
      </p:sp>
      <p:sp>
        <p:nvSpPr>
          <p:cNvPr id="13" name="Text 11"/>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00" dirty="0">
                <a:solidFill>
                  <a:srgbClr val="5B6577"/>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64592"/>
            <a:ext cx="8229600" cy="228600"/>
          </a:xfrm>
          <a:prstGeom prst="rect">
            <a:avLst/>
          </a:prstGeom>
          <a:noFill/>
          <a:ln/>
        </p:spPr>
        <p:txBody>
          <a:bodyPr wrap="square" lIns="0" tIns="0" rIns="0" bIns="0" rtlCol="0" anchor="t"/>
          <a:lstStyle/>
          <a:p>
            <a:pPr indent="0" marL="0">
              <a:buNone/>
            </a:pPr>
            <a:r>
              <a:rPr lang="en-US" sz="1000" b="1" spc="300" kern="0" dirty="0">
                <a:solidFill>
                  <a:srgbClr val="B7770A"/>
                </a:solidFill>
                <a:latin typeface="Arial" pitchFamily="34" charset="0"/>
                <a:ea typeface="Arial" pitchFamily="34" charset="-122"/>
                <a:cs typeface="Arial" pitchFamily="34" charset="-120"/>
              </a:rPr>
              <a:t>THE PROBLEM</a:t>
            </a:r>
            <a:endParaRPr lang="en-US" sz="1000" dirty="0"/>
          </a:p>
        </p:txBody>
      </p:sp>
      <p:sp>
        <p:nvSpPr>
          <p:cNvPr id="3" name="Text 1"/>
          <p:cNvSpPr txBox="1"/>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0B1320"/>
                </a:solidFill>
                <a:latin typeface="Arial" pitchFamily="34" charset="0"/>
                <a:ea typeface="Arial" pitchFamily="34" charset="-122"/>
                <a:cs typeface="Arial" pitchFamily="34" charset="-120"/>
              </a:rPr>
              <a:t>Lab and production live in two worlds</a:t>
            </a:r>
            <a:endParaRPr lang="en-US" sz="3000" dirty="0"/>
          </a:p>
        </p:txBody>
      </p:sp>
      <p:sp>
        <p:nvSpPr>
          <p:cNvPr id="4" name="Shape 2"/>
          <p:cNvSpPr/>
          <p:nvPr/>
        </p:nvSpPr>
        <p:spPr>
          <a:xfrm>
            <a:off x="457200" y="1371600"/>
            <a:ext cx="2926080" cy="2377440"/>
          </a:xfrm>
          <a:prstGeom prst="roundRect">
            <a:avLst>
              <a:gd name="adj" fmla="val 3077"/>
            </a:avLst>
          </a:prstGeom>
          <a:solidFill>
            <a:srgbClr val="F1F4F8"/>
          </a:solidFill>
          <a:ln w="12700">
            <a:solidFill>
              <a:srgbClr val="F1F4F8"/>
            </a:solidFill>
            <a:prstDash val="solid"/>
          </a:ln>
        </p:spPr>
      </p:sp>
      <p:sp>
        <p:nvSpPr>
          <p:cNvPr id="5" name="Text 3"/>
          <p:cNvSpPr txBox="1"/>
          <p:nvPr/>
        </p:nvSpPr>
        <p:spPr>
          <a:xfrm>
            <a:off x="685800" y="1554480"/>
            <a:ext cx="2468880" cy="274320"/>
          </a:xfrm>
          <a:prstGeom prst="rect">
            <a:avLst/>
          </a:prstGeom>
          <a:noFill/>
          <a:ln/>
        </p:spPr>
        <p:txBody>
          <a:bodyPr wrap="square" lIns="0" tIns="0" rIns="0" bIns="0" rtlCol="0" anchor="t"/>
          <a:lstStyle/>
          <a:p>
            <a:pPr indent="0" marL="0">
              <a:buNone/>
            </a:pPr>
            <a:r>
              <a:rPr lang="en-US" sz="1200" b="1" spc="300" kern="0" dirty="0">
                <a:solidFill>
                  <a:srgbClr val="5B6577"/>
                </a:solidFill>
                <a:latin typeface="Arial" pitchFamily="34" charset="0"/>
                <a:ea typeface="Arial" pitchFamily="34" charset="-122"/>
                <a:cs typeface="Arial" pitchFamily="34" charset="-120"/>
              </a:rPr>
              <a:t>LAB</a:t>
            </a:r>
            <a:endParaRPr lang="en-US" sz="1200" dirty="0"/>
          </a:p>
        </p:txBody>
      </p:sp>
      <p:sp>
        <p:nvSpPr>
          <p:cNvPr id="6" name="Text 4"/>
          <p:cNvSpPr txBox="1"/>
          <p:nvPr/>
        </p:nvSpPr>
        <p:spPr>
          <a:xfrm>
            <a:off x="685800" y="1920240"/>
            <a:ext cx="2468880" cy="1645920"/>
          </a:xfrm>
          <a:prstGeom prst="rect">
            <a:avLst/>
          </a:prstGeom>
          <a:noFill/>
          <a:ln/>
        </p:spPr>
        <p:txBody>
          <a:bodyPr wrap="square" lIns="0" tIns="0" rIns="0" bIns="0" rtlCol="0" anchor="t"/>
          <a:lstStyle/>
          <a:p>
            <a:pPr indent="0" marL="0">
              <a:spcAft>
                <a:spcPts val="400"/>
              </a:spcAft>
              <a:buNone/>
            </a:pPr>
            <a:r>
              <a:rPr lang="en-US" sz="1600" dirty="0">
                <a:solidFill>
                  <a:srgbClr val="0B1320"/>
                </a:solidFill>
                <a:latin typeface="Arial" pitchFamily="34" charset="0"/>
                <a:ea typeface="Arial" pitchFamily="34" charset="-122"/>
                <a:cs typeface="Arial" pitchFamily="34" charset="-120"/>
              </a:rPr>
              <a:t>Shift-left</a:t>
            </a:r>
            <a:endParaRPr lang="en-US" sz="1600" dirty="0"/>
          </a:p>
          <a:p>
            <a:pPr indent="0" marL="0">
              <a:spcAft>
                <a:spcPts val="400"/>
              </a:spcAft>
              <a:buNone/>
            </a:pPr>
            <a:r>
              <a:rPr lang="en-US" sz="1600" dirty="0">
                <a:solidFill>
                  <a:srgbClr val="0B1320"/>
                </a:solidFill>
                <a:latin typeface="Arial" pitchFamily="34" charset="0"/>
                <a:ea typeface="Arial" pitchFamily="34" charset="-122"/>
                <a:cs typeface="Arial" pitchFamily="34" charset="-120"/>
              </a:rPr>
              <a:t>Assertions</a:t>
            </a:r>
            <a:endParaRPr lang="en-US" sz="1600" dirty="0"/>
          </a:p>
          <a:p>
            <a:pPr indent="0" marL="0">
              <a:spcAft>
                <a:spcPts val="400"/>
              </a:spcAft>
              <a:buNone/>
            </a:pPr>
            <a:r>
              <a:rPr lang="en-US" sz="1600" dirty="0">
                <a:solidFill>
                  <a:srgbClr val="0B1320"/>
                </a:solidFill>
                <a:latin typeface="Arial" pitchFamily="34" charset="0"/>
                <a:ea typeface="Arial" pitchFamily="34" charset="-122"/>
                <a:cs typeface="Arial" pitchFamily="34" charset="-120"/>
              </a:rPr>
              <a:t>Mocks</a:t>
            </a:r>
            <a:endParaRPr lang="en-US" sz="1600" dirty="0"/>
          </a:p>
          <a:p>
            <a:pPr indent="0" marL="0">
              <a:spcAft>
                <a:spcPts val="400"/>
              </a:spcAft>
              <a:buNone/>
            </a:pPr>
            <a:r>
              <a:rPr lang="en-US" sz="1600" dirty="0">
                <a:solidFill>
                  <a:srgbClr val="0B1320"/>
                </a:solidFill>
                <a:latin typeface="Arial" pitchFamily="34" charset="0"/>
                <a:ea typeface="Arial" pitchFamily="34" charset="-122"/>
                <a:cs typeface="Arial" pitchFamily="34" charset="-120"/>
              </a:rPr>
              <a:t>Pass / fail</a:t>
            </a:r>
            <a:endParaRPr lang="en-US" sz="1600" dirty="0"/>
          </a:p>
        </p:txBody>
      </p:sp>
      <p:sp>
        <p:nvSpPr>
          <p:cNvPr id="7" name="Shape 5"/>
          <p:cNvSpPr/>
          <p:nvPr/>
        </p:nvSpPr>
        <p:spPr>
          <a:xfrm>
            <a:off x="5760720" y="1371600"/>
            <a:ext cx="2926080" cy="2377440"/>
          </a:xfrm>
          <a:prstGeom prst="roundRect">
            <a:avLst>
              <a:gd name="adj" fmla="val 3077"/>
            </a:avLst>
          </a:prstGeom>
          <a:solidFill>
            <a:srgbClr val="0B1320"/>
          </a:solidFill>
          <a:ln w="12700">
            <a:solidFill>
              <a:srgbClr val="0B1320"/>
            </a:solidFill>
            <a:prstDash val="solid"/>
          </a:ln>
        </p:spPr>
      </p:sp>
      <p:sp>
        <p:nvSpPr>
          <p:cNvPr id="8" name="Text 6"/>
          <p:cNvSpPr txBox="1"/>
          <p:nvPr/>
        </p:nvSpPr>
        <p:spPr>
          <a:xfrm>
            <a:off x="5989320" y="1554480"/>
            <a:ext cx="2468880" cy="274320"/>
          </a:xfrm>
          <a:prstGeom prst="rect">
            <a:avLst/>
          </a:prstGeom>
          <a:noFill/>
          <a:ln/>
        </p:spPr>
        <p:txBody>
          <a:bodyPr wrap="square" lIns="0" tIns="0" rIns="0" bIns="0" rtlCol="0" anchor="t"/>
          <a:lstStyle/>
          <a:p>
            <a:pPr indent="0" marL="0">
              <a:buNone/>
            </a:pPr>
            <a:r>
              <a:rPr lang="en-US" sz="1200" b="1" spc="300" kern="0" dirty="0">
                <a:solidFill>
                  <a:srgbClr val="F5A524"/>
                </a:solidFill>
                <a:latin typeface="Arial" pitchFamily="34" charset="0"/>
                <a:ea typeface="Arial" pitchFamily="34" charset="-122"/>
                <a:cs typeface="Arial" pitchFamily="34" charset="-120"/>
              </a:rPr>
              <a:t>PRODUCTION</a:t>
            </a:r>
            <a:endParaRPr lang="en-US" sz="1200" dirty="0"/>
          </a:p>
        </p:txBody>
      </p:sp>
      <p:sp>
        <p:nvSpPr>
          <p:cNvPr id="9" name="Text 7"/>
          <p:cNvSpPr txBox="1"/>
          <p:nvPr/>
        </p:nvSpPr>
        <p:spPr>
          <a:xfrm>
            <a:off x="5989320" y="1920240"/>
            <a:ext cx="2468880" cy="1645920"/>
          </a:xfrm>
          <a:prstGeom prst="rect">
            <a:avLst/>
          </a:prstGeom>
          <a:noFill/>
          <a:ln/>
        </p:spPr>
        <p:txBody>
          <a:bodyPr wrap="square" lIns="0" tIns="0" rIns="0" bIns="0" rtlCol="0" anchor="t"/>
          <a:lstStyle/>
          <a:p>
            <a:pPr indent="0" marL="0">
              <a:spcAft>
                <a:spcPts val="400"/>
              </a:spcAft>
              <a:buNone/>
            </a:pPr>
            <a:r>
              <a:rPr lang="en-US" sz="1600" dirty="0">
                <a:solidFill>
                  <a:srgbClr val="FFFFFF"/>
                </a:solidFill>
                <a:latin typeface="Arial" pitchFamily="34" charset="0"/>
                <a:ea typeface="Arial" pitchFamily="34" charset="-122"/>
                <a:cs typeface="Arial" pitchFamily="34" charset="-120"/>
              </a:rPr>
              <a:t>Traces</a:t>
            </a:r>
            <a:endParaRPr lang="en-US" sz="1600" dirty="0"/>
          </a:p>
          <a:p>
            <a:pPr indent="0" marL="0">
              <a:spcAft>
                <a:spcPts val="400"/>
              </a:spcAft>
              <a:buNone/>
            </a:pPr>
            <a:r>
              <a:rPr lang="en-US" sz="1600" dirty="0">
                <a:solidFill>
                  <a:srgbClr val="FFFFFF"/>
                </a:solidFill>
                <a:latin typeface="Arial" pitchFamily="34" charset="0"/>
                <a:ea typeface="Arial" pitchFamily="34" charset="-122"/>
                <a:cs typeface="Arial" pitchFamily="34" charset="-120"/>
              </a:rPr>
              <a:t>Metrics</a:t>
            </a:r>
            <a:endParaRPr lang="en-US" sz="1600" dirty="0"/>
          </a:p>
          <a:p>
            <a:pPr indent="0" marL="0">
              <a:spcAft>
                <a:spcPts val="400"/>
              </a:spcAft>
              <a:buNone/>
            </a:pPr>
            <a:r>
              <a:rPr lang="en-US" sz="1600" dirty="0">
                <a:solidFill>
                  <a:srgbClr val="FFFFFF"/>
                </a:solidFill>
                <a:latin typeface="Arial" pitchFamily="34" charset="0"/>
                <a:ea typeface="Arial" pitchFamily="34" charset="-122"/>
                <a:cs typeface="Arial" pitchFamily="34" charset="-120"/>
              </a:rPr>
              <a:t>Logs</a:t>
            </a:r>
            <a:endParaRPr lang="en-US" sz="1600" dirty="0"/>
          </a:p>
          <a:p>
            <a:pPr indent="0" marL="0">
              <a:spcAft>
                <a:spcPts val="400"/>
              </a:spcAft>
              <a:buNone/>
            </a:pPr>
            <a:r>
              <a:rPr lang="en-US" sz="1600" dirty="0">
                <a:solidFill>
                  <a:srgbClr val="FFFFFF"/>
                </a:solidFill>
                <a:latin typeface="Arial" pitchFamily="34" charset="0"/>
                <a:ea typeface="Arial" pitchFamily="34" charset="-122"/>
                <a:cs typeface="Arial" pitchFamily="34" charset="-120"/>
              </a:rPr>
              <a:t>Real journeys</a:t>
            </a:r>
            <a:endParaRPr lang="en-US" sz="1600" dirty="0"/>
          </a:p>
        </p:txBody>
      </p:sp>
      <p:sp>
        <p:nvSpPr>
          <p:cNvPr id="10" name="Text 8"/>
          <p:cNvSpPr txBox="1"/>
          <p:nvPr/>
        </p:nvSpPr>
        <p:spPr>
          <a:xfrm>
            <a:off x="3383280" y="2240280"/>
            <a:ext cx="2377440" cy="365760"/>
          </a:xfrm>
          <a:prstGeom prst="rect">
            <a:avLst/>
          </a:prstGeom>
          <a:noFill/>
          <a:ln/>
        </p:spPr>
        <p:txBody>
          <a:bodyPr wrap="square" lIns="0" tIns="0" rIns="0" bIns="0" rtlCol="0" anchor="t"/>
          <a:lstStyle/>
          <a:p>
            <a:pPr algn="ctr" indent="0" marL="0">
              <a:buNone/>
            </a:pPr>
            <a:r>
              <a:rPr lang="en-US" sz="1600" i="1" dirty="0">
                <a:solidFill>
                  <a:srgbClr val="E5484D"/>
                </a:solidFill>
                <a:latin typeface="Arial" pitchFamily="34" charset="0"/>
                <a:ea typeface="Arial" pitchFamily="34" charset="-122"/>
                <a:cs typeface="Arial" pitchFamily="34" charset="-120"/>
              </a:rPr>
              <a:t>the gap</a:t>
            </a:r>
            <a:endParaRPr lang="en-US" sz="1600" dirty="0"/>
          </a:p>
        </p:txBody>
      </p:sp>
      <p:sp>
        <p:nvSpPr>
          <p:cNvPr id="11" name="Shape 9"/>
          <p:cNvSpPr/>
          <p:nvPr/>
        </p:nvSpPr>
        <p:spPr>
          <a:xfrm>
            <a:off x="3566160" y="2651760"/>
            <a:ext cx="2011680" cy="0"/>
          </a:xfrm>
          <a:prstGeom prst="line">
            <a:avLst/>
          </a:prstGeom>
          <a:noFill/>
          <a:ln w="25400">
            <a:solidFill>
              <a:srgbClr val="E5484D"/>
            </a:solidFill>
            <a:prstDash val="dash"/>
          </a:ln>
        </p:spPr>
      </p:sp>
      <p:sp>
        <p:nvSpPr>
          <p:cNvPr id="12" name="Text 10"/>
          <p:cNvSpPr txBox="1"/>
          <p:nvPr/>
        </p:nvSpPr>
        <p:spPr>
          <a:xfrm>
            <a:off x="457200" y="4023360"/>
            <a:ext cx="8229600" cy="548640"/>
          </a:xfrm>
          <a:prstGeom prst="rect">
            <a:avLst/>
          </a:prstGeom>
          <a:noFill/>
          <a:ln/>
        </p:spPr>
        <p:txBody>
          <a:bodyPr wrap="square" lIns="0" tIns="0" rIns="0" bIns="0" rtlCol="0" anchor="t"/>
          <a:lstStyle/>
          <a:p>
            <a:pPr indent="0" marL="0">
              <a:buNone/>
            </a:pPr>
            <a:r>
              <a:rPr lang="en-US" sz="1500" b="1" dirty="0">
                <a:solidFill>
                  <a:srgbClr val="0B1320"/>
                </a:solidFill>
                <a:latin typeface="Arial" pitchFamily="34" charset="0"/>
                <a:ea typeface="Arial" pitchFamily="34" charset="-122"/>
                <a:cs typeface="Arial" pitchFamily="34" charset="-120"/>
              </a:rPr>
              <a:t>A mountain of high-fidelity behavioural data sits in our telemetry pipelines, and our tests never read it.</a:t>
            </a:r>
            <a:endParaRPr lang="en-US" sz="1500" dirty="0"/>
          </a:p>
        </p:txBody>
      </p:sp>
      <p:sp>
        <p:nvSpPr>
          <p:cNvPr id="13" name="Text 11"/>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5B6577"/>
                </a:solidFill>
                <a:latin typeface="Arial" pitchFamily="34" charset="0"/>
                <a:ea typeface="Arial" pitchFamily="34" charset="-122"/>
                <a:cs typeface="Arial" pitchFamily="34" charset="-120"/>
              </a:rPr>
              <a:t>Stop guessing, start seeing  ·  Motacon 2026</a:t>
            </a:r>
            <a:endParaRPr lang="en-US" sz="800" dirty="0"/>
          </a:p>
        </p:txBody>
      </p:sp>
      <p:sp>
        <p:nvSpPr>
          <p:cNvPr id="14" name="Text 12"/>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00" dirty="0">
                <a:solidFill>
                  <a:srgbClr val="5B6577"/>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64592"/>
            <a:ext cx="8229600" cy="228600"/>
          </a:xfrm>
          <a:prstGeom prst="rect">
            <a:avLst/>
          </a:prstGeom>
          <a:noFill/>
          <a:ln/>
        </p:spPr>
        <p:txBody>
          <a:bodyPr wrap="square" lIns="0" tIns="0" rIns="0" bIns="0" rtlCol="0" anchor="t"/>
          <a:lstStyle/>
          <a:p>
            <a:pPr indent="0" marL="0">
              <a:buNone/>
            </a:pPr>
            <a:r>
              <a:rPr lang="en-US" sz="1000" b="1" spc="300" kern="0" dirty="0">
                <a:solidFill>
                  <a:srgbClr val="B7770A"/>
                </a:solidFill>
                <a:latin typeface="Arial" pitchFamily="34" charset="0"/>
                <a:ea typeface="Arial" pitchFamily="34" charset="-122"/>
                <a:cs typeface="Arial" pitchFamily="34" charset="-120"/>
              </a:rPr>
              <a:t>WHY NOW</a:t>
            </a:r>
            <a:endParaRPr lang="en-US" sz="1000" dirty="0"/>
          </a:p>
        </p:txBody>
      </p:sp>
      <p:sp>
        <p:nvSpPr>
          <p:cNvPr id="3" name="Text 1"/>
          <p:cNvSpPr txBox="1"/>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0B1320"/>
                </a:solidFill>
                <a:latin typeface="Arial" pitchFamily="34" charset="0"/>
                <a:ea typeface="Arial" pitchFamily="34" charset="-122"/>
                <a:cs typeface="Arial" pitchFamily="34" charset="-120"/>
              </a:rPr>
              <a:t>Expected results are now patterns</a:t>
            </a:r>
            <a:endParaRPr lang="en-US" sz="3000" dirty="0"/>
          </a:p>
        </p:txBody>
      </p:sp>
      <p:sp>
        <p:nvSpPr>
          <p:cNvPr id="4" name="Shape 2"/>
          <p:cNvSpPr/>
          <p:nvPr/>
        </p:nvSpPr>
        <p:spPr>
          <a:xfrm>
            <a:off x="457200" y="1371600"/>
            <a:ext cx="2606040" cy="3017520"/>
          </a:xfrm>
          <a:prstGeom prst="roundRect">
            <a:avLst>
              <a:gd name="adj" fmla="val 2807"/>
            </a:avLst>
          </a:prstGeom>
          <a:solidFill>
            <a:srgbClr val="F1F4F8"/>
          </a:solidFill>
          <a:ln w="12700">
            <a:solidFill>
              <a:srgbClr val="F1F4F8"/>
            </a:solidFill>
            <a:prstDash val="solid"/>
          </a:ln>
        </p:spPr>
      </p:sp>
      <p:sp>
        <p:nvSpPr>
          <p:cNvPr id="5" name="Shape 3"/>
          <p:cNvSpPr/>
          <p:nvPr/>
        </p:nvSpPr>
        <p:spPr>
          <a:xfrm>
            <a:off x="685800" y="1600200"/>
            <a:ext cx="457200" cy="457200"/>
          </a:xfrm>
          <a:prstGeom prst="ellipse">
            <a:avLst/>
          </a:prstGeom>
          <a:solidFill>
            <a:srgbClr val="8B7CF6"/>
          </a:solidFill>
          <a:ln w="12700">
            <a:solidFill>
              <a:srgbClr val="8B7CF6"/>
            </a:solidFill>
            <a:prstDash val="solid"/>
          </a:ln>
        </p:spPr>
      </p:sp>
      <p:sp>
        <p:nvSpPr>
          <p:cNvPr id="6" name="Text 4"/>
          <p:cNvSpPr txBox="1"/>
          <p:nvPr/>
        </p:nvSpPr>
        <p:spPr>
          <a:xfrm>
            <a:off x="685800" y="2240280"/>
            <a:ext cx="2194560" cy="365760"/>
          </a:xfrm>
          <a:prstGeom prst="rect">
            <a:avLst/>
          </a:prstGeom>
          <a:noFill/>
          <a:ln/>
        </p:spPr>
        <p:txBody>
          <a:bodyPr wrap="square" lIns="0" tIns="0" rIns="0" bIns="0" rtlCol="0" anchor="t"/>
          <a:lstStyle/>
          <a:p>
            <a:pPr indent="0" marL="0">
              <a:buNone/>
            </a:pPr>
            <a:r>
              <a:rPr lang="en-US" sz="1700" b="1" dirty="0">
                <a:solidFill>
                  <a:srgbClr val="0B1320"/>
                </a:solidFill>
                <a:latin typeface="Arial" pitchFamily="34" charset="0"/>
                <a:ea typeface="Arial" pitchFamily="34" charset="-122"/>
                <a:cs typeface="Arial" pitchFamily="34" charset="-120"/>
              </a:rPr>
              <a:t>AI agents</a:t>
            </a:r>
            <a:endParaRPr lang="en-US" sz="1700" dirty="0"/>
          </a:p>
        </p:txBody>
      </p:sp>
      <p:sp>
        <p:nvSpPr>
          <p:cNvPr id="7" name="Text 5"/>
          <p:cNvSpPr txBox="1"/>
          <p:nvPr/>
        </p:nvSpPr>
        <p:spPr>
          <a:xfrm>
            <a:off x="685800" y="2697480"/>
            <a:ext cx="2194560" cy="1554480"/>
          </a:xfrm>
          <a:prstGeom prst="rect">
            <a:avLst/>
          </a:prstGeom>
          <a:noFill/>
          <a:ln/>
        </p:spPr>
        <p:txBody>
          <a:bodyPr wrap="square" lIns="0" tIns="0" rIns="0" bIns="0" rtlCol="0" anchor="t"/>
          <a:lstStyle/>
          <a:p>
            <a:pPr indent="0" marL="0">
              <a:buNone/>
            </a:pPr>
            <a:r>
              <a:rPr lang="en-US" sz="1300" dirty="0">
                <a:solidFill>
                  <a:srgbClr val="5B6577"/>
                </a:solidFill>
                <a:latin typeface="Arial" pitchFamily="34" charset="0"/>
                <a:ea typeface="Arial" pitchFamily="34" charset="-122"/>
                <a:cs typeface="Arial" pitchFamily="34" charset="-120"/>
              </a:rPr>
              <a:t>Non-deterministic output. The same prompt can take different tool paths, so 'equals' stops working.</a:t>
            </a:r>
            <a:endParaRPr lang="en-US" sz="1300" dirty="0"/>
          </a:p>
        </p:txBody>
      </p:sp>
      <p:sp>
        <p:nvSpPr>
          <p:cNvPr id="8" name="Shape 6"/>
          <p:cNvSpPr/>
          <p:nvPr/>
        </p:nvSpPr>
        <p:spPr>
          <a:xfrm>
            <a:off x="3273552" y="1371600"/>
            <a:ext cx="2606040" cy="3017520"/>
          </a:xfrm>
          <a:prstGeom prst="roundRect">
            <a:avLst>
              <a:gd name="adj" fmla="val 2807"/>
            </a:avLst>
          </a:prstGeom>
          <a:solidFill>
            <a:srgbClr val="F1F4F8"/>
          </a:solidFill>
          <a:ln w="12700">
            <a:solidFill>
              <a:srgbClr val="F1F4F8"/>
            </a:solidFill>
            <a:prstDash val="solid"/>
          </a:ln>
        </p:spPr>
      </p:sp>
      <p:sp>
        <p:nvSpPr>
          <p:cNvPr id="9" name="Shape 7"/>
          <p:cNvSpPr/>
          <p:nvPr/>
        </p:nvSpPr>
        <p:spPr>
          <a:xfrm>
            <a:off x="3502152" y="1600200"/>
            <a:ext cx="457200" cy="457200"/>
          </a:xfrm>
          <a:prstGeom prst="ellipse">
            <a:avLst/>
          </a:prstGeom>
          <a:solidFill>
            <a:srgbClr val="1FB5A8"/>
          </a:solidFill>
          <a:ln w="12700">
            <a:solidFill>
              <a:srgbClr val="1FB5A8"/>
            </a:solidFill>
            <a:prstDash val="solid"/>
          </a:ln>
        </p:spPr>
      </p:sp>
      <p:sp>
        <p:nvSpPr>
          <p:cNvPr id="10" name="Text 8"/>
          <p:cNvSpPr txBox="1"/>
          <p:nvPr/>
        </p:nvSpPr>
        <p:spPr>
          <a:xfrm>
            <a:off x="3502152" y="2240280"/>
            <a:ext cx="2194560" cy="365760"/>
          </a:xfrm>
          <a:prstGeom prst="rect">
            <a:avLst/>
          </a:prstGeom>
          <a:noFill/>
          <a:ln/>
        </p:spPr>
        <p:txBody>
          <a:bodyPr wrap="square" lIns="0" tIns="0" rIns="0" bIns="0" rtlCol="0" anchor="t"/>
          <a:lstStyle/>
          <a:p>
            <a:pPr indent="0" marL="0">
              <a:buNone/>
            </a:pPr>
            <a:r>
              <a:rPr lang="en-US" sz="1700" b="1" dirty="0">
                <a:solidFill>
                  <a:srgbClr val="0B1320"/>
                </a:solidFill>
                <a:latin typeface="Arial" pitchFamily="34" charset="0"/>
                <a:ea typeface="Arial" pitchFamily="34" charset="-122"/>
                <a:cs typeface="Arial" pitchFamily="34" charset="-120"/>
              </a:rPr>
              <a:t>Micro-frontends</a:t>
            </a:r>
            <a:endParaRPr lang="en-US" sz="1700" dirty="0"/>
          </a:p>
        </p:txBody>
      </p:sp>
      <p:sp>
        <p:nvSpPr>
          <p:cNvPr id="11" name="Text 9"/>
          <p:cNvSpPr txBox="1"/>
          <p:nvPr/>
        </p:nvSpPr>
        <p:spPr>
          <a:xfrm>
            <a:off x="3502152" y="2697480"/>
            <a:ext cx="2194560" cy="1554480"/>
          </a:xfrm>
          <a:prstGeom prst="rect">
            <a:avLst/>
          </a:prstGeom>
          <a:noFill/>
          <a:ln/>
        </p:spPr>
        <p:txBody>
          <a:bodyPr wrap="square" lIns="0" tIns="0" rIns="0" bIns="0" rtlCol="0" anchor="t"/>
          <a:lstStyle/>
          <a:p>
            <a:pPr indent="0" marL="0">
              <a:buNone/>
            </a:pPr>
            <a:r>
              <a:rPr lang="en-US" sz="1300" dirty="0">
                <a:solidFill>
                  <a:srgbClr val="5B6577"/>
                </a:solidFill>
                <a:latin typeface="Arial" pitchFamily="34" charset="0"/>
                <a:ea typeface="Arial" pitchFamily="34" charset="-122"/>
                <a:cs typeface="Arial" pitchFamily="34" charset="-120"/>
              </a:rPr>
              <a:t>One page is many teams, bundles and APIs. A single user click can fan out across a dozen services.</a:t>
            </a:r>
            <a:endParaRPr lang="en-US" sz="1300" dirty="0"/>
          </a:p>
        </p:txBody>
      </p:sp>
      <p:sp>
        <p:nvSpPr>
          <p:cNvPr id="12" name="Shape 10"/>
          <p:cNvSpPr/>
          <p:nvPr/>
        </p:nvSpPr>
        <p:spPr>
          <a:xfrm>
            <a:off x="6089904" y="1371600"/>
            <a:ext cx="2606040" cy="3017520"/>
          </a:xfrm>
          <a:prstGeom prst="roundRect">
            <a:avLst>
              <a:gd name="adj" fmla="val 2807"/>
            </a:avLst>
          </a:prstGeom>
          <a:solidFill>
            <a:srgbClr val="F1F4F8"/>
          </a:solidFill>
          <a:ln w="12700">
            <a:solidFill>
              <a:srgbClr val="F1F4F8"/>
            </a:solidFill>
            <a:prstDash val="solid"/>
          </a:ln>
        </p:spPr>
      </p:sp>
      <p:sp>
        <p:nvSpPr>
          <p:cNvPr id="13" name="Shape 11"/>
          <p:cNvSpPr/>
          <p:nvPr/>
        </p:nvSpPr>
        <p:spPr>
          <a:xfrm>
            <a:off x="6318504" y="1600200"/>
            <a:ext cx="457200" cy="457200"/>
          </a:xfrm>
          <a:prstGeom prst="ellipse">
            <a:avLst/>
          </a:prstGeom>
          <a:solidFill>
            <a:srgbClr val="F5A524"/>
          </a:solidFill>
          <a:ln w="12700">
            <a:solidFill>
              <a:srgbClr val="F5A524"/>
            </a:solidFill>
            <a:prstDash val="solid"/>
          </a:ln>
        </p:spPr>
      </p:sp>
      <p:sp>
        <p:nvSpPr>
          <p:cNvPr id="14" name="Text 12"/>
          <p:cNvSpPr txBox="1"/>
          <p:nvPr/>
        </p:nvSpPr>
        <p:spPr>
          <a:xfrm>
            <a:off x="6318504" y="2240280"/>
            <a:ext cx="2194560" cy="365760"/>
          </a:xfrm>
          <a:prstGeom prst="rect">
            <a:avLst/>
          </a:prstGeom>
          <a:noFill/>
          <a:ln/>
        </p:spPr>
        <p:txBody>
          <a:bodyPr wrap="square" lIns="0" tIns="0" rIns="0" bIns="0" rtlCol="0" anchor="t"/>
          <a:lstStyle/>
          <a:p>
            <a:pPr indent="0" marL="0">
              <a:buNone/>
            </a:pPr>
            <a:r>
              <a:rPr lang="en-US" sz="1700" b="1" dirty="0">
                <a:solidFill>
                  <a:srgbClr val="0B1320"/>
                </a:solidFill>
                <a:latin typeface="Arial" pitchFamily="34" charset="0"/>
                <a:ea typeface="Arial" pitchFamily="34" charset="-122"/>
                <a:cs typeface="Arial" pitchFamily="34" charset="-120"/>
              </a:rPr>
              <a:t>Distributed systems</a:t>
            </a:r>
            <a:endParaRPr lang="en-US" sz="1700" dirty="0"/>
          </a:p>
        </p:txBody>
      </p:sp>
      <p:sp>
        <p:nvSpPr>
          <p:cNvPr id="15" name="Text 13"/>
          <p:cNvSpPr txBox="1"/>
          <p:nvPr/>
        </p:nvSpPr>
        <p:spPr>
          <a:xfrm>
            <a:off x="6318504" y="2697480"/>
            <a:ext cx="2194560" cy="1554480"/>
          </a:xfrm>
          <a:prstGeom prst="rect">
            <a:avLst/>
          </a:prstGeom>
          <a:noFill/>
          <a:ln/>
        </p:spPr>
        <p:txBody>
          <a:bodyPr wrap="square" lIns="0" tIns="0" rIns="0" bIns="0" rtlCol="0" anchor="t"/>
          <a:lstStyle/>
          <a:p>
            <a:pPr indent="0" marL="0">
              <a:buNone/>
            </a:pPr>
            <a:r>
              <a:rPr lang="en-US" sz="1300" dirty="0">
                <a:solidFill>
                  <a:srgbClr val="5B6577"/>
                </a:solidFill>
                <a:latin typeface="Arial" pitchFamily="34" charset="0"/>
                <a:ea typeface="Arial" pitchFamily="34" charset="-122"/>
                <a:cs typeface="Arial" pitchFamily="34" charset="-120"/>
              </a:rPr>
              <a:t>Queues, retries, caches and third parties. Correctness depends on timing and ordering.</a:t>
            </a:r>
            <a:endParaRPr lang="en-US" sz="1300" dirty="0"/>
          </a:p>
        </p:txBody>
      </p:sp>
      <p:sp>
        <p:nvSpPr>
          <p:cNvPr id="16" name="Text 14"/>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5B6577"/>
                </a:solidFill>
                <a:latin typeface="Arial" pitchFamily="34" charset="0"/>
                <a:ea typeface="Arial" pitchFamily="34" charset="-122"/>
                <a:cs typeface="Arial" pitchFamily="34" charset="-120"/>
              </a:rPr>
              <a:t>Stop guessing, start seeing  ·  Motacon 2026</a:t>
            </a:r>
            <a:endParaRPr lang="en-US" sz="800" dirty="0"/>
          </a:p>
        </p:txBody>
      </p:sp>
      <p:sp>
        <p:nvSpPr>
          <p:cNvPr id="17" name="Text 15"/>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00" dirty="0">
                <a:solidFill>
                  <a:srgbClr val="5B6577"/>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320"/>
        </a:solidFill>
      </p:bgPr>
    </p:bg>
    <p:spTree>
      <p:nvGrpSpPr>
        <p:cNvPr id="1" name=""/>
        <p:cNvGrpSpPr/>
        <p:nvPr/>
      </p:nvGrpSpPr>
      <p:grpSpPr>
        <a:xfrm>
          <a:off x="0" y="0"/>
          <a:ext cx="0" cy="0"/>
          <a:chOff x="0" y="0"/>
          <a:chExt cx="0" cy="0"/>
        </a:xfrm>
      </p:grpSpPr>
      <p:sp>
        <p:nvSpPr>
          <p:cNvPr id="2" name="Shape 0"/>
          <p:cNvSpPr/>
          <p:nvPr/>
        </p:nvSpPr>
        <p:spPr>
          <a:xfrm>
            <a:off x="548640" y="1371600"/>
            <a:ext cx="1152144" cy="115214"/>
          </a:xfrm>
          <a:prstGeom prst="roundRect">
            <a:avLst>
              <a:gd name="adj" fmla="val 47619"/>
            </a:avLst>
          </a:prstGeom>
          <a:solidFill>
            <a:srgbClr val="F5A524"/>
          </a:solidFill>
          <a:ln w="12700">
            <a:solidFill>
              <a:srgbClr val="F5A524"/>
            </a:solidFill>
            <a:prstDash val="solid"/>
          </a:ln>
        </p:spPr>
      </p:sp>
      <p:sp>
        <p:nvSpPr>
          <p:cNvPr id="3" name="Shape 1"/>
          <p:cNvSpPr/>
          <p:nvPr/>
        </p:nvSpPr>
        <p:spPr>
          <a:xfrm>
            <a:off x="740664" y="1576426"/>
            <a:ext cx="768096" cy="115214"/>
          </a:xfrm>
          <a:prstGeom prst="roundRect">
            <a:avLst>
              <a:gd name="adj" fmla="val 47619"/>
            </a:avLst>
          </a:prstGeom>
          <a:solidFill>
            <a:srgbClr val="8B7CF6"/>
          </a:solidFill>
          <a:ln w="12700">
            <a:solidFill>
              <a:srgbClr val="8B7CF6"/>
            </a:solidFill>
            <a:prstDash val="solid"/>
          </a:ln>
        </p:spPr>
      </p:sp>
      <p:sp>
        <p:nvSpPr>
          <p:cNvPr id="4" name="Shape 2"/>
          <p:cNvSpPr/>
          <p:nvPr/>
        </p:nvSpPr>
        <p:spPr>
          <a:xfrm>
            <a:off x="932688" y="1781251"/>
            <a:ext cx="512064" cy="115214"/>
          </a:xfrm>
          <a:prstGeom prst="roundRect">
            <a:avLst>
              <a:gd name="adj" fmla="val 47619"/>
            </a:avLst>
          </a:prstGeom>
          <a:solidFill>
            <a:srgbClr val="1FB5A8"/>
          </a:solidFill>
          <a:ln w="12700">
            <a:solidFill>
              <a:srgbClr val="1FB5A8"/>
            </a:solidFill>
            <a:prstDash val="solid"/>
          </a:ln>
        </p:spPr>
      </p:sp>
      <p:sp>
        <p:nvSpPr>
          <p:cNvPr id="5" name="Text 3"/>
          <p:cNvSpPr txBox="1"/>
          <p:nvPr/>
        </p:nvSpPr>
        <p:spPr>
          <a:xfrm>
            <a:off x="548640" y="2148840"/>
            <a:ext cx="7315200" cy="274320"/>
          </a:xfrm>
          <a:prstGeom prst="rect">
            <a:avLst/>
          </a:prstGeom>
          <a:noFill/>
          <a:ln/>
        </p:spPr>
        <p:txBody>
          <a:bodyPr wrap="square" lIns="0" tIns="0" rIns="0" bIns="0" rtlCol="0" anchor="t"/>
          <a:lstStyle/>
          <a:p>
            <a:pPr indent="0" marL="0">
              <a:buNone/>
            </a:pPr>
            <a:r>
              <a:rPr lang="en-US" sz="1200" b="1" spc="400" kern="0" dirty="0">
                <a:solidFill>
                  <a:srgbClr val="F5A524"/>
                </a:solidFill>
                <a:latin typeface="Arial" pitchFamily="34" charset="0"/>
                <a:ea typeface="Arial" pitchFamily="34" charset="-122"/>
                <a:cs typeface="Arial" pitchFamily="34" charset="-120"/>
              </a:rPr>
              <a:t>PART 1</a:t>
            </a:r>
            <a:endParaRPr lang="en-US" sz="1200" dirty="0"/>
          </a:p>
        </p:txBody>
      </p:sp>
      <p:sp>
        <p:nvSpPr>
          <p:cNvPr id="6" name="Text 4"/>
          <p:cNvSpPr txBox="1"/>
          <p:nvPr/>
        </p:nvSpPr>
        <p:spPr>
          <a:xfrm>
            <a:off x="548640" y="2468880"/>
            <a:ext cx="7863840" cy="82296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Observability-Driven Testing</a:t>
            </a:r>
            <a:endParaRPr lang="en-US" sz="3800" dirty="0"/>
          </a:p>
        </p:txBody>
      </p:sp>
      <p:sp>
        <p:nvSpPr>
          <p:cNvPr id="7" name="Text 5"/>
          <p:cNvSpPr txBox="1"/>
          <p:nvPr/>
        </p:nvSpPr>
        <p:spPr>
          <a:xfrm>
            <a:off x="548640" y="3291840"/>
            <a:ext cx="7315200" cy="548640"/>
          </a:xfrm>
          <a:prstGeom prst="rect">
            <a:avLst/>
          </a:prstGeom>
          <a:noFill/>
          <a:ln/>
        </p:spPr>
        <p:txBody>
          <a:bodyPr wrap="square" lIns="0" tIns="0" rIns="0" bIns="0" rtlCol="0" anchor="t"/>
          <a:lstStyle/>
          <a:p>
            <a:pPr indent="0" marL="0">
              <a:buNone/>
            </a:pPr>
            <a:r>
              <a:rPr lang="en-US" sz="1600" dirty="0">
                <a:solidFill>
                  <a:srgbClr val="9AA4B5"/>
                </a:solidFill>
                <a:latin typeface="Arial" pitchFamily="34" charset="0"/>
                <a:ea typeface="Arial" pitchFamily="34" charset="-122"/>
                <a:cs typeface="Arial" pitchFamily="34" charset="-120"/>
              </a:rPr>
              <a:t>Production telemetry as the test oracle</a:t>
            </a:r>
            <a:endParaRPr lang="en-US" sz="1600" dirty="0"/>
          </a:p>
        </p:txBody>
      </p:sp>
      <p:sp>
        <p:nvSpPr>
          <p:cNvPr id="8" name="Text 6"/>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9AA4B5"/>
                </a:solidFill>
                <a:latin typeface="Arial" pitchFamily="34" charset="0"/>
                <a:ea typeface="Arial" pitchFamily="34" charset="-122"/>
                <a:cs typeface="Arial" pitchFamily="34" charset="-120"/>
              </a:rPr>
              <a:t>Stop guessing, start seeing  ·  Motacon 2026</a:t>
            </a:r>
            <a:endParaRPr lang="en-US" sz="800" dirty="0"/>
          </a:p>
        </p:txBody>
      </p:sp>
      <p:sp>
        <p:nvSpPr>
          <p:cNvPr id="9" name="Text 7"/>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00" dirty="0">
                <a:solidFill>
                  <a:srgbClr val="9AA4B5"/>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64592"/>
            <a:ext cx="8229600" cy="228600"/>
          </a:xfrm>
          <a:prstGeom prst="rect">
            <a:avLst/>
          </a:prstGeom>
          <a:noFill/>
          <a:ln/>
        </p:spPr>
        <p:txBody>
          <a:bodyPr wrap="square" lIns="0" tIns="0" rIns="0" bIns="0" rtlCol="0" anchor="t"/>
          <a:lstStyle/>
          <a:p>
            <a:pPr indent="0" marL="0">
              <a:buNone/>
            </a:pPr>
            <a:r>
              <a:rPr lang="en-US" sz="1000" b="1" spc="300" kern="0" dirty="0">
                <a:solidFill>
                  <a:srgbClr val="B7770A"/>
                </a:solidFill>
                <a:latin typeface="Arial" pitchFamily="34" charset="0"/>
                <a:ea typeface="Arial" pitchFamily="34" charset="-122"/>
                <a:cs typeface="Arial" pitchFamily="34" charset="-120"/>
              </a:rPr>
              <a:t>DEFINITION</a:t>
            </a:r>
            <a:endParaRPr lang="en-US" sz="1000" dirty="0"/>
          </a:p>
        </p:txBody>
      </p:sp>
      <p:sp>
        <p:nvSpPr>
          <p:cNvPr id="3" name="Text 1"/>
          <p:cNvSpPr txBox="1"/>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0B1320"/>
                </a:solidFill>
                <a:latin typeface="Arial" pitchFamily="34" charset="0"/>
                <a:ea typeface="Arial" pitchFamily="34" charset="-122"/>
                <a:cs typeface="Arial" pitchFamily="34" charset="-120"/>
              </a:rPr>
              <a:t>What ODT is, and what it isn't</a:t>
            </a:r>
            <a:endParaRPr lang="en-US" sz="3000" dirty="0"/>
          </a:p>
        </p:txBody>
      </p:sp>
      <p:sp>
        <p:nvSpPr>
          <p:cNvPr id="4" name="Shape 2"/>
          <p:cNvSpPr/>
          <p:nvPr/>
        </p:nvSpPr>
        <p:spPr>
          <a:xfrm>
            <a:off x="457200" y="1325880"/>
            <a:ext cx="8229600" cy="1005840"/>
          </a:xfrm>
          <a:prstGeom prst="roundRect">
            <a:avLst>
              <a:gd name="adj" fmla="val 7273"/>
            </a:avLst>
          </a:prstGeom>
          <a:solidFill>
            <a:srgbClr val="0B1320"/>
          </a:solidFill>
          <a:ln w="12700">
            <a:solidFill>
              <a:srgbClr val="0B1320"/>
            </a:solidFill>
            <a:prstDash val="solid"/>
          </a:ln>
        </p:spPr>
      </p:sp>
      <p:sp>
        <p:nvSpPr>
          <p:cNvPr id="5" name="Text 3"/>
          <p:cNvSpPr txBox="1"/>
          <p:nvPr/>
        </p:nvSpPr>
        <p:spPr>
          <a:xfrm>
            <a:off x="731520" y="1463040"/>
            <a:ext cx="7680960" cy="73152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Use telemetry (traces, metrics, logs) as the oracle that decides whether the system behaved correctly: in CI, in pre-prod and in production.</a:t>
            </a:r>
            <a:endParaRPr lang="en-US" sz="1600" dirty="0"/>
          </a:p>
        </p:txBody>
      </p:sp>
      <p:sp>
        <p:nvSpPr>
          <p:cNvPr id="6" name="Text 4"/>
          <p:cNvSpPr txBox="1"/>
          <p:nvPr/>
        </p:nvSpPr>
        <p:spPr>
          <a:xfrm>
            <a:off x="457200" y="2560320"/>
            <a:ext cx="3931920" cy="274320"/>
          </a:xfrm>
          <a:prstGeom prst="rect">
            <a:avLst/>
          </a:prstGeom>
          <a:noFill/>
          <a:ln/>
        </p:spPr>
        <p:txBody>
          <a:bodyPr wrap="square" lIns="0" tIns="0" rIns="0" bIns="0" rtlCol="0" anchor="t"/>
          <a:lstStyle/>
          <a:p>
            <a:pPr indent="0" marL="0">
              <a:buNone/>
            </a:pPr>
            <a:r>
              <a:rPr lang="en-US" sz="1200" b="1" spc="300" kern="0" dirty="0">
                <a:solidFill>
                  <a:srgbClr val="1FB5A8"/>
                </a:solidFill>
                <a:latin typeface="Arial" pitchFamily="34" charset="0"/>
                <a:ea typeface="Arial" pitchFamily="34" charset="-122"/>
                <a:cs typeface="Arial" pitchFamily="34" charset="-120"/>
              </a:rPr>
              <a:t>IT IS</a:t>
            </a:r>
            <a:endParaRPr lang="en-US" sz="1200" dirty="0"/>
          </a:p>
        </p:txBody>
      </p:sp>
      <p:sp>
        <p:nvSpPr>
          <p:cNvPr id="7" name="Text 5"/>
          <p:cNvSpPr txBox="1"/>
          <p:nvPr/>
        </p:nvSpPr>
        <p:spPr>
          <a:xfrm>
            <a:off x="4754880" y="2560320"/>
            <a:ext cx="3931920" cy="274320"/>
          </a:xfrm>
          <a:prstGeom prst="rect">
            <a:avLst/>
          </a:prstGeom>
          <a:noFill/>
          <a:ln/>
        </p:spPr>
        <p:txBody>
          <a:bodyPr wrap="square" lIns="0" tIns="0" rIns="0" bIns="0" rtlCol="0" anchor="t"/>
          <a:lstStyle/>
          <a:p>
            <a:pPr indent="0" marL="0">
              <a:buNone/>
            </a:pPr>
            <a:r>
              <a:rPr lang="en-US" sz="1200" b="1" spc="300" kern="0" dirty="0">
                <a:solidFill>
                  <a:srgbClr val="E5484D"/>
                </a:solidFill>
                <a:latin typeface="Arial" pitchFamily="34" charset="0"/>
                <a:ea typeface="Arial" pitchFamily="34" charset="-122"/>
                <a:cs typeface="Arial" pitchFamily="34" charset="-120"/>
              </a:rPr>
              <a:t>IT ISN'T</a:t>
            </a:r>
            <a:endParaRPr lang="en-US" sz="1200" dirty="0"/>
          </a:p>
        </p:txBody>
      </p:sp>
      <p:sp>
        <p:nvSpPr>
          <p:cNvPr id="8" name="Text 6"/>
          <p:cNvSpPr txBox="1"/>
          <p:nvPr/>
        </p:nvSpPr>
        <p:spPr>
          <a:xfrm>
            <a:off x="457200" y="2880360"/>
            <a:ext cx="393192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B1320"/>
                </a:solidFill>
                <a:latin typeface="Arial" pitchFamily="34" charset="0"/>
                <a:ea typeface="Arial" pitchFamily="34" charset="-122"/>
                <a:cs typeface="Arial" pitchFamily="34" charset="-120"/>
              </a:rPr>
              <a:t>Assert on traces, not just on the DOM</a:t>
            </a:r>
            <a:endParaRPr lang="en-US" sz="1400" dirty="0"/>
          </a:p>
          <a:p>
            <a:pPr marL="342900" indent="-342900">
              <a:spcAft>
                <a:spcPts val="600"/>
              </a:spcAft>
              <a:buSzPct val="100000"/>
              <a:buChar char="•"/>
            </a:pPr>
            <a:r>
              <a:rPr lang="en-US" sz="1400" dirty="0">
                <a:solidFill>
                  <a:srgbClr val="0B1320"/>
                </a:solidFill>
                <a:latin typeface="Arial" pitchFamily="34" charset="0"/>
                <a:ea typeface="Arial" pitchFamily="34" charset="-122"/>
                <a:cs typeface="Arial" pitchFamily="34" charset="-120"/>
              </a:rPr>
              <a:t>Real-user journeys become test cases</a:t>
            </a:r>
            <a:endParaRPr lang="en-US" sz="1400" dirty="0"/>
          </a:p>
          <a:p>
            <a:pPr marL="342900" indent="-342900">
              <a:spcAft>
                <a:spcPts val="600"/>
              </a:spcAft>
              <a:buSzPct val="100000"/>
              <a:buChar char="•"/>
            </a:pPr>
            <a:r>
              <a:rPr lang="en-US" sz="1400" dirty="0">
                <a:solidFill>
                  <a:srgbClr val="0B1320"/>
                </a:solidFill>
                <a:latin typeface="Arial" pitchFamily="34" charset="0"/>
                <a:ea typeface="Arial" pitchFamily="34" charset="-122"/>
                <a:cs typeface="Arial" pitchFamily="34" charset="-120"/>
              </a:rPr>
              <a:t>Invariants that apply in every environment</a:t>
            </a:r>
            <a:endParaRPr lang="en-US" sz="1400" dirty="0"/>
          </a:p>
          <a:p>
            <a:pPr marL="342900" indent="-342900">
              <a:spcAft>
                <a:spcPts val="600"/>
              </a:spcAft>
              <a:buSzPct val="100000"/>
              <a:buChar char="•"/>
            </a:pPr>
            <a:r>
              <a:rPr lang="en-US" sz="1400" dirty="0">
                <a:solidFill>
                  <a:srgbClr val="0B1320"/>
                </a:solidFill>
                <a:latin typeface="Arial" pitchFamily="34" charset="0"/>
                <a:ea typeface="Arial" pitchFamily="34" charset="-122"/>
                <a:cs typeface="Arial" pitchFamily="34" charset="-120"/>
              </a:rPr>
              <a:t>Tests and incidents speak the same language</a:t>
            </a:r>
            <a:endParaRPr lang="en-US" sz="1400" dirty="0"/>
          </a:p>
        </p:txBody>
      </p:sp>
      <p:sp>
        <p:nvSpPr>
          <p:cNvPr id="9" name="Text 7"/>
          <p:cNvSpPr txBox="1"/>
          <p:nvPr/>
        </p:nvSpPr>
        <p:spPr>
          <a:xfrm>
            <a:off x="4754880" y="2880360"/>
            <a:ext cx="393192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B1320"/>
                </a:solidFill>
                <a:latin typeface="Arial" pitchFamily="34" charset="0"/>
                <a:ea typeface="Arial" pitchFamily="34" charset="-122"/>
                <a:cs typeface="Arial" pitchFamily="34" charset="-120"/>
              </a:rPr>
              <a:t>Just 'testing in production'</a:t>
            </a:r>
            <a:endParaRPr lang="en-US" sz="1400" dirty="0"/>
          </a:p>
          <a:p>
            <a:pPr marL="342900" indent="-342900">
              <a:spcAft>
                <a:spcPts val="600"/>
              </a:spcAft>
              <a:buSzPct val="100000"/>
              <a:buChar char="•"/>
            </a:pPr>
            <a:r>
              <a:rPr lang="en-US" sz="1400" dirty="0">
                <a:solidFill>
                  <a:srgbClr val="0B1320"/>
                </a:solidFill>
                <a:latin typeface="Arial" pitchFamily="34" charset="0"/>
                <a:ea typeface="Arial" pitchFamily="34" charset="-122"/>
                <a:cs typeface="Arial" pitchFamily="34" charset="-120"/>
              </a:rPr>
              <a:t>Replacing unit or contract tests</a:t>
            </a:r>
            <a:endParaRPr lang="en-US" sz="1400" dirty="0"/>
          </a:p>
          <a:p>
            <a:pPr marL="342900" indent="-342900">
              <a:spcAft>
                <a:spcPts val="600"/>
              </a:spcAft>
              <a:buSzPct val="100000"/>
              <a:buChar char="•"/>
            </a:pPr>
            <a:r>
              <a:rPr lang="en-US" sz="1400" dirty="0">
                <a:solidFill>
                  <a:srgbClr val="0B1320"/>
                </a:solidFill>
                <a:latin typeface="Arial" pitchFamily="34" charset="0"/>
                <a:ea typeface="Arial" pitchFamily="34" charset="-122"/>
                <a:cs typeface="Arial" pitchFamily="34" charset="-120"/>
              </a:rPr>
              <a:t>Another dashboard to stare at</a:t>
            </a:r>
            <a:endParaRPr lang="en-US" sz="1400" dirty="0"/>
          </a:p>
          <a:p>
            <a:pPr marL="342900" indent="-342900">
              <a:spcAft>
                <a:spcPts val="600"/>
              </a:spcAft>
              <a:buSzPct val="100000"/>
              <a:buChar char="•"/>
            </a:pPr>
            <a:r>
              <a:rPr lang="en-US" sz="1400" dirty="0">
                <a:solidFill>
                  <a:srgbClr val="0B1320"/>
                </a:solidFill>
                <a:latin typeface="Arial" pitchFamily="34" charset="0"/>
                <a:ea typeface="Arial" pitchFamily="34" charset="-122"/>
                <a:cs typeface="Arial" pitchFamily="34" charset="-120"/>
              </a:rPr>
              <a:t>Only for SREs</a:t>
            </a:r>
            <a:endParaRPr lang="en-US" sz="1400" dirty="0"/>
          </a:p>
        </p:txBody>
      </p:sp>
      <p:sp>
        <p:nvSpPr>
          <p:cNvPr id="10" name="Text 8"/>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5B6577"/>
                </a:solidFill>
                <a:latin typeface="Arial" pitchFamily="34" charset="0"/>
                <a:ea typeface="Arial" pitchFamily="34" charset="-122"/>
                <a:cs typeface="Arial" pitchFamily="34" charset="-120"/>
              </a:rPr>
              <a:t>Stop guessing, start seeing  ·  Motacon 2026</a:t>
            </a:r>
            <a:endParaRPr lang="en-US" sz="800" dirty="0"/>
          </a:p>
        </p:txBody>
      </p:sp>
      <p:sp>
        <p:nvSpPr>
          <p:cNvPr id="11" name="Text 9"/>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00" dirty="0">
                <a:solidFill>
                  <a:srgbClr val="5B6577"/>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64592"/>
            <a:ext cx="8229600" cy="228600"/>
          </a:xfrm>
          <a:prstGeom prst="rect">
            <a:avLst/>
          </a:prstGeom>
          <a:noFill/>
          <a:ln/>
        </p:spPr>
        <p:txBody>
          <a:bodyPr wrap="square" lIns="0" tIns="0" rIns="0" bIns="0" rtlCol="0" anchor="t"/>
          <a:lstStyle/>
          <a:p>
            <a:pPr indent="0" marL="0">
              <a:buNone/>
            </a:pPr>
            <a:r>
              <a:rPr lang="en-US" sz="1000" b="1" spc="300" kern="0" dirty="0">
                <a:solidFill>
                  <a:srgbClr val="B7770A"/>
                </a:solidFill>
                <a:latin typeface="Arial" pitchFamily="34" charset="0"/>
                <a:ea typeface="Arial" pitchFamily="34" charset="-122"/>
                <a:cs typeface="Arial" pitchFamily="34" charset="-120"/>
              </a:rPr>
              <a:t>OPENTELEMETRY IN 60 SECONDS</a:t>
            </a:r>
            <a:endParaRPr lang="en-US" sz="1000" dirty="0"/>
          </a:p>
        </p:txBody>
      </p:sp>
      <p:sp>
        <p:nvSpPr>
          <p:cNvPr id="3" name="Text 1"/>
          <p:cNvSpPr txBox="1"/>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0B1320"/>
                </a:solidFill>
                <a:latin typeface="Arial" pitchFamily="34" charset="0"/>
                <a:ea typeface="Arial" pitchFamily="34" charset="-122"/>
                <a:cs typeface="Arial" pitchFamily="34" charset="-120"/>
              </a:rPr>
              <a:t>Spans, traces and the header that joins them</a:t>
            </a:r>
            <a:endParaRPr lang="en-US" sz="3000" dirty="0"/>
          </a:p>
        </p:txBody>
      </p:sp>
      <p:sp>
        <p:nvSpPr>
          <p:cNvPr id="4" name="Shape 2"/>
          <p:cNvSpPr/>
          <p:nvPr/>
        </p:nvSpPr>
        <p:spPr>
          <a:xfrm>
            <a:off x="457200" y="1325880"/>
            <a:ext cx="3291840" cy="731520"/>
          </a:xfrm>
          <a:prstGeom prst="roundRect">
            <a:avLst>
              <a:gd name="adj" fmla="val 10000"/>
            </a:avLst>
          </a:prstGeom>
          <a:solidFill>
            <a:srgbClr val="F1F4F8"/>
          </a:solidFill>
          <a:ln w="12700">
            <a:solidFill>
              <a:srgbClr val="F1F4F8"/>
            </a:solidFill>
            <a:prstDash val="solid"/>
          </a:ln>
        </p:spPr>
      </p:sp>
      <p:sp>
        <p:nvSpPr>
          <p:cNvPr id="5" name="Shape 3"/>
          <p:cNvSpPr/>
          <p:nvPr/>
        </p:nvSpPr>
        <p:spPr>
          <a:xfrm>
            <a:off x="640080" y="1527048"/>
            <a:ext cx="329184" cy="329184"/>
          </a:xfrm>
          <a:prstGeom prst="ellipse">
            <a:avLst/>
          </a:prstGeom>
          <a:solidFill>
            <a:srgbClr val="F5A524"/>
          </a:solidFill>
          <a:ln w="12700">
            <a:solidFill>
              <a:srgbClr val="F5A524"/>
            </a:solidFill>
            <a:prstDash val="solid"/>
          </a:ln>
        </p:spPr>
      </p:sp>
      <p:sp>
        <p:nvSpPr>
          <p:cNvPr id="6" name="Text 4"/>
          <p:cNvSpPr txBox="1"/>
          <p:nvPr/>
        </p:nvSpPr>
        <p:spPr>
          <a:xfrm>
            <a:off x="1143000" y="1417320"/>
            <a:ext cx="2468880" cy="274320"/>
          </a:xfrm>
          <a:prstGeom prst="rect">
            <a:avLst/>
          </a:prstGeom>
          <a:noFill/>
          <a:ln/>
        </p:spPr>
        <p:txBody>
          <a:bodyPr wrap="square" lIns="0" tIns="0" rIns="0" bIns="0" rtlCol="0" anchor="t"/>
          <a:lstStyle/>
          <a:p>
            <a:pPr indent="0" marL="0">
              <a:buNone/>
            </a:pPr>
            <a:r>
              <a:rPr lang="en-US" sz="1400" b="1" dirty="0">
                <a:solidFill>
                  <a:srgbClr val="0B1320"/>
                </a:solidFill>
                <a:latin typeface="Arial" pitchFamily="34" charset="0"/>
                <a:ea typeface="Arial" pitchFamily="34" charset="-122"/>
                <a:cs typeface="Arial" pitchFamily="34" charset="-120"/>
              </a:rPr>
              <a:t>Traces</a:t>
            </a:r>
            <a:endParaRPr lang="en-US" sz="1400" dirty="0"/>
          </a:p>
        </p:txBody>
      </p:sp>
      <p:sp>
        <p:nvSpPr>
          <p:cNvPr id="7" name="Text 5"/>
          <p:cNvSpPr txBox="1"/>
          <p:nvPr/>
        </p:nvSpPr>
        <p:spPr>
          <a:xfrm>
            <a:off x="1143000" y="1709928"/>
            <a:ext cx="2468880" cy="274320"/>
          </a:xfrm>
          <a:prstGeom prst="rect">
            <a:avLst/>
          </a:prstGeom>
          <a:noFill/>
          <a:ln/>
        </p:spPr>
        <p:txBody>
          <a:bodyPr wrap="square" lIns="0" tIns="0" rIns="0" bIns="0" rtlCol="0" anchor="t"/>
          <a:lstStyle/>
          <a:p>
            <a:pPr indent="0" marL="0">
              <a:buNone/>
            </a:pPr>
            <a:r>
              <a:rPr lang="en-US" sz="1100" dirty="0">
                <a:solidFill>
                  <a:srgbClr val="5B6577"/>
                </a:solidFill>
                <a:latin typeface="Arial" pitchFamily="34" charset="0"/>
                <a:ea typeface="Arial" pitchFamily="34" charset="-122"/>
                <a:cs typeface="Arial" pitchFamily="34" charset="-120"/>
              </a:rPr>
              <a:t>What happened, and in what order</a:t>
            </a:r>
            <a:endParaRPr lang="en-US" sz="1100" dirty="0"/>
          </a:p>
        </p:txBody>
      </p:sp>
      <p:sp>
        <p:nvSpPr>
          <p:cNvPr id="8" name="Shape 6"/>
          <p:cNvSpPr/>
          <p:nvPr/>
        </p:nvSpPr>
        <p:spPr>
          <a:xfrm>
            <a:off x="457200" y="2194560"/>
            <a:ext cx="3291840" cy="731520"/>
          </a:xfrm>
          <a:prstGeom prst="roundRect">
            <a:avLst>
              <a:gd name="adj" fmla="val 10000"/>
            </a:avLst>
          </a:prstGeom>
          <a:solidFill>
            <a:srgbClr val="F1F4F8"/>
          </a:solidFill>
          <a:ln w="12700">
            <a:solidFill>
              <a:srgbClr val="F1F4F8"/>
            </a:solidFill>
            <a:prstDash val="solid"/>
          </a:ln>
        </p:spPr>
      </p:sp>
      <p:sp>
        <p:nvSpPr>
          <p:cNvPr id="9" name="Shape 7"/>
          <p:cNvSpPr/>
          <p:nvPr/>
        </p:nvSpPr>
        <p:spPr>
          <a:xfrm>
            <a:off x="640080" y="2395728"/>
            <a:ext cx="329184" cy="329184"/>
          </a:xfrm>
          <a:prstGeom prst="ellipse">
            <a:avLst/>
          </a:prstGeom>
          <a:solidFill>
            <a:srgbClr val="8B7CF6"/>
          </a:solidFill>
          <a:ln w="12700">
            <a:solidFill>
              <a:srgbClr val="8B7CF6"/>
            </a:solidFill>
            <a:prstDash val="solid"/>
          </a:ln>
        </p:spPr>
      </p:sp>
      <p:sp>
        <p:nvSpPr>
          <p:cNvPr id="10" name="Text 8"/>
          <p:cNvSpPr txBox="1"/>
          <p:nvPr/>
        </p:nvSpPr>
        <p:spPr>
          <a:xfrm>
            <a:off x="1143000" y="2286000"/>
            <a:ext cx="2468880" cy="274320"/>
          </a:xfrm>
          <a:prstGeom prst="rect">
            <a:avLst/>
          </a:prstGeom>
          <a:noFill/>
          <a:ln/>
        </p:spPr>
        <p:txBody>
          <a:bodyPr wrap="square" lIns="0" tIns="0" rIns="0" bIns="0" rtlCol="0" anchor="t"/>
          <a:lstStyle/>
          <a:p>
            <a:pPr indent="0" marL="0">
              <a:buNone/>
            </a:pPr>
            <a:r>
              <a:rPr lang="en-US" sz="1400" b="1" dirty="0">
                <a:solidFill>
                  <a:srgbClr val="0B1320"/>
                </a:solidFill>
                <a:latin typeface="Arial" pitchFamily="34" charset="0"/>
                <a:ea typeface="Arial" pitchFamily="34" charset="-122"/>
                <a:cs typeface="Arial" pitchFamily="34" charset="-120"/>
              </a:rPr>
              <a:t>Metrics</a:t>
            </a:r>
            <a:endParaRPr lang="en-US" sz="1400" dirty="0"/>
          </a:p>
        </p:txBody>
      </p:sp>
      <p:sp>
        <p:nvSpPr>
          <p:cNvPr id="11" name="Text 9"/>
          <p:cNvSpPr txBox="1"/>
          <p:nvPr/>
        </p:nvSpPr>
        <p:spPr>
          <a:xfrm>
            <a:off x="1143000" y="2578608"/>
            <a:ext cx="2468880" cy="274320"/>
          </a:xfrm>
          <a:prstGeom prst="rect">
            <a:avLst/>
          </a:prstGeom>
          <a:noFill/>
          <a:ln/>
        </p:spPr>
        <p:txBody>
          <a:bodyPr wrap="square" lIns="0" tIns="0" rIns="0" bIns="0" rtlCol="0" anchor="t"/>
          <a:lstStyle/>
          <a:p>
            <a:pPr indent="0" marL="0">
              <a:buNone/>
            </a:pPr>
            <a:r>
              <a:rPr lang="en-US" sz="1100" dirty="0">
                <a:solidFill>
                  <a:srgbClr val="5B6577"/>
                </a:solidFill>
                <a:latin typeface="Arial" pitchFamily="34" charset="0"/>
                <a:ea typeface="Arial" pitchFamily="34" charset="-122"/>
                <a:cs typeface="Arial" pitchFamily="34" charset="-120"/>
              </a:rPr>
              <a:t>How much, and how often</a:t>
            </a:r>
            <a:endParaRPr lang="en-US" sz="1100" dirty="0"/>
          </a:p>
        </p:txBody>
      </p:sp>
      <p:sp>
        <p:nvSpPr>
          <p:cNvPr id="12" name="Shape 10"/>
          <p:cNvSpPr/>
          <p:nvPr/>
        </p:nvSpPr>
        <p:spPr>
          <a:xfrm>
            <a:off x="457200" y="3063240"/>
            <a:ext cx="3291840" cy="731520"/>
          </a:xfrm>
          <a:prstGeom prst="roundRect">
            <a:avLst>
              <a:gd name="adj" fmla="val 10000"/>
            </a:avLst>
          </a:prstGeom>
          <a:solidFill>
            <a:srgbClr val="F1F4F8"/>
          </a:solidFill>
          <a:ln w="12700">
            <a:solidFill>
              <a:srgbClr val="F1F4F8"/>
            </a:solidFill>
            <a:prstDash val="solid"/>
          </a:ln>
        </p:spPr>
      </p:sp>
      <p:sp>
        <p:nvSpPr>
          <p:cNvPr id="13" name="Shape 11"/>
          <p:cNvSpPr/>
          <p:nvPr/>
        </p:nvSpPr>
        <p:spPr>
          <a:xfrm>
            <a:off x="640080" y="3264408"/>
            <a:ext cx="329184" cy="329184"/>
          </a:xfrm>
          <a:prstGeom prst="ellipse">
            <a:avLst/>
          </a:prstGeom>
          <a:solidFill>
            <a:srgbClr val="1FB5A8"/>
          </a:solidFill>
          <a:ln w="12700">
            <a:solidFill>
              <a:srgbClr val="1FB5A8"/>
            </a:solidFill>
            <a:prstDash val="solid"/>
          </a:ln>
        </p:spPr>
      </p:sp>
      <p:sp>
        <p:nvSpPr>
          <p:cNvPr id="14" name="Text 12"/>
          <p:cNvSpPr txBox="1"/>
          <p:nvPr/>
        </p:nvSpPr>
        <p:spPr>
          <a:xfrm>
            <a:off x="1143000" y="3154680"/>
            <a:ext cx="2468880" cy="274320"/>
          </a:xfrm>
          <a:prstGeom prst="rect">
            <a:avLst/>
          </a:prstGeom>
          <a:noFill/>
          <a:ln/>
        </p:spPr>
        <p:txBody>
          <a:bodyPr wrap="square" lIns="0" tIns="0" rIns="0" bIns="0" rtlCol="0" anchor="t"/>
          <a:lstStyle/>
          <a:p>
            <a:pPr indent="0" marL="0">
              <a:buNone/>
            </a:pPr>
            <a:r>
              <a:rPr lang="en-US" sz="1400" b="1" dirty="0">
                <a:solidFill>
                  <a:srgbClr val="0B1320"/>
                </a:solidFill>
                <a:latin typeface="Arial" pitchFamily="34" charset="0"/>
                <a:ea typeface="Arial" pitchFamily="34" charset="-122"/>
                <a:cs typeface="Arial" pitchFamily="34" charset="-120"/>
              </a:rPr>
              <a:t>Logs</a:t>
            </a:r>
            <a:endParaRPr lang="en-US" sz="1400" dirty="0"/>
          </a:p>
        </p:txBody>
      </p:sp>
      <p:sp>
        <p:nvSpPr>
          <p:cNvPr id="15" name="Text 13"/>
          <p:cNvSpPr txBox="1"/>
          <p:nvPr/>
        </p:nvSpPr>
        <p:spPr>
          <a:xfrm>
            <a:off x="1143000" y="3447288"/>
            <a:ext cx="2468880" cy="274320"/>
          </a:xfrm>
          <a:prstGeom prst="rect">
            <a:avLst/>
          </a:prstGeom>
          <a:noFill/>
          <a:ln/>
        </p:spPr>
        <p:txBody>
          <a:bodyPr wrap="square" lIns="0" tIns="0" rIns="0" bIns="0" rtlCol="0" anchor="t"/>
          <a:lstStyle/>
          <a:p>
            <a:pPr indent="0" marL="0">
              <a:buNone/>
            </a:pPr>
            <a:r>
              <a:rPr lang="en-US" sz="1100" dirty="0">
                <a:solidFill>
                  <a:srgbClr val="5B6577"/>
                </a:solidFill>
                <a:latin typeface="Arial" pitchFamily="34" charset="0"/>
                <a:ea typeface="Arial" pitchFamily="34" charset="-122"/>
                <a:cs typeface="Arial" pitchFamily="34" charset="-120"/>
              </a:rPr>
              <a:t>Details, tied to a trace_id</a:t>
            </a:r>
            <a:endParaRPr lang="en-US" sz="1100" dirty="0"/>
          </a:p>
        </p:txBody>
      </p:sp>
      <p:sp>
        <p:nvSpPr>
          <p:cNvPr id="16" name="Text 14"/>
          <p:cNvSpPr txBox="1"/>
          <p:nvPr/>
        </p:nvSpPr>
        <p:spPr>
          <a:xfrm>
            <a:off x="4114800" y="1325880"/>
            <a:ext cx="4572000" cy="274320"/>
          </a:xfrm>
          <a:prstGeom prst="rect">
            <a:avLst/>
          </a:prstGeom>
          <a:noFill/>
          <a:ln/>
        </p:spPr>
        <p:txBody>
          <a:bodyPr wrap="square" lIns="0" tIns="0" rIns="0" bIns="0" rtlCol="0" anchor="t"/>
          <a:lstStyle/>
          <a:p>
            <a:pPr indent="0" marL="0">
              <a:buNone/>
            </a:pPr>
            <a:r>
              <a:rPr lang="en-US" sz="1300" b="1" dirty="0">
                <a:solidFill>
                  <a:srgbClr val="0B1320"/>
                </a:solidFill>
                <a:latin typeface="Arial" pitchFamily="34" charset="0"/>
                <a:ea typeface="Arial" pitchFamily="34" charset="-122"/>
                <a:cs typeface="Arial" pitchFamily="34" charset="-120"/>
              </a:rPr>
              <a:t>W3C Trace Context: the traceparent header</a:t>
            </a:r>
            <a:endParaRPr lang="en-US" sz="1300" dirty="0"/>
          </a:p>
        </p:txBody>
      </p:sp>
      <p:sp>
        <p:nvSpPr>
          <p:cNvPr id="17" name="Shape 15"/>
          <p:cNvSpPr/>
          <p:nvPr/>
        </p:nvSpPr>
        <p:spPr>
          <a:xfrm>
            <a:off x="4114800" y="1691640"/>
            <a:ext cx="4572000" cy="640080"/>
          </a:xfrm>
          <a:prstGeom prst="roundRect">
            <a:avLst>
              <a:gd name="adj" fmla="val 11429"/>
            </a:avLst>
          </a:prstGeom>
          <a:solidFill>
            <a:srgbClr val="0F1A2B"/>
          </a:solidFill>
          <a:ln w="12700">
            <a:solidFill>
              <a:srgbClr val="0F1A2B"/>
            </a:solidFill>
            <a:prstDash val="solid"/>
          </a:ln>
        </p:spPr>
      </p:sp>
      <p:sp>
        <p:nvSpPr>
          <p:cNvPr id="18" name="Text 16"/>
          <p:cNvSpPr txBox="1"/>
          <p:nvPr/>
        </p:nvSpPr>
        <p:spPr>
          <a:xfrm>
            <a:off x="4206240" y="1691640"/>
            <a:ext cx="4389120" cy="640080"/>
          </a:xfrm>
          <a:prstGeom prst="rect">
            <a:avLst/>
          </a:prstGeom>
          <a:noFill/>
          <a:ln/>
        </p:spPr>
        <p:txBody>
          <a:bodyPr wrap="square" lIns="0" tIns="0" rIns="0" bIns="0" rtlCol="0" anchor="ctr"/>
          <a:lstStyle/>
          <a:p>
            <a:pPr algn="ctr" indent="0" marL="0">
              <a:buNone/>
            </a:pPr>
            <a:r>
              <a:rPr lang="en-US" sz="1050" dirty="0">
                <a:solidFill>
                  <a:srgbClr val="9AA4B5"/>
                </a:solidFill>
                <a:latin typeface="Courier New" pitchFamily="34" charset="0"/>
                <a:ea typeface="Courier New" pitchFamily="34" charset="-122"/>
                <a:cs typeface="Courier New" pitchFamily="34" charset="-120"/>
              </a:rPr>
              <a:t>00</a:t>
            </a:r>
            <a:pPr algn="ctr" indent="0" marL="0">
              <a:buNone/>
            </a:pPr>
            <a:r>
              <a:rPr lang="en-US" sz="1050" dirty="0">
                <a:solidFill>
                  <a:srgbClr val="E6EDF3"/>
                </a:solidFill>
                <a:latin typeface="Courier New" pitchFamily="34" charset="0"/>
                <a:ea typeface="Courier New" pitchFamily="34" charset="-122"/>
                <a:cs typeface="Courier New" pitchFamily="34" charset="-120"/>
              </a:rPr>
              <a:t>-</a:t>
            </a:r>
            <a:pPr algn="ctr" indent="0" marL="0">
              <a:buNone/>
            </a:pPr>
            <a:r>
              <a:rPr lang="en-US" sz="1050" dirty="0">
                <a:solidFill>
                  <a:srgbClr val="F5A524"/>
                </a:solidFill>
                <a:latin typeface="Courier New" pitchFamily="34" charset="0"/>
                <a:ea typeface="Courier New" pitchFamily="34" charset="-122"/>
                <a:cs typeface="Courier New" pitchFamily="34" charset="-120"/>
              </a:rPr>
              <a:t>4bf92f3577b34da6a3ce929d0e0e4736</a:t>
            </a:r>
            <a:pPr algn="ctr" indent="0" marL="0">
              <a:buNone/>
            </a:pPr>
            <a:r>
              <a:rPr lang="en-US" sz="1050" dirty="0">
                <a:solidFill>
                  <a:srgbClr val="E6EDF3"/>
                </a:solidFill>
                <a:latin typeface="Courier New" pitchFamily="34" charset="0"/>
                <a:ea typeface="Courier New" pitchFamily="34" charset="-122"/>
                <a:cs typeface="Courier New" pitchFamily="34" charset="-120"/>
              </a:rPr>
              <a:t>-</a:t>
            </a:r>
            <a:pPr algn="ctr" indent="0" marL="0">
              <a:buNone/>
            </a:pPr>
            <a:r>
              <a:rPr lang="en-US" sz="1050" dirty="0">
                <a:solidFill>
                  <a:srgbClr val="1FB5A8"/>
                </a:solidFill>
                <a:latin typeface="Courier New" pitchFamily="34" charset="0"/>
                <a:ea typeface="Courier New" pitchFamily="34" charset="-122"/>
                <a:cs typeface="Courier New" pitchFamily="34" charset="-120"/>
              </a:rPr>
              <a:t>00f067aa0ba902b7</a:t>
            </a:r>
            <a:pPr algn="ctr" indent="0" marL="0">
              <a:buNone/>
            </a:pPr>
            <a:r>
              <a:rPr lang="en-US" sz="1050" dirty="0">
                <a:solidFill>
                  <a:srgbClr val="E6EDF3"/>
                </a:solidFill>
                <a:latin typeface="Courier New" pitchFamily="34" charset="0"/>
                <a:ea typeface="Courier New" pitchFamily="34" charset="-122"/>
                <a:cs typeface="Courier New" pitchFamily="34" charset="-120"/>
              </a:rPr>
              <a:t>-</a:t>
            </a:r>
            <a:pPr algn="ctr" indent="0" marL="0">
              <a:buNone/>
            </a:pPr>
            <a:r>
              <a:rPr lang="en-US" sz="1050" dirty="0">
                <a:solidFill>
                  <a:srgbClr val="8B7CF6"/>
                </a:solidFill>
                <a:latin typeface="Courier New" pitchFamily="34" charset="0"/>
                <a:ea typeface="Courier New" pitchFamily="34" charset="-122"/>
                <a:cs typeface="Courier New" pitchFamily="34" charset="-120"/>
              </a:rPr>
              <a:t>01</a:t>
            </a:r>
            <a:endParaRPr lang="en-US" sz="1050" dirty="0"/>
          </a:p>
        </p:txBody>
      </p:sp>
      <p:sp>
        <p:nvSpPr>
          <p:cNvPr id="19" name="Shape 17"/>
          <p:cNvSpPr/>
          <p:nvPr/>
        </p:nvSpPr>
        <p:spPr>
          <a:xfrm>
            <a:off x="4160520" y="2606040"/>
            <a:ext cx="164592" cy="164592"/>
          </a:xfrm>
          <a:prstGeom prst="ellipse">
            <a:avLst/>
          </a:prstGeom>
          <a:solidFill>
            <a:srgbClr val="9AA4B5"/>
          </a:solidFill>
          <a:ln w="12700">
            <a:solidFill>
              <a:srgbClr val="9AA4B5"/>
            </a:solidFill>
            <a:prstDash val="solid"/>
          </a:ln>
        </p:spPr>
      </p:sp>
      <p:sp>
        <p:nvSpPr>
          <p:cNvPr id="20" name="Text 18"/>
          <p:cNvSpPr txBox="1"/>
          <p:nvPr/>
        </p:nvSpPr>
        <p:spPr>
          <a:xfrm>
            <a:off x="4434840" y="2560320"/>
            <a:ext cx="4206240" cy="274320"/>
          </a:xfrm>
          <a:prstGeom prst="rect">
            <a:avLst/>
          </a:prstGeom>
          <a:noFill/>
          <a:ln/>
        </p:spPr>
        <p:txBody>
          <a:bodyPr wrap="square" lIns="0" tIns="0" rIns="0" bIns="0" rtlCol="0" anchor="ctr"/>
          <a:lstStyle/>
          <a:p>
            <a:pPr indent="0" marL="0">
              <a:buNone/>
            </a:pPr>
            <a:r>
              <a:rPr lang="en-US" sz="1200" dirty="0">
                <a:solidFill>
                  <a:srgbClr val="0B1320"/>
                </a:solidFill>
                <a:latin typeface="Arial" pitchFamily="34" charset="0"/>
                <a:ea typeface="Arial" pitchFamily="34" charset="-122"/>
                <a:cs typeface="Arial" pitchFamily="34" charset="-120"/>
              </a:rPr>
              <a:t>version</a:t>
            </a:r>
            <a:endParaRPr lang="en-US" sz="1200" dirty="0"/>
          </a:p>
        </p:txBody>
      </p:sp>
      <p:sp>
        <p:nvSpPr>
          <p:cNvPr id="21" name="Shape 19"/>
          <p:cNvSpPr/>
          <p:nvPr/>
        </p:nvSpPr>
        <p:spPr>
          <a:xfrm>
            <a:off x="4160520" y="2990088"/>
            <a:ext cx="164592" cy="164592"/>
          </a:xfrm>
          <a:prstGeom prst="ellipse">
            <a:avLst/>
          </a:prstGeom>
          <a:solidFill>
            <a:srgbClr val="F5A524"/>
          </a:solidFill>
          <a:ln w="12700">
            <a:solidFill>
              <a:srgbClr val="F5A524"/>
            </a:solidFill>
            <a:prstDash val="solid"/>
          </a:ln>
        </p:spPr>
      </p:sp>
      <p:sp>
        <p:nvSpPr>
          <p:cNvPr id="22" name="Text 20"/>
          <p:cNvSpPr txBox="1"/>
          <p:nvPr/>
        </p:nvSpPr>
        <p:spPr>
          <a:xfrm>
            <a:off x="4434840" y="2944368"/>
            <a:ext cx="4206240" cy="274320"/>
          </a:xfrm>
          <a:prstGeom prst="rect">
            <a:avLst/>
          </a:prstGeom>
          <a:noFill/>
          <a:ln/>
        </p:spPr>
        <p:txBody>
          <a:bodyPr wrap="square" lIns="0" tIns="0" rIns="0" bIns="0" rtlCol="0" anchor="ctr"/>
          <a:lstStyle/>
          <a:p>
            <a:pPr indent="0" marL="0">
              <a:buNone/>
            </a:pPr>
            <a:r>
              <a:rPr lang="en-US" sz="1200" dirty="0">
                <a:solidFill>
                  <a:srgbClr val="0B1320"/>
                </a:solidFill>
                <a:latin typeface="Arial" pitchFamily="34" charset="0"/>
                <a:ea typeface="Arial" pitchFamily="34" charset="-122"/>
                <a:cs typeface="Arial" pitchFamily="34" charset="-120"/>
              </a:rPr>
              <a:t>trace-id: the whole journey</a:t>
            </a:r>
            <a:endParaRPr lang="en-US" sz="1200" dirty="0"/>
          </a:p>
        </p:txBody>
      </p:sp>
      <p:sp>
        <p:nvSpPr>
          <p:cNvPr id="23" name="Shape 21"/>
          <p:cNvSpPr/>
          <p:nvPr/>
        </p:nvSpPr>
        <p:spPr>
          <a:xfrm>
            <a:off x="4160520" y="3374136"/>
            <a:ext cx="164592" cy="164592"/>
          </a:xfrm>
          <a:prstGeom prst="ellipse">
            <a:avLst/>
          </a:prstGeom>
          <a:solidFill>
            <a:srgbClr val="1FB5A8"/>
          </a:solidFill>
          <a:ln w="12700">
            <a:solidFill>
              <a:srgbClr val="1FB5A8"/>
            </a:solidFill>
            <a:prstDash val="solid"/>
          </a:ln>
        </p:spPr>
      </p:sp>
      <p:sp>
        <p:nvSpPr>
          <p:cNvPr id="24" name="Text 22"/>
          <p:cNvSpPr txBox="1"/>
          <p:nvPr/>
        </p:nvSpPr>
        <p:spPr>
          <a:xfrm>
            <a:off x="4434840" y="3328416"/>
            <a:ext cx="4206240" cy="274320"/>
          </a:xfrm>
          <a:prstGeom prst="rect">
            <a:avLst/>
          </a:prstGeom>
          <a:noFill/>
          <a:ln/>
        </p:spPr>
        <p:txBody>
          <a:bodyPr wrap="square" lIns="0" tIns="0" rIns="0" bIns="0" rtlCol="0" anchor="ctr"/>
          <a:lstStyle/>
          <a:p>
            <a:pPr indent="0" marL="0">
              <a:buNone/>
            </a:pPr>
            <a:r>
              <a:rPr lang="en-US" sz="1200" dirty="0">
                <a:solidFill>
                  <a:srgbClr val="0B1320"/>
                </a:solidFill>
                <a:latin typeface="Arial" pitchFamily="34" charset="0"/>
                <a:ea typeface="Arial" pitchFamily="34" charset="-122"/>
                <a:cs typeface="Arial" pitchFamily="34" charset="-120"/>
              </a:rPr>
              <a:t>parent span-id: who called me</a:t>
            </a:r>
            <a:endParaRPr lang="en-US" sz="1200" dirty="0"/>
          </a:p>
        </p:txBody>
      </p:sp>
      <p:sp>
        <p:nvSpPr>
          <p:cNvPr id="25" name="Shape 23"/>
          <p:cNvSpPr/>
          <p:nvPr/>
        </p:nvSpPr>
        <p:spPr>
          <a:xfrm>
            <a:off x="4160520" y="3758184"/>
            <a:ext cx="164592" cy="164592"/>
          </a:xfrm>
          <a:prstGeom prst="ellipse">
            <a:avLst/>
          </a:prstGeom>
          <a:solidFill>
            <a:srgbClr val="8B7CF6"/>
          </a:solidFill>
          <a:ln w="12700">
            <a:solidFill>
              <a:srgbClr val="8B7CF6"/>
            </a:solidFill>
            <a:prstDash val="solid"/>
          </a:ln>
        </p:spPr>
      </p:sp>
      <p:sp>
        <p:nvSpPr>
          <p:cNvPr id="26" name="Text 24"/>
          <p:cNvSpPr txBox="1"/>
          <p:nvPr/>
        </p:nvSpPr>
        <p:spPr>
          <a:xfrm>
            <a:off x="4434840" y="3712464"/>
            <a:ext cx="4206240" cy="274320"/>
          </a:xfrm>
          <a:prstGeom prst="rect">
            <a:avLst/>
          </a:prstGeom>
          <a:noFill/>
          <a:ln/>
        </p:spPr>
        <p:txBody>
          <a:bodyPr wrap="square" lIns="0" tIns="0" rIns="0" bIns="0" rtlCol="0" anchor="ctr"/>
          <a:lstStyle/>
          <a:p>
            <a:pPr indent="0" marL="0">
              <a:buNone/>
            </a:pPr>
            <a:r>
              <a:rPr lang="en-US" sz="1200" dirty="0">
                <a:solidFill>
                  <a:srgbClr val="0B1320"/>
                </a:solidFill>
                <a:latin typeface="Arial" pitchFamily="34" charset="0"/>
                <a:ea typeface="Arial" pitchFamily="34" charset="-122"/>
                <a:cs typeface="Arial" pitchFamily="34" charset="-120"/>
              </a:rPr>
              <a:t>flags: sampled</a:t>
            </a:r>
            <a:endParaRPr lang="en-US" sz="1200" dirty="0"/>
          </a:p>
        </p:txBody>
      </p:sp>
      <p:sp>
        <p:nvSpPr>
          <p:cNvPr id="27" name="Text 25"/>
          <p:cNvSpPr txBox="1"/>
          <p:nvPr/>
        </p:nvSpPr>
        <p:spPr>
          <a:xfrm>
            <a:off x="4114800" y="4160520"/>
            <a:ext cx="4572000" cy="365760"/>
          </a:xfrm>
          <a:prstGeom prst="rect">
            <a:avLst/>
          </a:prstGeom>
          <a:noFill/>
          <a:ln/>
        </p:spPr>
        <p:txBody>
          <a:bodyPr wrap="square" lIns="0" tIns="0" rIns="0" bIns="0" rtlCol="0" anchor="t"/>
          <a:lstStyle/>
          <a:p>
            <a:pPr indent="0" marL="0">
              <a:buNone/>
            </a:pPr>
            <a:r>
              <a:rPr lang="en-US" sz="1200" i="1" dirty="0">
                <a:solidFill>
                  <a:srgbClr val="5B6577"/>
                </a:solidFill>
                <a:latin typeface="Arial" pitchFamily="34" charset="0"/>
                <a:ea typeface="Arial" pitchFamily="34" charset="-122"/>
                <a:cs typeface="Arial" pitchFamily="34" charset="-120"/>
              </a:rPr>
              <a:t>Every service that receives it continues the same trace.</a:t>
            </a:r>
            <a:endParaRPr lang="en-US" sz="1200" dirty="0"/>
          </a:p>
        </p:txBody>
      </p:sp>
      <p:sp>
        <p:nvSpPr>
          <p:cNvPr id="28" name="Text 26"/>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5B6577"/>
                </a:solidFill>
                <a:latin typeface="Arial" pitchFamily="34" charset="0"/>
                <a:ea typeface="Arial" pitchFamily="34" charset="-122"/>
                <a:cs typeface="Arial" pitchFamily="34" charset="-120"/>
              </a:rPr>
              <a:t>Stop guessing, start seeing  ·  Motacon 2026</a:t>
            </a:r>
            <a:endParaRPr lang="en-US" sz="800" dirty="0"/>
          </a:p>
        </p:txBody>
      </p:sp>
      <p:sp>
        <p:nvSpPr>
          <p:cNvPr id="29" name="Text 27"/>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00" dirty="0">
                <a:solidFill>
                  <a:srgbClr val="5B6577"/>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64592"/>
            <a:ext cx="8229600" cy="228600"/>
          </a:xfrm>
          <a:prstGeom prst="rect">
            <a:avLst/>
          </a:prstGeom>
          <a:noFill/>
          <a:ln/>
        </p:spPr>
        <p:txBody>
          <a:bodyPr wrap="square" lIns="0" tIns="0" rIns="0" bIns="0" rtlCol="0" anchor="t"/>
          <a:lstStyle/>
          <a:p>
            <a:pPr indent="0" marL="0">
              <a:buNone/>
            </a:pPr>
            <a:r>
              <a:rPr lang="en-US" sz="1000" b="1" spc="300" kern="0" dirty="0">
                <a:solidFill>
                  <a:srgbClr val="B7770A"/>
                </a:solidFill>
                <a:latin typeface="Arial" pitchFamily="34" charset="0"/>
                <a:ea typeface="Arial" pitchFamily="34" charset="-122"/>
                <a:cs typeface="Arial" pitchFamily="34" charset="-120"/>
              </a:rPr>
              <a:t>TRACE-BASED TESTING</a:t>
            </a:r>
            <a:endParaRPr lang="en-US" sz="1000" dirty="0"/>
          </a:p>
        </p:txBody>
      </p:sp>
      <p:sp>
        <p:nvSpPr>
          <p:cNvPr id="3" name="Text 1"/>
          <p:cNvSpPr txBox="1"/>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0B1320"/>
                </a:solidFill>
                <a:latin typeface="Arial" pitchFamily="34" charset="0"/>
                <a:ea typeface="Arial" pitchFamily="34" charset="-122"/>
                <a:cs typeface="Arial" pitchFamily="34" charset="-120"/>
              </a:rPr>
              <a:t>Assert on the journey, not just the screen</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108960"/>
                <a:gridCol w="5120640"/>
              </a:tblGrid>
              <a:tr h="457200">
                <a:tc>
                  <a:txBody>
                    <a:bodyPr/>
                    <a:lstStyle/>
                    <a:p>
                      <a:pPr indent="0" marL="0">
                        <a:buNone/>
                      </a:pPr>
                      <a:r>
                        <a:rPr lang="en-US" sz="1200" b="1" dirty="0">
                          <a:solidFill>
                            <a:srgbClr val="FFFFFF"/>
                          </a:solidFill>
                          <a:latin typeface="Arial" pitchFamily="34" charset="0"/>
                          <a:ea typeface="Arial" pitchFamily="34" charset="-122"/>
                          <a:cs typeface="Arial" pitchFamily="34" charset="-120"/>
                        </a:rPr>
                        <a:t>Classic E2E asks…</a:t>
                      </a:r>
                      <a:endParaRPr lang="en-US" sz="1200" dirty="0">
                        <a:latin typeface="Arial" charset="0"/>
                        <a:ea typeface="Arial" charset="0"/>
                        <a:cs typeface="Arial" charset="0"/>
                      </a:endParaRPr>
                    </a:p>
                  </a:txBody>
                  <a:tcPr marL="91440" marR="91440" marT="91440" marB="9144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0B132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Trace-based test also asks…</a:t>
                      </a:r>
                      <a:endParaRPr lang="en-US" sz="1200" dirty="0">
                        <a:latin typeface="Arial" charset="0"/>
                        <a:ea typeface="Arial" charset="0"/>
                        <a:cs typeface="Arial" charset="0"/>
                      </a:endParaRPr>
                    </a:p>
                  </a:txBody>
                  <a:tcPr marL="91440" marR="91440" marT="91440" marB="9144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0B1320"/>
                    </a:solidFill>
                  </a:tcPr>
                </a:tc>
              </a:tr>
              <a:tr h="457200">
                <a:tc>
                  <a:txBody>
                    <a:bodyPr/>
                    <a:lstStyle/>
                    <a:p>
                      <a:pPr indent="0" marL="0">
                        <a:buNone/>
                      </a:pPr>
                      <a:r>
                        <a:rPr lang="en-US" sz="1200" dirty="0">
                          <a:solidFill>
                            <a:srgbClr val="0B1320"/>
                          </a:solidFill>
                          <a:latin typeface="Arial" pitchFamily="34" charset="0"/>
                          <a:ea typeface="Arial" pitchFamily="34" charset="-122"/>
                          <a:cs typeface="Arial" pitchFamily="34" charset="-120"/>
                        </a:rPr>
                        <a:t>Did the row appear?</a:t>
                      </a:r>
                      <a:endParaRPr lang="en-US" sz="1200" dirty="0">
                        <a:latin typeface="Arial" charset="0"/>
                        <a:ea typeface="Arial" charset="0"/>
                        <a:cs typeface="Arial" charset="0"/>
                      </a:endParaRPr>
                    </a:p>
                  </a:txBody>
                  <a:tcPr marL="91440" marR="91440" marT="91440" marB="9144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indent="0" marL="0">
                        <a:buNone/>
                      </a:pPr>
                      <a:r>
                        <a:rPr lang="en-US" sz="1200" dirty="0">
                          <a:solidFill>
                            <a:srgbClr val="0B1320"/>
                          </a:solidFill>
                          <a:latin typeface="Arial" pitchFamily="34" charset="0"/>
                          <a:ea typeface="Arial" pitchFamily="34" charset="-122"/>
                          <a:cs typeface="Arial" pitchFamily="34" charset="-120"/>
                        </a:rPr>
                        <a:t>Did POST /api/tasks reach create_task, exactly once?</a:t>
                      </a:r>
                      <a:endParaRPr lang="en-US" sz="1200" dirty="0">
                        <a:latin typeface="Arial" charset="0"/>
                        <a:ea typeface="Arial" charset="0"/>
                        <a:cs typeface="Arial" charset="0"/>
                      </a:endParaRPr>
                    </a:p>
                  </a:txBody>
                  <a:tcPr marL="91440" marR="91440" marT="91440" marB="9144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B1320"/>
                          </a:solidFill>
                          <a:latin typeface="Arial" pitchFamily="34" charset="0"/>
                          <a:ea typeface="Arial" pitchFamily="34" charset="-122"/>
                          <a:cs typeface="Arial" pitchFamily="34" charset="-120"/>
                        </a:rPr>
                        <a:t>Is the button disabled?</a:t>
                      </a:r>
                      <a:endParaRPr lang="en-US" sz="1200" dirty="0">
                        <a:latin typeface="Arial" charset="0"/>
                        <a:ea typeface="Arial" charset="0"/>
                        <a:cs typeface="Arial" charset="0"/>
                      </a:endParaRPr>
                    </a:p>
                  </a:txBody>
                  <a:tcPr marL="91440" marR="91440" marT="91440" marB="9144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indent="0" marL="0">
                        <a:buNone/>
                      </a:pPr>
                      <a:r>
                        <a:rPr lang="en-US" sz="1200" dirty="0">
                          <a:solidFill>
                            <a:srgbClr val="0B1320"/>
                          </a:solidFill>
                          <a:latin typeface="Arial" pitchFamily="34" charset="0"/>
                          <a:ea typeface="Arial" pitchFamily="34" charset="-122"/>
                          <a:cs typeface="Arial" pitchFamily="34" charset="-120"/>
                        </a:rPr>
                        <a:t>Was every span status OK, with no hidden 500s behind a retry?</a:t>
                      </a:r>
                      <a:endParaRPr lang="en-US" sz="1200" dirty="0">
                        <a:latin typeface="Arial" charset="0"/>
                        <a:ea typeface="Arial" charset="0"/>
                        <a:cs typeface="Arial" charset="0"/>
                      </a:endParaRPr>
                    </a:p>
                  </a:txBody>
                  <a:tcPr marL="91440" marR="91440" marT="91440" marB="9144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B1320"/>
                          </a:solidFill>
                          <a:latin typeface="Arial" pitchFamily="34" charset="0"/>
                          <a:ea typeface="Arial" pitchFamily="34" charset="-122"/>
                          <a:cs typeface="Arial" pitchFamily="34" charset="-120"/>
                        </a:rPr>
                        <a:t>Did it load in 10 s?</a:t>
                      </a:r>
                      <a:endParaRPr lang="en-US" sz="1200" dirty="0">
                        <a:latin typeface="Arial" charset="0"/>
                        <a:ea typeface="Arial" charset="0"/>
                        <a:cs typeface="Arial" charset="0"/>
                      </a:endParaRPr>
                    </a:p>
                  </a:txBody>
                  <a:tcPr marL="91440" marR="91440" marT="91440" marB="9144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indent="0" marL="0">
                        <a:buNone/>
                      </a:pPr>
                      <a:r>
                        <a:rPr lang="en-US" sz="1200" dirty="0">
                          <a:solidFill>
                            <a:srgbClr val="0B1320"/>
                          </a:solidFill>
                          <a:latin typeface="Arial" pitchFamily="34" charset="0"/>
                          <a:ea typeface="Arial" pitchFamily="34" charset="-122"/>
                          <a:cs typeface="Arial" pitchFamily="34" charset="-120"/>
                        </a:rPr>
                        <a:t>Did the backend span stay under its latency budget?</a:t>
                      </a:r>
                      <a:endParaRPr lang="en-US" sz="1200" dirty="0">
                        <a:latin typeface="Arial" charset="0"/>
                        <a:ea typeface="Arial" charset="0"/>
                        <a:cs typeface="Arial" charset="0"/>
                      </a:endParaRPr>
                    </a:p>
                  </a:txBody>
                  <a:tcPr marL="91440" marR="91440" marT="91440" marB="9144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B1320"/>
                          </a:solidFill>
                          <a:latin typeface="Arial" pitchFamily="34" charset="0"/>
                          <a:ea typeface="Arial" pitchFamily="34" charset="-122"/>
                          <a:cs typeface="Arial" pitchFamily="34" charset="-120"/>
                        </a:rPr>
                        <a:t>Is the text right?</a:t>
                      </a:r>
                      <a:endParaRPr lang="en-US" sz="1200" dirty="0">
                        <a:latin typeface="Arial" charset="0"/>
                        <a:ea typeface="Arial" charset="0"/>
                        <a:cs typeface="Arial" charset="0"/>
                      </a:endParaRPr>
                    </a:p>
                  </a:txBody>
                  <a:tcPr marL="91440" marR="91440" marT="91440" marB="9144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indent="0" marL="0">
                        <a:buNone/>
                      </a:pPr>
                      <a:r>
                        <a:rPr lang="en-US" sz="1200" dirty="0">
                          <a:solidFill>
                            <a:srgbClr val="0B1320"/>
                          </a:solidFill>
                          <a:latin typeface="Arial" pitchFamily="34" charset="0"/>
                          <a:ea typeface="Arial" pitchFamily="34" charset="-122"/>
                          <a:cs typeface="Arial" pitchFamily="34" charset="-120"/>
                        </a:rPr>
                        <a:t>Is task.id on the span the id the UI shows?</a:t>
                      </a:r>
                      <a:endParaRPr lang="en-US" sz="1200" dirty="0">
                        <a:latin typeface="Arial" charset="0"/>
                        <a:ea typeface="Arial" charset="0"/>
                        <a:cs typeface="Arial" charset="0"/>
                      </a:endParaRPr>
                    </a:p>
                  </a:txBody>
                  <a:tcPr marL="91440" marR="91440" marT="91440" marB="9144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023360"/>
            <a:ext cx="8229600" cy="457200"/>
          </a:xfrm>
          <a:prstGeom prst="rect">
            <a:avLst/>
          </a:prstGeom>
          <a:noFill/>
          <a:ln/>
        </p:spPr>
        <p:txBody>
          <a:bodyPr wrap="square" lIns="0" tIns="0" rIns="0" bIns="0" rtlCol="0" anchor="t"/>
          <a:lstStyle/>
          <a:p>
            <a:pPr indent="0" marL="0">
              <a:buNone/>
            </a:pPr>
            <a:r>
              <a:rPr lang="en-US" sz="1400" b="1" dirty="0">
                <a:solidFill>
                  <a:srgbClr val="0B1320"/>
                </a:solidFill>
                <a:latin typeface="Arial" pitchFamily="34" charset="0"/>
                <a:ea typeface="Arial" pitchFamily="34" charset="-122"/>
                <a:cs typeface="Arial" pitchFamily="34" charset="-120"/>
              </a:rPr>
              <a:t>The UI can look perfect while the system underneath is on fire. The trace can't hide it.</a:t>
            </a:r>
            <a:endParaRPr lang="en-US" sz="1400" dirty="0"/>
          </a:p>
        </p:txBody>
      </p:sp>
      <p:sp>
        <p:nvSpPr>
          <p:cNvPr id="6" name="Text 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5B6577"/>
                </a:solidFill>
                <a:latin typeface="Arial" pitchFamily="34" charset="0"/>
                <a:ea typeface="Arial" pitchFamily="34" charset="-122"/>
                <a:cs typeface="Arial" pitchFamily="34" charset="-120"/>
              </a:rPr>
              <a:t>Stop guessing, start seeing  ·  Motacon 2026</a:t>
            </a:r>
            <a:endParaRPr lang="en-US" sz="800" dirty="0"/>
          </a:p>
        </p:txBody>
      </p:sp>
      <p:sp>
        <p:nvSpPr>
          <p:cNvPr id="7" name="Text 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00" dirty="0">
                <a:solidFill>
                  <a:srgbClr val="5B6577"/>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320"/>
        </a:solidFill>
      </p:bgPr>
    </p:bg>
    <p:spTree>
      <p:nvGrpSpPr>
        <p:cNvPr id="1" name=""/>
        <p:cNvGrpSpPr/>
        <p:nvPr/>
      </p:nvGrpSpPr>
      <p:grpSpPr>
        <a:xfrm>
          <a:off x="0" y="0"/>
          <a:ext cx="0" cy="0"/>
          <a:chOff x="0" y="0"/>
          <a:chExt cx="0" cy="0"/>
        </a:xfrm>
      </p:grpSpPr>
      <p:sp>
        <p:nvSpPr>
          <p:cNvPr id="2" name="Shape 0"/>
          <p:cNvSpPr/>
          <p:nvPr/>
        </p:nvSpPr>
        <p:spPr>
          <a:xfrm>
            <a:off x="548640" y="1371600"/>
            <a:ext cx="1152144" cy="115214"/>
          </a:xfrm>
          <a:prstGeom prst="roundRect">
            <a:avLst>
              <a:gd name="adj" fmla="val 47619"/>
            </a:avLst>
          </a:prstGeom>
          <a:solidFill>
            <a:srgbClr val="F5A524"/>
          </a:solidFill>
          <a:ln w="12700">
            <a:solidFill>
              <a:srgbClr val="F5A524"/>
            </a:solidFill>
            <a:prstDash val="solid"/>
          </a:ln>
        </p:spPr>
      </p:sp>
      <p:sp>
        <p:nvSpPr>
          <p:cNvPr id="3" name="Shape 1"/>
          <p:cNvSpPr/>
          <p:nvPr/>
        </p:nvSpPr>
        <p:spPr>
          <a:xfrm>
            <a:off x="740664" y="1576426"/>
            <a:ext cx="768096" cy="115214"/>
          </a:xfrm>
          <a:prstGeom prst="roundRect">
            <a:avLst>
              <a:gd name="adj" fmla="val 47619"/>
            </a:avLst>
          </a:prstGeom>
          <a:solidFill>
            <a:srgbClr val="8B7CF6"/>
          </a:solidFill>
          <a:ln w="12700">
            <a:solidFill>
              <a:srgbClr val="8B7CF6"/>
            </a:solidFill>
            <a:prstDash val="solid"/>
          </a:ln>
        </p:spPr>
      </p:sp>
      <p:sp>
        <p:nvSpPr>
          <p:cNvPr id="4" name="Shape 2"/>
          <p:cNvSpPr/>
          <p:nvPr/>
        </p:nvSpPr>
        <p:spPr>
          <a:xfrm>
            <a:off x="932688" y="1781251"/>
            <a:ext cx="512064" cy="115214"/>
          </a:xfrm>
          <a:prstGeom prst="roundRect">
            <a:avLst>
              <a:gd name="adj" fmla="val 47619"/>
            </a:avLst>
          </a:prstGeom>
          <a:solidFill>
            <a:srgbClr val="1FB5A8"/>
          </a:solidFill>
          <a:ln w="12700">
            <a:solidFill>
              <a:srgbClr val="1FB5A8"/>
            </a:solidFill>
            <a:prstDash val="solid"/>
          </a:ln>
        </p:spPr>
      </p:sp>
      <p:sp>
        <p:nvSpPr>
          <p:cNvPr id="5" name="Text 3"/>
          <p:cNvSpPr txBox="1"/>
          <p:nvPr/>
        </p:nvSpPr>
        <p:spPr>
          <a:xfrm>
            <a:off x="548640" y="2148840"/>
            <a:ext cx="7315200" cy="274320"/>
          </a:xfrm>
          <a:prstGeom prst="rect">
            <a:avLst/>
          </a:prstGeom>
          <a:noFill/>
          <a:ln/>
        </p:spPr>
        <p:txBody>
          <a:bodyPr wrap="square" lIns="0" tIns="0" rIns="0" bIns="0" rtlCol="0" anchor="t"/>
          <a:lstStyle/>
          <a:p>
            <a:pPr indent="0" marL="0">
              <a:buNone/>
            </a:pPr>
            <a:r>
              <a:rPr lang="en-US" sz="1200" b="1" spc="400" kern="0" dirty="0">
                <a:solidFill>
                  <a:srgbClr val="F5A524"/>
                </a:solidFill>
                <a:latin typeface="Arial" pitchFamily="34" charset="0"/>
                <a:ea typeface="Arial" pitchFamily="34" charset="-122"/>
                <a:cs typeface="Arial" pitchFamily="34" charset="-120"/>
              </a:rPr>
              <a:t>PART 2</a:t>
            </a:r>
            <a:endParaRPr lang="en-US" sz="1200" dirty="0"/>
          </a:p>
        </p:txBody>
      </p:sp>
      <p:sp>
        <p:nvSpPr>
          <p:cNvPr id="6" name="Text 4"/>
          <p:cNvSpPr txBox="1"/>
          <p:nvPr/>
        </p:nvSpPr>
        <p:spPr>
          <a:xfrm>
            <a:off x="548640" y="2468880"/>
            <a:ext cx="7863840" cy="82296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One click, one trace</a:t>
            </a:r>
            <a:endParaRPr lang="en-US" sz="3800" dirty="0"/>
          </a:p>
        </p:txBody>
      </p:sp>
      <p:sp>
        <p:nvSpPr>
          <p:cNvPr id="7" name="Text 5"/>
          <p:cNvSpPr txBox="1"/>
          <p:nvPr/>
        </p:nvSpPr>
        <p:spPr>
          <a:xfrm>
            <a:off x="548640" y="3291840"/>
            <a:ext cx="7315200" cy="548640"/>
          </a:xfrm>
          <a:prstGeom prst="rect">
            <a:avLst/>
          </a:prstGeom>
          <a:noFill/>
          <a:ln/>
        </p:spPr>
        <p:txBody>
          <a:bodyPr wrap="square" lIns="0" tIns="0" rIns="0" bIns="0" rtlCol="0" anchor="t"/>
          <a:lstStyle/>
          <a:p>
            <a:pPr indent="0" marL="0">
              <a:buNone/>
            </a:pPr>
            <a:r>
              <a:rPr lang="en-US" sz="1600" dirty="0">
                <a:solidFill>
                  <a:srgbClr val="9AA4B5"/>
                </a:solidFill>
                <a:latin typeface="Arial" pitchFamily="34" charset="0"/>
                <a:ea typeface="Arial" pitchFamily="34" charset="-122"/>
                <a:cs typeface="Arial" pitchFamily="34" charset="-120"/>
              </a:rPr>
              <a:t>Selenium → BiDi → Chrome → Flask → Jaeger</a:t>
            </a:r>
            <a:endParaRPr lang="en-US" sz="1600" dirty="0"/>
          </a:p>
        </p:txBody>
      </p:sp>
      <p:sp>
        <p:nvSpPr>
          <p:cNvPr id="8" name="Text 6"/>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9AA4B5"/>
                </a:solidFill>
                <a:latin typeface="Arial" pitchFamily="34" charset="0"/>
                <a:ea typeface="Arial" pitchFamily="34" charset="-122"/>
                <a:cs typeface="Arial" pitchFamily="34" charset="-120"/>
              </a:rPr>
              <a:t>Stop guessing, start seeing  ·  Motacon 2026</a:t>
            </a:r>
            <a:endParaRPr lang="en-US" sz="800" dirty="0"/>
          </a:p>
        </p:txBody>
      </p:sp>
      <p:sp>
        <p:nvSpPr>
          <p:cNvPr id="9" name="Text 7"/>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00" dirty="0">
                <a:solidFill>
                  <a:srgbClr val="9AA4B5"/>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64592"/>
            <a:ext cx="8229600" cy="228600"/>
          </a:xfrm>
          <a:prstGeom prst="rect">
            <a:avLst/>
          </a:prstGeom>
          <a:noFill/>
          <a:ln/>
        </p:spPr>
        <p:txBody>
          <a:bodyPr wrap="square" lIns="0" tIns="0" rIns="0" bIns="0" rtlCol="0" anchor="t"/>
          <a:lstStyle/>
          <a:p>
            <a:pPr indent="0" marL="0">
              <a:buNone/>
            </a:pPr>
            <a:r>
              <a:rPr lang="en-US" sz="1000" b="1" spc="300" kern="0" dirty="0">
                <a:solidFill>
                  <a:srgbClr val="B7770A"/>
                </a:solidFill>
                <a:latin typeface="Arial" pitchFamily="34" charset="0"/>
                <a:ea typeface="Arial" pitchFamily="34" charset="-122"/>
                <a:cs typeface="Arial" pitchFamily="34" charset="-120"/>
              </a:rPr>
              <a:t>THE DEMO</a:t>
            </a:r>
            <a:endParaRPr lang="en-US" sz="1000" dirty="0"/>
          </a:p>
        </p:txBody>
      </p:sp>
      <p:sp>
        <p:nvSpPr>
          <p:cNvPr id="3" name="Text 1"/>
          <p:cNvSpPr txBox="1"/>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0B1320"/>
                </a:solidFill>
                <a:latin typeface="Arial" pitchFamily="34" charset="0"/>
                <a:ea typeface="Arial" pitchFamily="34" charset="-122"/>
                <a:cs typeface="Arial" pitchFamily="34" charset="-120"/>
              </a:rPr>
              <a:t>Making the test the root of the trace</a:t>
            </a:r>
            <a:endParaRPr lang="en-US" sz="3000" dirty="0"/>
          </a:p>
        </p:txBody>
      </p:sp>
      <p:sp>
        <p:nvSpPr>
          <p:cNvPr id="4" name="Shape 2"/>
          <p:cNvSpPr/>
          <p:nvPr/>
        </p:nvSpPr>
        <p:spPr>
          <a:xfrm>
            <a:off x="457200" y="1417320"/>
            <a:ext cx="2468880" cy="1371600"/>
          </a:xfrm>
          <a:prstGeom prst="roundRect">
            <a:avLst>
              <a:gd name="adj" fmla="val 5333"/>
            </a:avLst>
          </a:prstGeom>
          <a:solidFill>
            <a:srgbClr val="F1F4F8"/>
          </a:solidFill>
          <a:ln w="12700">
            <a:solidFill>
              <a:srgbClr val="F1F4F8"/>
            </a:solidFill>
            <a:prstDash val="solid"/>
          </a:ln>
        </p:spPr>
      </p:sp>
      <p:sp>
        <p:nvSpPr>
          <p:cNvPr id="5" name="Shape 3"/>
          <p:cNvSpPr/>
          <p:nvPr/>
        </p:nvSpPr>
        <p:spPr>
          <a:xfrm>
            <a:off x="640080" y="1600200"/>
            <a:ext cx="274320" cy="274320"/>
          </a:xfrm>
          <a:prstGeom prst="ellipse">
            <a:avLst/>
          </a:prstGeom>
          <a:solidFill>
            <a:srgbClr val="F5A524"/>
          </a:solidFill>
          <a:ln w="12700">
            <a:solidFill>
              <a:srgbClr val="F5A524"/>
            </a:solidFill>
            <a:prstDash val="solid"/>
          </a:ln>
        </p:spPr>
      </p:sp>
      <p:sp>
        <p:nvSpPr>
          <p:cNvPr id="6" name="Text 4"/>
          <p:cNvSpPr txBox="1"/>
          <p:nvPr/>
        </p:nvSpPr>
        <p:spPr>
          <a:xfrm>
            <a:off x="1024128" y="1572768"/>
            <a:ext cx="1828800" cy="329184"/>
          </a:xfrm>
          <a:prstGeom prst="rect">
            <a:avLst/>
          </a:prstGeom>
          <a:noFill/>
          <a:ln/>
        </p:spPr>
        <p:txBody>
          <a:bodyPr wrap="square" lIns="0" tIns="0" rIns="0" bIns="0" rtlCol="0" anchor="ctr"/>
          <a:lstStyle/>
          <a:p>
            <a:pPr indent="0" marL="0">
              <a:buNone/>
            </a:pPr>
            <a:r>
              <a:rPr lang="en-US" sz="1500" b="1" dirty="0">
                <a:solidFill>
                  <a:srgbClr val="0B1320"/>
                </a:solidFill>
                <a:latin typeface="Arial" pitchFamily="34" charset="0"/>
                <a:ea typeface="Arial" pitchFamily="34" charset="-122"/>
                <a:cs typeface="Arial" pitchFamily="34" charset="-120"/>
              </a:rPr>
              <a:t>Selenium test</a:t>
            </a:r>
            <a:endParaRPr lang="en-US" sz="1500" dirty="0"/>
          </a:p>
        </p:txBody>
      </p:sp>
      <p:sp>
        <p:nvSpPr>
          <p:cNvPr id="7" name="Text 5"/>
          <p:cNvSpPr txBox="1"/>
          <p:nvPr/>
        </p:nvSpPr>
        <p:spPr>
          <a:xfrm>
            <a:off x="640080" y="2011680"/>
            <a:ext cx="2148840" cy="457200"/>
          </a:xfrm>
          <a:prstGeom prst="rect">
            <a:avLst/>
          </a:prstGeom>
          <a:noFill/>
          <a:ln/>
        </p:spPr>
        <p:txBody>
          <a:bodyPr wrap="square" lIns="0" tIns="0" rIns="0" bIns="0" rtlCol="0" anchor="t"/>
          <a:lstStyle/>
          <a:p>
            <a:pPr indent="0" marL="0">
              <a:buNone/>
            </a:pPr>
            <a:r>
              <a:rPr lang="en-US" sz="1200" dirty="0">
                <a:solidFill>
                  <a:srgbClr val="5B6577"/>
                </a:solidFill>
                <a:latin typeface="Arial" pitchFamily="34" charset="0"/>
                <a:ea typeface="Arial" pitchFamily="34" charset="-122"/>
                <a:cs typeface="Arial" pitchFamily="34" charset="-120"/>
              </a:rPr>
              <a:t>root span per user action</a:t>
            </a:r>
            <a:endParaRPr lang="en-US" sz="1200" dirty="0"/>
          </a:p>
        </p:txBody>
      </p:sp>
      <p:sp>
        <p:nvSpPr>
          <p:cNvPr id="8" name="Text 6"/>
          <p:cNvSpPr txBox="1"/>
          <p:nvPr/>
        </p:nvSpPr>
        <p:spPr>
          <a:xfrm>
            <a:off x="640080" y="2468880"/>
            <a:ext cx="2148840" cy="228600"/>
          </a:xfrm>
          <a:prstGeom prst="rect">
            <a:avLst/>
          </a:prstGeom>
          <a:noFill/>
          <a:ln/>
        </p:spPr>
        <p:txBody>
          <a:bodyPr wrap="square" lIns="0" tIns="0" rIns="0" bIns="0" rtlCol="0" anchor="t"/>
          <a:lstStyle/>
          <a:p>
            <a:pPr indent="0" marL="0">
              <a:buNone/>
            </a:pPr>
            <a:r>
              <a:rPr lang="en-US" sz="950" dirty="0">
                <a:solidFill>
                  <a:srgbClr val="5B6577"/>
                </a:solidFill>
                <a:latin typeface="Courier New" pitchFamily="34" charset="0"/>
                <a:ea typeface="Courier New" pitchFamily="34" charset="-122"/>
                <a:cs typeface="Courier New" pitchFamily="34" charset="-120"/>
              </a:rPr>
              <a:t>selenium-tests</a:t>
            </a:r>
            <a:endParaRPr lang="en-US" sz="950" dirty="0"/>
          </a:p>
        </p:txBody>
      </p:sp>
      <p:sp>
        <p:nvSpPr>
          <p:cNvPr id="9" name="Shape 7"/>
          <p:cNvSpPr/>
          <p:nvPr/>
        </p:nvSpPr>
        <p:spPr>
          <a:xfrm>
            <a:off x="2944368" y="2103120"/>
            <a:ext cx="329184" cy="0"/>
          </a:xfrm>
          <a:prstGeom prst="line">
            <a:avLst/>
          </a:prstGeom>
          <a:noFill/>
          <a:ln w="19050">
            <a:solidFill>
              <a:srgbClr val="0B1320"/>
            </a:solidFill>
            <a:prstDash val="solid"/>
            <a:tailEnd type="triangle"/>
          </a:ln>
        </p:spPr>
      </p:sp>
      <p:sp>
        <p:nvSpPr>
          <p:cNvPr id="10" name="Shape 8"/>
          <p:cNvSpPr/>
          <p:nvPr/>
        </p:nvSpPr>
        <p:spPr>
          <a:xfrm>
            <a:off x="3291840" y="1417320"/>
            <a:ext cx="2468880" cy="1371600"/>
          </a:xfrm>
          <a:prstGeom prst="roundRect">
            <a:avLst>
              <a:gd name="adj" fmla="val 5333"/>
            </a:avLst>
          </a:prstGeom>
          <a:solidFill>
            <a:srgbClr val="F1F4F8"/>
          </a:solidFill>
          <a:ln w="12700">
            <a:solidFill>
              <a:srgbClr val="F1F4F8"/>
            </a:solidFill>
            <a:prstDash val="solid"/>
          </a:ln>
        </p:spPr>
      </p:sp>
      <p:sp>
        <p:nvSpPr>
          <p:cNvPr id="11" name="Shape 9"/>
          <p:cNvSpPr/>
          <p:nvPr/>
        </p:nvSpPr>
        <p:spPr>
          <a:xfrm>
            <a:off x="3474720" y="1600200"/>
            <a:ext cx="274320" cy="274320"/>
          </a:xfrm>
          <a:prstGeom prst="ellipse">
            <a:avLst/>
          </a:prstGeom>
          <a:solidFill>
            <a:srgbClr val="8B7CF6"/>
          </a:solidFill>
          <a:ln w="12700">
            <a:solidFill>
              <a:srgbClr val="8B7CF6"/>
            </a:solidFill>
            <a:prstDash val="solid"/>
          </a:ln>
        </p:spPr>
      </p:sp>
      <p:sp>
        <p:nvSpPr>
          <p:cNvPr id="12" name="Text 10"/>
          <p:cNvSpPr txBox="1"/>
          <p:nvPr/>
        </p:nvSpPr>
        <p:spPr>
          <a:xfrm>
            <a:off x="3858768" y="1572768"/>
            <a:ext cx="1828800" cy="329184"/>
          </a:xfrm>
          <a:prstGeom prst="rect">
            <a:avLst/>
          </a:prstGeom>
          <a:noFill/>
          <a:ln/>
        </p:spPr>
        <p:txBody>
          <a:bodyPr wrap="square" lIns="0" tIns="0" rIns="0" bIns="0" rtlCol="0" anchor="ctr"/>
          <a:lstStyle/>
          <a:p>
            <a:pPr indent="0" marL="0">
              <a:buNone/>
            </a:pPr>
            <a:r>
              <a:rPr lang="en-US" sz="1500" b="1" dirty="0">
                <a:solidFill>
                  <a:srgbClr val="0B1320"/>
                </a:solidFill>
                <a:latin typeface="Arial" pitchFamily="34" charset="0"/>
                <a:ea typeface="Arial" pitchFamily="34" charset="-122"/>
                <a:cs typeface="Arial" pitchFamily="34" charset="-120"/>
              </a:rPr>
              <a:t>Chrome</a:t>
            </a:r>
            <a:endParaRPr lang="en-US" sz="1500" dirty="0"/>
          </a:p>
        </p:txBody>
      </p:sp>
      <p:sp>
        <p:nvSpPr>
          <p:cNvPr id="13" name="Text 11"/>
          <p:cNvSpPr txBox="1"/>
          <p:nvPr/>
        </p:nvSpPr>
        <p:spPr>
          <a:xfrm>
            <a:off x="3474720" y="2011680"/>
            <a:ext cx="2148840" cy="457200"/>
          </a:xfrm>
          <a:prstGeom prst="rect">
            <a:avLst/>
          </a:prstGeom>
          <a:noFill/>
          <a:ln/>
        </p:spPr>
        <p:txBody>
          <a:bodyPr wrap="square" lIns="0" tIns="0" rIns="0" bIns="0" rtlCol="0" anchor="t"/>
          <a:lstStyle/>
          <a:p>
            <a:pPr indent="0" marL="0">
              <a:buNone/>
            </a:pPr>
            <a:r>
              <a:rPr lang="en-US" sz="1200" dirty="0">
                <a:solidFill>
                  <a:srgbClr val="5B6577"/>
                </a:solidFill>
                <a:latin typeface="Arial" pitchFamily="34" charset="0"/>
                <a:ea typeface="Arial" pitchFamily="34" charset="-122"/>
                <a:cs typeface="Arial" pitchFamily="34" charset="-120"/>
              </a:rPr>
              <a:t>BiDi adds traceparent to every request</a:t>
            </a:r>
            <a:endParaRPr lang="en-US" sz="1200" dirty="0"/>
          </a:p>
        </p:txBody>
      </p:sp>
      <p:sp>
        <p:nvSpPr>
          <p:cNvPr id="14" name="Text 12"/>
          <p:cNvSpPr txBox="1"/>
          <p:nvPr/>
        </p:nvSpPr>
        <p:spPr>
          <a:xfrm>
            <a:off x="3474720" y="2468880"/>
            <a:ext cx="2148840" cy="228600"/>
          </a:xfrm>
          <a:prstGeom prst="rect">
            <a:avLst/>
          </a:prstGeom>
          <a:noFill/>
          <a:ln/>
        </p:spPr>
        <p:txBody>
          <a:bodyPr wrap="square" lIns="0" tIns="0" rIns="0" bIns="0" rtlCol="0" anchor="t"/>
          <a:lstStyle/>
          <a:p>
            <a:pPr indent="0" marL="0">
              <a:buNone/>
            </a:pPr>
            <a:r>
              <a:rPr lang="en-US" sz="950" dirty="0">
                <a:solidFill>
                  <a:srgbClr val="5B6577"/>
                </a:solidFill>
                <a:latin typeface="Courier New" pitchFamily="34" charset="0"/>
                <a:ea typeface="Courier New" pitchFamily="34" charset="-122"/>
                <a:cs typeface="Courier New" pitchFamily="34" charset="-120"/>
              </a:rPr>
              <a:t>network.beforeRequestSent</a:t>
            </a:r>
            <a:endParaRPr lang="en-US" sz="950" dirty="0"/>
          </a:p>
        </p:txBody>
      </p:sp>
      <p:sp>
        <p:nvSpPr>
          <p:cNvPr id="15" name="Shape 13"/>
          <p:cNvSpPr/>
          <p:nvPr/>
        </p:nvSpPr>
        <p:spPr>
          <a:xfrm>
            <a:off x="5779008" y="2103120"/>
            <a:ext cx="329184" cy="0"/>
          </a:xfrm>
          <a:prstGeom prst="line">
            <a:avLst/>
          </a:prstGeom>
          <a:noFill/>
          <a:ln w="19050">
            <a:solidFill>
              <a:srgbClr val="0B1320"/>
            </a:solidFill>
            <a:prstDash val="solid"/>
            <a:tailEnd type="triangle"/>
          </a:ln>
        </p:spPr>
      </p:sp>
      <p:sp>
        <p:nvSpPr>
          <p:cNvPr id="16" name="Shape 14"/>
          <p:cNvSpPr/>
          <p:nvPr/>
        </p:nvSpPr>
        <p:spPr>
          <a:xfrm>
            <a:off x="6126480" y="1417320"/>
            <a:ext cx="2468880" cy="1371600"/>
          </a:xfrm>
          <a:prstGeom prst="roundRect">
            <a:avLst>
              <a:gd name="adj" fmla="val 5333"/>
            </a:avLst>
          </a:prstGeom>
          <a:solidFill>
            <a:srgbClr val="F1F4F8"/>
          </a:solidFill>
          <a:ln w="12700">
            <a:solidFill>
              <a:srgbClr val="F1F4F8"/>
            </a:solidFill>
            <a:prstDash val="solid"/>
          </a:ln>
        </p:spPr>
      </p:sp>
      <p:sp>
        <p:nvSpPr>
          <p:cNvPr id="17" name="Shape 15"/>
          <p:cNvSpPr/>
          <p:nvPr/>
        </p:nvSpPr>
        <p:spPr>
          <a:xfrm>
            <a:off x="6309360" y="1600200"/>
            <a:ext cx="274320" cy="274320"/>
          </a:xfrm>
          <a:prstGeom prst="ellipse">
            <a:avLst/>
          </a:prstGeom>
          <a:solidFill>
            <a:srgbClr val="1FB5A8"/>
          </a:solidFill>
          <a:ln w="12700">
            <a:solidFill>
              <a:srgbClr val="1FB5A8"/>
            </a:solidFill>
            <a:prstDash val="solid"/>
          </a:ln>
        </p:spPr>
      </p:sp>
      <p:sp>
        <p:nvSpPr>
          <p:cNvPr id="18" name="Text 16"/>
          <p:cNvSpPr txBox="1"/>
          <p:nvPr/>
        </p:nvSpPr>
        <p:spPr>
          <a:xfrm>
            <a:off x="6693408" y="1572768"/>
            <a:ext cx="1828800" cy="329184"/>
          </a:xfrm>
          <a:prstGeom prst="rect">
            <a:avLst/>
          </a:prstGeom>
          <a:noFill/>
          <a:ln/>
        </p:spPr>
        <p:txBody>
          <a:bodyPr wrap="square" lIns="0" tIns="0" rIns="0" bIns="0" rtlCol="0" anchor="ctr"/>
          <a:lstStyle/>
          <a:p>
            <a:pPr indent="0" marL="0">
              <a:buNone/>
            </a:pPr>
            <a:r>
              <a:rPr lang="en-US" sz="1500" b="1" dirty="0">
                <a:solidFill>
                  <a:srgbClr val="0B1320"/>
                </a:solidFill>
                <a:latin typeface="Arial" pitchFamily="34" charset="0"/>
                <a:ea typeface="Arial" pitchFamily="34" charset="-122"/>
                <a:cs typeface="Arial" pitchFamily="34" charset="-120"/>
              </a:rPr>
              <a:t>Flask app</a:t>
            </a:r>
            <a:endParaRPr lang="en-US" sz="1500" dirty="0"/>
          </a:p>
        </p:txBody>
      </p:sp>
      <p:sp>
        <p:nvSpPr>
          <p:cNvPr id="19" name="Text 17"/>
          <p:cNvSpPr txBox="1"/>
          <p:nvPr/>
        </p:nvSpPr>
        <p:spPr>
          <a:xfrm>
            <a:off x="6309360" y="2011680"/>
            <a:ext cx="2148840" cy="457200"/>
          </a:xfrm>
          <a:prstGeom prst="rect">
            <a:avLst/>
          </a:prstGeom>
          <a:noFill/>
          <a:ln/>
        </p:spPr>
        <p:txBody>
          <a:bodyPr wrap="square" lIns="0" tIns="0" rIns="0" bIns="0" rtlCol="0" anchor="t"/>
          <a:lstStyle/>
          <a:p>
            <a:pPr indent="0" marL="0">
              <a:buNone/>
            </a:pPr>
            <a:r>
              <a:rPr lang="en-US" sz="1200" dirty="0">
                <a:solidFill>
                  <a:srgbClr val="5B6577"/>
                </a:solidFill>
                <a:latin typeface="Arial" pitchFamily="34" charset="0"/>
                <a:ea typeface="Arial" pitchFamily="34" charset="-122"/>
                <a:cs typeface="Arial" pitchFamily="34" charset="-120"/>
              </a:rPr>
              <a:t>auto + manual OTel spans</a:t>
            </a:r>
            <a:endParaRPr lang="en-US" sz="1200" dirty="0"/>
          </a:p>
        </p:txBody>
      </p:sp>
      <p:sp>
        <p:nvSpPr>
          <p:cNvPr id="20" name="Text 18"/>
          <p:cNvSpPr txBox="1"/>
          <p:nvPr/>
        </p:nvSpPr>
        <p:spPr>
          <a:xfrm>
            <a:off x="6309360" y="2468880"/>
            <a:ext cx="2148840" cy="228600"/>
          </a:xfrm>
          <a:prstGeom prst="rect">
            <a:avLst/>
          </a:prstGeom>
          <a:noFill/>
          <a:ln/>
        </p:spPr>
        <p:txBody>
          <a:bodyPr wrap="square" lIns="0" tIns="0" rIns="0" bIns="0" rtlCol="0" anchor="t"/>
          <a:lstStyle/>
          <a:p>
            <a:pPr indent="0" marL="0">
              <a:buNone/>
            </a:pPr>
            <a:r>
              <a:rPr lang="en-US" sz="950" dirty="0">
                <a:solidFill>
                  <a:srgbClr val="5B6577"/>
                </a:solidFill>
                <a:latin typeface="Courier New" pitchFamily="34" charset="0"/>
                <a:ea typeface="Courier New" pitchFamily="34" charset="-122"/>
                <a:cs typeface="Courier New" pitchFamily="34" charset="-120"/>
              </a:rPr>
              <a:t>todo-app</a:t>
            </a:r>
            <a:endParaRPr lang="en-US" sz="950" dirty="0"/>
          </a:p>
        </p:txBody>
      </p:sp>
      <p:sp>
        <p:nvSpPr>
          <p:cNvPr id="21" name="Shape 19"/>
          <p:cNvSpPr/>
          <p:nvPr/>
        </p:nvSpPr>
        <p:spPr>
          <a:xfrm>
            <a:off x="457200" y="3246120"/>
            <a:ext cx="8138160" cy="868680"/>
          </a:xfrm>
          <a:prstGeom prst="roundRect">
            <a:avLst>
              <a:gd name="adj" fmla="val 8421"/>
            </a:avLst>
          </a:prstGeom>
          <a:solidFill>
            <a:srgbClr val="0B1320"/>
          </a:solidFill>
          <a:ln w="12700">
            <a:solidFill>
              <a:srgbClr val="0B1320"/>
            </a:solidFill>
            <a:prstDash val="solid"/>
          </a:ln>
        </p:spPr>
      </p:sp>
      <p:sp>
        <p:nvSpPr>
          <p:cNvPr id="22" name="Text 20"/>
          <p:cNvSpPr txBox="1"/>
          <p:nvPr/>
        </p:nvSpPr>
        <p:spPr>
          <a:xfrm>
            <a:off x="731520" y="3383280"/>
            <a:ext cx="1828800" cy="274320"/>
          </a:xfrm>
          <a:prstGeom prst="rect">
            <a:avLst/>
          </a:prstGeom>
          <a:noFill/>
          <a:ln/>
        </p:spPr>
        <p:txBody>
          <a:bodyPr wrap="square" lIns="0" tIns="0" rIns="0" bIns="0" rtlCol="0" anchor="t"/>
          <a:lstStyle/>
          <a:p>
            <a:pPr indent="0" marL="0">
              <a:buNone/>
            </a:pPr>
            <a:r>
              <a:rPr lang="en-US" sz="1500" b="1" dirty="0">
                <a:solidFill>
                  <a:srgbClr val="F5A524"/>
                </a:solidFill>
                <a:latin typeface="Arial" pitchFamily="34" charset="0"/>
                <a:ea typeface="Arial" pitchFamily="34" charset="-122"/>
                <a:cs typeface="Arial" pitchFamily="34" charset="-120"/>
              </a:rPr>
              <a:t>Jaeger</a:t>
            </a:r>
            <a:endParaRPr lang="en-US" sz="1500" dirty="0"/>
          </a:p>
        </p:txBody>
      </p:sp>
      <p:sp>
        <p:nvSpPr>
          <p:cNvPr id="23" name="Text 21"/>
          <p:cNvSpPr txBox="1"/>
          <p:nvPr/>
        </p:nvSpPr>
        <p:spPr>
          <a:xfrm>
            <a:off x="731520" y="3675888"/>
            <a:ext cx="7680960" cy="32004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Both services export over OTLP/HTTP (:4318). Same trace-id, so one waterfall: test → browser → backend.</a:t>
            </a:r>
            <a:endParaRPr lang="en-US" sz="1200" dirty="0"/>
          </a:p>
        </p:txBody>
      </p:sp>
      <p:sp>
        <p:nvSpPr>
          <p:cNvPr id="24" name="Shape 22"/>
          <p:cNvSpPr/>
          <p:nvPr/>
        </p:nvSpPr>
        <p:spPr>
          <a:xfrm>
            <a:off x="1691640" y="2816352"/>
            <a:ext cx="0" cy="402336"/>
          </a:xfrm>
          <a:prstGeom prst="line">
            <a:avLst/>
          </a:prstGeom>
          <a:noFill/>
          <a:ln w="15875">
            <a:solidFill>
              <a:srgbClr val="9AA4B5"/>
            </a:solidFill>
            <a:prstDash val="dash"/>
            <a:tailEnd type="triangle"/>
          </a:ln>
        </p:spPr>
      </p:sp>
      <p:sp>
        <p:nvSpPr>
          <p:cNvPr id="25" name="Shape 23"/>
          <p:cNvSpPr/>
          <p:nvPr/>
        </p:nvSpPr>
        <p:spPr>
          <a:xfrm>
            <a:off x="7178040" y="2816352"/>
            <a:ext cx="0" cy="402336"/>
          </a:xfrm>
          <a:prstGeom prst="line">
            <a:avLst/>
          </a:prstGeom>
          <a:noFill/>
          <a:ln w="15875">
            <a:solidFill>
              <a:srgbClr val="9AA4B5"/>
            </a:solidFill>
            <a:prstDash val="dash"/>
            <a:tailEnd type="triangle"/>
          </a:ln>
        </p:spPr>
      </p:sp>
      <p:sp>
        <p:nvSpPr>
          <p:cNvPr id="26" name="Text 24"/>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100" i="1" dirty="0">
                <a:solidFill>
                  <a:srgbClr val="5B6577"/>
                </a:solidFill>
                <a:latin typeface="Arial" pitchFamily="34" charset="0"/>
                <a:ea typeface="Arial" pitchFamily="34" charset="-122"/>
                <a:cs typeface="Arial" pitchFamily="34" charset="-120"/>
              </a:rPr>
              <a:t>Metrics and trace-correlated logs go to the app console</a:t>
            </a:r>
            <a:endParaRPr lang="en-US" sz="1100" dirty="0"/>
          </a:p>
        </p:txBody>
      </p:sp>
      <p:sp>
        <p:nvSpPr>
          <p:cNvPr id="27" name="Text 25"/>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5B6577"/>
                </a:solidFill>
                <a:latin typeface="Arial" pitchFamily="34" charset="0"/>
                <a:ea typeface="Arial" pitchFamily="34" charset="-122"/>
                <a:cs typeface="Arial" pitchFamily="34" charset="-120"/>
              </a:rPr>
              <a:t>Stop guessing, start seeing  ·  Motacon 2026</a:t>
            </a:r>
            <a:endParaRPr lang="en-US" sz="800" dirty="0"/>
          </a:p>
        </p:txBody>
      </p:sp>
      <p:sp>
        <p:nvSpPr>
          <p:cNvPr id="28" name="Text 26"/>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00" dirty="0">
                <a:solidFill>
                  <a:srgbClr val="5B6577"/>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64592"/>
            <a:ext cx="8229600" cy="228600"/>
          </a:xfrm>
          <a:prstGeom prst="rect">
            <a:avLst/>
          </a:prstGeom>
          <a:noFill/>
          <a:ln/>
        </p:spPr>
        <p:txBody>
          <a:bodyPr wrap="square" lIns="0" tIns="0" rIns="0" bIns="0" rtlCol="0" anchor="t"/>
          <a:lstStyle/>
          <a:p>
            <a:pPr indent="0" marL="0">
              <a:buNone/>
            </a:pPr>
            <a:r>
              <a:rPr lang="en-US" sz="1000" b="1" spc="300" kern="0" dirty="0">
                <a:solidFill>
                  <a:srgbClr val="B7770A"/>
                </a:solidFill>
                <a:latin typeface="Arial" pitchFamily="34" charset="0"/>
                <a:ea typeface="Arial" pitchFamily="34" charset="-122"/>
                <a:cs typeface="Arial" pitchFamily="34" charset="-120"/>
              </a:rPr>
              <a:t>THE DEMO: TESTS/TEST_TASK_FLOW.PY</a:t>
            </a:r>
            <a:endParaRPr lang="en-US" sz="1000" dirty="0"/>
          </a:p>
        </p:txBody>
      </p:sp>
      <p:sp>
        <p:nvSpPr>
          <p:cNvPr id="3" name="Text 1"/>
          <p:cNvSpPr txBox="1"/>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0B1320"/>
                </a:solidFill>
                <a:latin typeface="Arial" pitchFamily="34" charset="0"/>
                <a:ea typeface="Arial" pitchFamily="34" charset="-122"/>
                <a:cs typeface="Arial" pitchFamily="34" charset="-120"/>
              </a:rPr>
              <a:t>Every user action is a span</a:t>
            </a:r>
            <a:endParaRPr lang="en-US" sz="3000" dirty="0"/>
          </a:p>
        </p:txBody>
      </p:sp>
      <p:sp>
        <p:nvSpPr>
          <p:cNvPr id="4" name="Shape 2"/>
          <p:cNvSpPr/>
          <p:nvPr/>
        </p:nvSpPr>
        <p:spPr>
          <a:xfrm>
            <a:off x="457200" y="1280160"/>
            <a:ext cx="5669280" cy="3291840"/>
          </a:xfrm>
          <a:prstGeom prst="roundRect">
            <a:avLst>
              <a:gd name="adj" fmla="val 2222"/>
            </a:avLst>
          </a:prstGeom>
          <a:solidFill>
            <a:srgbClr val="0F1A2B"/>
          </a:solidFill>
          <a:ln w="12700">
            <a:solidFill>
              <a:srgbClr val="0F1A2B"/>
            </a:solidFill>
            <a:prstDash val="solid"/>
          </a:ln>
        </p:spPr>
      </p:sp>
      <p:sp>
        <p:nvSpPr>
          <p:cNvPr id="5" name="Text 3"/>
          <p:cNvSpPr txBox="1"/>
          <p:nvPr/>
        </p:nvSpPr>
        <p:spPr>
          <a:xfrm>
            <a:off x="640080" y="1417320"/>
            <a:ext cx="5303520" cy="3017520"/>
          </a:xfrm>
          <a:prstGeom prst="rect">
            <a:avLst/>
          </a:prstGeom>
          <a:noFill/>
          <a:ln/>
        </p:spPr>
        <p:txBody>
          <a:bodyPr wrap="square" lIns="0" tIns="0" rIns="0" bIns="0" rtlCol="0" anchor="t"/>
          <a:lstStyle/>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@contextmanager</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def traced_action(tracer, injector, name):</a:t>
            </a:r>
            <a:endParaRPr lang="en-US" sz="1000" dirty="0"/>
          </a:p>
          <a:p>
            <a:pPr indent="0" marL="0">
              <a:lnSpc>
                <a:spcPct val="105000"/>
              </a:lnSpc>
              <a:buNone/>
            </a:pPr>
            <a:r>
              <a:rPr lang="en-US" sz="1000" dirty="0">
                <a:solidFill>
                  <a:srgbClr val="F5A524"/>
                </a:solidFill>
                <a:latin typeface="Courier New" pitchFamily="34" charset="0"/>
                <a:ea typeface="Courier New" pitchFamily="34" charset="-122"/>
                <a:cs typeface="Courier New" pitchFamily="34" charset="-120"/>
              </a:rPr>
              <a:t>    with tracer.start_as_current_span(name) as span:</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injector.set_context()     # capture this span's traceparent</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try:</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yield span</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finally:</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injector.set_context({})  # stop injecting</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with tracer.start_as_current_span("test: full task lifecycle"):</a:t>
            </a:r>
            <a:endParaRPr lang="en-US" sz="1000" dirty="0"/>
          </a:p>
          <a:p>
            <a:pPr indent="0" marL="0">
              <a:lnSpc>
                <a:spcPct val="105000"/>
              </a:lnSpc>
              <a:buNone/>
            </a:pPr>
            <a:r>
              <a:rPr lang="en-US" sz="1000" dirty="0">
                <a:solidFill>
                  <a:srgbClr val="F5A524"/>
                </a:solidFill>
                <a:latin typeface="Courier New" pitchFamily="34" charset="0"/>
                <a:ea typeface="Courier New" pitchFamily="34" charset="-122"/>
                <a:cs typeface="Courier New" pitchFamily="34" charset="-120"/>
              </a:rPr>
              <a:t>    with traced_action(tracer, injector, "add task"):</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driver.find_element(*_css("task-title")).send_keys(title)</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driver.find_element(*_css("add-task")).click()</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wait.until(lambda d: title in _task_titles(d))</a:t>
            </a:r>
            <a:endParaRPr lang="en-US" sz="1000" dirty="0"/>
          </a:p>
        </p:txBody>
      </p:sp>
      <p:sp>
        <p:nvSpPr>
          <p:cNvPr id="6" name="Text 4"/>
          <p:cNvSpPr txBox="1"/>
          <p:nvPr/>
        </p:nvSpPr>
        <p:spPr>
          <a:xfrm>
            <a:off x="6400800" y="1325880"/>
            <a:ext cx="2286000" cy="548640"/>
          </a:xfrm>
          <a:prstGeom prst="rect">
            <a:avLst/>
          </a:prstGeom>
          <a:noFill/>
          <a:ln/>
        </p:spPr>
        <p:txBody>
          <a:bodyPr wrap="square" lIns="0" tIns="0" rIns="0" bIns="0" rtlCol="0" anchor="t"/>
          <a:lstStyle/>
          <a:p>
            <a:pPr indent="0" marL="0">
              <a:buNone/>
            </a:pPr>
            <a:r>
              <a:rPr lang="en-US" sz="1400" b="1" dirty="0">
                <a:solidFill>
                  <a:srgbClr val="0B1320"/>
                </a:solidFill>
                <a:latin typeface="Arial" pitchFamily="34" charset="0"/>
                <a:ea typeface="Arial" pitchFamily="34" charset="-122"/>
                <a:cs typeface="Arial" pitchFamily="34" charset="-120"/>
              </a:rPr>
              <a:t>Readable in the test, readable in Jaeger</a:t>
            </a:r>
            <a:endParaRPr lang="en-US" sz="1400" dirty="0"/>
          </a:p>
        </p:txBody>
      </p:sp>
      <p:sp>
        <p:nvSpPr>
          <p:cNvPr id="7" name="Text 5"/>
          <p:cNvSpPr txBox="1"/>
          <p:nvPr/>
        </p:nvSpPr>
        <p:spPr>
          <a:xfrm>
            <a:off x="6400800" y="1965960"/>
            <a:ext cx="2286000" cy="256032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5B6577"/>
                </a:solidFill>
                <a:latin typeface="Arial" pitchFamily="34" charset="0"/>
                <a:ea typeface="Arial" pitchFamily="34" charset="-122"/>
                <a:cs typeface="Arial" pitchFamily="34" charset="-120"/>
              </a:rPr>
              <a:t>Span names read like test steps</a:t>
            </a:r>
            <a:endParaRPr lang="en-US" sz="1200" dirty="0"/>
          </a:p>
          <a:p>
            <a:pPr marL="342900" indent="-342900">
              <a:spcAft>
                <a:spcPts val="800"/>
              </a:spcAft>
              <a:buSzPct val="100000"/>
              <a:buChar char="•"/>
            </a:pPr>
            <a:r>
              <a:rPr lang="en-US" sz="1200" dirty="0">
                <a:solidFill>
                  <a:srgbClr val="5B6577"/>
                </a:solidFill>
                <a:latin typeface="Arial" pitchFamily="34" charset="0"/>
                <a:ea typeface="Arial" pitchFamily="34" charset="-122"/>
                <a:cs typeface="Arial" pitchFamily="34" charset="-120"/>
              </a:rPr>
              <a:t>Context is captured on the test thread, then handed to the browser</a:t>
            </a:r>
            <a:endParaRPr lang="en-US" sz="1200" dirty="0"/>
          </a:p>
          <a:p>
            <a:pPr marL="342900" indent="-342900">
              <a:spcAft>
                <a:spcPts val="800"/>
              </a:spcAft>
              <a:buSzPct val="100000"/>
              <a:buChar char="•"/>
            </a:pPr>
            <a:r>
              <a:rPr lang="en-US" sz="1200" dirty="0">
                <a:solidFill>
                  <a:srgbClr val="5B6577"/>
                </a:solidFill>
                <a:latin typeface="Arial" pitchFamily="34" charset="0"/>
                <a:ea typeface="Arial" pitchFamily="34" charset="-122"/>
                <a:cs typeface="Arial" pitchFamily="34" charset="-120"/>
              </a:rPr>
              <a:t>Injection stops between steps, so there's no cross-talk</a:t>
            </a:r>
            <a:endParaRPr lang="en-US" sz="1200" dirty="0"/>
          </a:p>
        </p:txBody>
      </p:sp>
      <p:sp>
        <p:nvSpPr>
          <p:cNvPr id="8" name="Text 6"/>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5B6577"/>
                </a:solidFill>
                <a:latin typeface="Arial" pitchFamily="34" charset="0"/>
                <a:ea typeface="Arial" pitchFamily="34" charset="-122"/>
                <a:cs typeface="Arial" pitchFamily="34" charset="-120"/>
              </a:rPr>
              <a:t>Stop guessing, start seeing  ·  Motacon 2026</a:t>
            </a:r>
            <a:endParaRPr lang="en-US" sz="800" dirty="0"/>
          </a:p>
        </p:txBody>
      </p:sp>
      <p:sp>
        <p:nvSpPr>
          <p:cNvPr id="9" name="Text 7"/>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00" dirty="0">
                <a:solidFill>
                  <a:srgbClr val="5B6577"/>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64592"/>
            <a:ext cx="8229600" cy="228600"/>
          </a:xfrm>
          <a:prstGeom prst="rect">
            <a:avLst/>
          </a:prstGeom>
          <a:noFill/>
          <a:ln/>
        </p:spPr>
        <p:txBody>
          <a:bodyPr wrap="square" lIns="0" tIns="0" rIns="0" bIns="0" rtlCol="0" anchor="t"/>
          <a:lstStyle/>
          <a:p>
            <a:pPr indent="0" marL="0">
              <a:buNone/>
            </a:pPr>
            <a:r>
              <a:rPr lang="en-US" sz="1000" b="1" spc="300" kern="0" dirty="0">
                <a:solidFill>
                  <a:srgbClr val="B7770A"/>
                </a:solidFill>
                <a:latin typeface="Arial" pitchFamily="34" charset="0"/>
                <a:ea typeface="Arial" pitchFamily="34" charset="-122"/>
                <a:cs typeface="Arial" pitchFamily="34" charset="-120"/>
              </a:rPr>
              <a:t>THE DEMO: TESTS/BIDI_TRACE.PY</a:t>
            </a:r>
            <a:endParaRPr lang="en-US" sz="1000" dirty="0"/>
          </a:p>
        </p:txBody>
      </p:sp>
      <p:sp>
        <p:nvSpPr>
          <p:cNvPr id="3" name="Text 1"/>
          <p:cNvSpPr txBox="1"/>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0B1320"/>
                </a:solidFill>
                <a:latin typeface="Arial" pitchFamily="34" charset="0"/>
                <a:ea typeface="Arial" pitchFamily="34" charset="-122"/>
                <a:cs typeface="Arial" pitchFamily="34" charset="-120"/>
              </a:rPr>
              <a:t>BiDi puts the traceparent on the wire</a:t>
            </a:r>
            <a:endParaRPr lang="en-US" sz="3000" dirty="0"/>
          </a:p>
        </p:txBody>
      </p:sp>
      <p:sp>
        <p:nvSpPr>
          <p:cNvPr id="4" name="Shape 2"/>
          <p:cNvSpPr/>
          <p:nvPr/>
        </p:nvSpPr>
        <p:spPr>
          <a:xfrm>
            <a:off x="457200" y="1280160"/>
            <a:ext cx="5669280" cy="3291840"/>
          </a:xfrm>
          <a:prstGeom prst="roundRect">
            <a:avLst>
              <a:gd name="adj" fmla="val 2222"/>
            </a:avLst>
          </a:prstGeom>
          <a:solidFill>
            <a:srgbClr val="0F1A2B"/>
          </a:solidFill>
          <a:ln w="12700">
            <a:solidFill>
              <a:srgbClr val="0F1A2B"/>
            </a:solidFill>
            <a:prstDash val="solid"/>
          </a:ln>
        </p:spPr>
      </p:sp>
      <p:sp>
        <p:nvSpPr>
          <p:cNvPr id="5" name="Text 3"/>
          <p:cNvSpPr txBox="1"/>
          <p:nvPr/>
        </p:nvSpPr>
        <p:spPr>
          <a:xfrm>
            <a:off x="640080" y="1417320"/>
            <a:ext cx="5303520" cy="3017520"/>
          </a:xfrm>
          <a:prstGeom prst="rect">
            <a:avLst/>
          </a:prstGeom>
          <a:noFill/>
          <a:ln/>
        </p:spPr>
        <p:txBody>
          <a:bodyPr wrap="square" lIns="0" tIns="0" rIns="0" bIns="0" rtlCol="0" anchor="t"/>
          <a:lstStyle/>
          <a:p>
            <a:pPr indent="0" marL="0">
              <a:lnSpc>
                <a:spcPct val="105000"/>
              </a:lnSpc>
              <a:buNone/>
            </a:pPr>
            <a:r>
              <a:rPr lang="en-US" sz="1000" dirty="0">
                <a:solidFill>
                  <a:srgbClr val="F5A524"/>
                </a:solidFill>
                <a:latin typeface="Courier New" pitchFamily="34" charset="0"/>
                <a:ea typeface="Courier New" pitchFamily="34" charset="-122"/>
                <a:cs typeface="Courier New" pitchFamily="34" charset="-120"/>
              </a:rPr>
              <a:t>self._driver.network.add_request_handler(</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"before_request", self._handle_request)</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def _handle_request(self, request):</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carrier = dict(self._carrier)   # set by the test thread</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drop = ("traceparent", "tracestate")</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headers = [h for h in request.headers or []</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if h["name"].lower() not in drop]</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for name, value in carrier.items():</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headers.append({"name": name,</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"value": {"type": "string", "value": value}})</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with _SEND_LOCK:</a:t>
            </a:r>
            <a:endParaRPr lang="en-US" sz="1000" dirty="0"/>
          </a:p>
          <a:p>
            <a:pPr indent="0" marL="0">
              <a:lnSpc>
                <a:spcPct val="105000"/>
              </a:lnSpc>
              <a:buNone/>
            </a:pPr>
            <a:r>
              <a:rPr lang="en-US" sz="1000" dirty="0">
                <a:solidFill>
                  <a:srgbClr val="F5A524"/>
                </a:solidFill>
                <a:latin typeface="Courier New" pitchFamily="34" charset="0"/>
                <a:ea typeface="Courier New" pitchFamily="34" charset="-122"/>
                <a:cs typeface="Courier New" pitchFamily="34" charset="-120"/>
              </a:rPr>
              <a:t>        request.continue_request(headers=headers)</a:t>
            </a:r>
            <a:endParaRPr lang="en-US" sz="1000" dirty="0"/>
          </a:p>
        </p:txBody>
      </p:sp>
      <p:sp>
        <p:nvSpPr>
          <p:cNvPr id="6" name="Text 4"/>
          <p:cNvSpPr txBox="1"/>
          <p:nvPr/>
        </p:nvSpPr>
        <p:spPr>
          <a:xfrm>
            <a:off x="6400800" y="1325880"/>
            <a:ext cx="2286000" cy="365760"/>
          </a:xfrm>
          <a:prstGeom prst="rect">
            <a:avLst/>
          </a:prstGeom>
          <a:noFill/>
          <a:ln/>
        </p:spPr>
        <p:txBody>
          <a:bodyPr wrap="square" lIns="0" tIns="0" rIns="0" bIns="0" rtlCol="0" anchor="t"/>
          <a:lstStyle/>
          <a:p>
            <a:pPr indent="0" marL="0">
              <a:buNone/>
            </a:pPr>
            <a:r>
              <a:rPr lang="en-US" sz="1400" b="1" dirty="0">
                <a:solidFill>
                  <a:srgbClr val="0B1320"/>
                </a:solidFill>
                <a:latin typeface="Arial" pitchFamily="34" charset="0"/>
                <a:ea typeface="Arial" pitchFamily="34" charset="-122"/>
                <a:cs typeface="Arial" pitchFamily="34" charset="-120"/>
              </a:rPr>
              <a:t>Why BiDi?</a:t>
            </a:r>
            <a:endParaRPr lang="en-US" sz="1400" dirty="0"/>
          </a:p>
        </p:txBody>
      </p:sp>
      <p:sp>
        <p:nvSpPr>
          <p:cNvPr id="7" name="Text 5"/>
          <p:cNvSpPr txBox="1"/>
          <p:nvPr/>
        </p:nvSpPr>
        <p:spPr>
          <a:xfrm>
            <a:off x="6400800" y="1783080"/>
            <a:ext cx="2286000" cy="27432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5B6577"/>
                </a:solidFill>
                <a:latin typeface="Arial" pitchFamily="34" charset="0"/>
                <a:ea typeface="Arial" pitchFamily="34" charset="-122"/>
                <a:cs typeface="Arial" pitchFamily="34" charset="-120"/>
              </a:rPr>
              <a:t>Classic WebDriver can't set request headers</a:t>
            </a:r>
            <a:endParaRPr lang="en-US" sz="1200" dirty="0"/>
          </a:p>
          <a:p>
            <a:pPr marL="342900" indent="-342900">
              <a:spcAft>
                <a:spcPts val="800"/>
              </a:spcAft>
              <a:buSzPct val="100000"/>
              <a:buChar char="•"/>
            </a:pPr>
            <a:r>
              <a:rPr lang="en-US" sz="1200" dirty="0">
                <a:solidFill>
                  <a:srgbClr val="5B6577"/>
                </a:solidFill>
                <a:latin typeface="Arial" pitchFamily="34" charset="0"/>
                <a:ea typeface="Arial" pitchFamily="34" charset="-122"/>
                <a:cs typeface="Arial" pitchFamily="34" charset="-120"/>
              </a:rPr>
              <a:t>BiDi's network module intercepts before the request is sent</a:t>
            </a:r>
            <a:endParaRPr lang="en-US" sz="1200" dirty="0"/>
          </a:p>
          <a:p>
            <a:pPr marL="342900" indent="-342900">
              <a:spcAft>
                <a:spcPts val="800"/>
              </a:spcAft>
              <a:buSzPct val="100000"/>
              <a:buChar char="•"/>
            </a:pPr>
            <a:r>
              <a:rPr lang="en-US" sz="1200" dirty="0">
                <a:solidFill>
                  <a:srgbClr val="5B6577"/>
                </a:solidFill>
                <a:latin typeface="Arial" pitchFamily="34" charset="0"/>
                <a:ea typeface="Arial" pitchFamily="34" charset="-122"/>
                <a:cs typeface="Arial" pitchFamily="34" charset="-120"/>
              </a:rPr>
              <a:t>Always continue the request, even on error, or the browser hangs</a:t>
            </a:r>
            <a:endParaRPr lang="en-US" sz="1200" dirty="0"/>
          </a:p>
        </p:txBody>
      </p:sp>
      <p:sp>
        <p:nvSpPr>
          <p:cNvPr id="8" name="Text 6"/>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5B6577"/>
                </a:solidFill>
                <a:latin typeface="Arial" pitchFamily="34" charset="0"/>
                <a:ea typeface="Arial" pitchFamily="34" charset="-122"/>
                <a:cs typeface="Arial" pitchFamily="34" charset="-120"/>
              </a:rPr>
              <a:t>Stop guessing, start seeing  ·  Motacon 2026</a:t>
            </a:r>
            <a:endParaRPr lang="en-US" sz="800" dirty="0"/>
          </a:p>
        </p:txBody>
      </p:sp>
      <p:sp>
        <p:nvSpPr>
          <p:cNvPr id="9" name="Text 7"/>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00" dirty="0">
                <a:solidFill>
                  <a:srgbClr val="5B6577"/>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320"/>
        </a:solidFill>
      </p:bgPr>
    </p:bg>
    <p:spTree>
      <p:nvGrpSpPr>
        <p:cNvPr id="1" name=""/>
        <p:cNvGrpSpPr/>
        <p:nvPr/>
      </p:nvGrpSpPr>
      <p:grpSpPr>
        <a:xfrm>
          <a:off x="0" y="0"/>
          <a:ext cx="0" cy="0"/>
          <a:chOff x="0" y="0"/>
          <a:chExt cx="0" cy="0"/>
        </a:xfrm>
      </p:grpSpPr>
      <p:sp>
        <p:nvSpPr>
          <p:cNvPr id="2" name="Text 0"/>
          <p:cNvSpPr txBox="1"/>
          <p:nvPr/>
        </p:nvSpPr>
        <p:spPr>
          <a:xfrm>
            <a:off x="548640" y="731520"/>
            <a:ext cx="7315200" cy="365760"/>
          </a:xfrm>
          <a:prstGeom prst="rect">
            <a:avLst/>
          </a:prstGeom>
          <a:noFill/>
          <a:ln/>
        </p:spPr>
        <p:txBody>
          <a:bodyPr wrap="square" lIns="0" tIns="0" rIns="0" bIns="0" rtlCol="0" anchor="t"/>
          <a:lstStyle/>
          <a:p>
            <a:pPr indent="0" marL="0">
              <a:buNone/>
            </a:pPr>
            <a:r>
              <a:rPr lang="en-US" sz="1400" b="1" spc="500" kern="0" dirty="0">
                <a:solidFill>
                  <a:srgbClr val="F5A524"/>
                </a:solidFill>
                <a:latin typeface="Arial" pitchFamily="34" charset="0"/>
                <a:ea typeface="Arial" pitchFamily="34" charset="-122"/>
                <a:cs typeface="Arial" pitchFamily="34" charset="-120"/>
              </a:rPr>
              <a:t>LIVE DEMO</a:t>
            </a:r>
            <a:endParaRPr lang="en-US" sz="1400" dirty="0"/>
          </a:p>
        </p:txBody>
      </p:sp>
      <p:sp>
        <p:nvSpPr>
          <p:cNvPr id="3" name="Text 1"/>
          <p:cNvSpPr txBox="1"/>
          <p:nvPr/>
        </p:nvSpPr>
        <p:spPr>
          <a:xfrm>
            <a:off x="548640" y="1143000"/>
            <a:ext cx="7315200" cy="73152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Switch to terminal</a:t>
            </a:r>
            <a:endParaRPr lang="en-US" sz="3800" dirty="0"/>
          </a:p>
        </p:txBody>
      </p:sp>
      <p:sp>
        <p:nvSpPr>
          <p:cNvPr id="4" name="Shape 2"/>
          <p:cNvSpPr/>
          <p:nvPr/>
        </p:nvSpPr>
        <p:spPr>
          <a:xfrm>
            <a:off x="548640" y="2148840"/>
            <a:ext cx="411480" cy="411480"/>
          </a:xfrm>
          <a:prstGeom prst="ellipse">
            <a:avLst/>
          </a:prstGeom>
          <a:solidFill>
            <a:srgbClr val="243353"/>
          </a:solidFill>
          <a:ln w="15875">
            <a:solidFill>
              <a:srgbClr val="F5A524"/>
            </a:solidFill>
            <a:prstDash val="solid"/>
          </a:ln>
        </p:spPr>
      </p:sp>
      <p:sp>
        <p:nvSpPr>
          <p:cNvPr id="5" name="Text 3"/>
          <p:cNvSpPr txBox="1"/>
          <p:nvPr/>
        </p:nvSpPr>
        <p:spPr>
          <a:xfrm>
            <a:off x="548640" y="2148840"/>
            <a:ext cx="411480" cy="411480"/>
          </a:xfrm>
          <a:prstGeom prst="rect">
            <a:avLst/>
          </a:prstGeom>
          <a:noFill/>
          <a:ln/>
        </p:spPr>
        <p:txBody>
          <a:bodyPr wrap="square" lIns="0" tIns="0" rIns="0" bIns="0" rtlCol="0" anchor="ctr"/>
          <a:lstStyle/>
          <a:p>
            <a:pPr algn="ctr" indent="0" marL="0">
              <a:buNone/>
            </a:pPr>
            <a:r>
              <a:rPr lang="en-US" sz="1400" b="1" dirty="0">
                <a:solidFill>
                  <a:srgbClr val="F5A524"/>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188720" y="2167128"/>
            <a:ext cx="4389120" cy="384048"/>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./scripts/run_jaeger.sh</a:t>
            </a:r>
            <a:endParaRPr lang="en-US" sz="1400" dirty="0"/>
          </a:p>
        </p:txBody>
      </p:sp>
      <p:sp>
        <p:nvSpPr>
          <p:cNvPr id="7" name="Text 5"/>
          <p:cNvSpPr txBox="1"/>
          <p:nvPr/>
        </p:nvSpPr>
        <p:spPr>
          <a:xfrm>
            <a:off x="5669280" y="2167128"/>
            <a:ext cx="2926080" cy="384048"/>
          </a:xfrm>
          <a:prstGeom prst="rect">
            <a:avLst/>
          </a:prstGeom>
          <a:noFill/>
          <a:ln/>
        </p:spPr>
        <p:txBody>
          <a:bodyPr wrap="square" lIns="0" tIns="0" rIns="0" bIns="0" rtlCol="0" anchor="ctr"/>
          <a:lstStyle/>
          <a:p>
            <a:pPr indent="0" marL="0">
              <a:buNone/>
            </a:pPr>
            <a:r>
              <a:rPr lang="en-US" sz="1200" dirty="0">
                <a:solidFill>
                  <a:srgbClr val="9AA4B5"/>
                </a:solidFill>
                <a:latin typeface="Arial" pitchFamily="34" charset="0"/>
                <a:ea typeface="Arial" pitchFamily="34" charset="-122"/>
                <a:cs typeface="Arial" pitchFamily="34" charset="-120"/>
              </a:rPr>
              <a:t>Jaeger UI on :16686</a:t>
            </a:r>
            <a:endParaRPr lang="en-US" sz="1200" dirty="0"/>
          </a:p>
        </p:txBody>
      </p:sp>
      <p:sp>
        <p:nvSpPr>
          <p:cNvPr id="8" name="Shape 6"/>
          <p:cNvSpPr/>
          <p:nvPr/>
        </p:nvSpPr>
        <p:spPr>
          <a:xfrm>
            <a:off x="548640" y="2770632"/>
            <a:ext cx="411480" cy="411480"/>
          </a:xfrm>
          <a:prstGeom prst="ellipse">
            <a:avLst/>
          </a:prstGeom>
          <a:solidFill>
            <a:srgbClr val="243353"/>
          </a:solidFill>
          <a:ln w="15875">
            <a:solidFill>
              <a:srgbClr val="F5A524"/>
            </a:solidFill>
            <a:prstDash val="solid"/>
          </a:ln>
        </p:spPr>
      </p:sp>
      <p:sp>
        <p:nvSpPr>
          <p:cNvPr id="9" name="Text 7"/>
          <p:cNvSpPr txBox="1"/>
          <p:nvPr/>
        </p:nvSpPr>
        <p:spPr>
          <a:xfrm>
            <a:off x="548640" y="2770632"/>
            <a:ext cx="411480" cy="411480"/>
          </a:xfrm>
          <a:prstGeom prst="rect">
            <a:avLst/>
          </a:prstGeom>
          <a:noFill/>
          <a:ln/>
        </p:spPr>
        <p:txBody>
          <a:bodyPr wrap="square" lIns="0" tIns="0" rIns="0" bIns="0" rtlCol="0" anchor="ctr"/>
          <a:lstStyle/>
          <a:p>
            <a:pPr algn="ctr" indent="0" marL="0">
              <a:buNone/>
            </a:pPr>
            <a:r>
              <a:rPr lang="en-US" sz="1400" b="1" dirty="0">
                <a:solidFill>
                  <a:srgbClr val="F5A524"/>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188720" y="2788920"/>
            <a:ext cx="4389120" cy="384048"/>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./scripts/run_app.sh</a:t>
            </a:r>
            <a:endParaRPr lang="en-US" sz="1400" dirty="0"/>
          </a:p>
        </p:txBody>
      </p:sp>
      <p:sp>
        <p:nvSpPr>
          <p:cNvPr id="11" name="Text 9"/>
          <p:cNvSpPr txBox="1"/>
          <p:nvPr/>
        </p:nvSpPr>
        <p:spPr>
          <a:xfrm>
            <a:off x="5669280" y="2788920"/>
            <a:ext cx="2926080" cy="384048"/>
          </a:xfrm>
          <a:prstGeom prst="rect">
            <a:avLst/>
          </a:prstGeom>
          <a:noFill/>
          <a:ln/>
        </p:spPr>
        <p:txBody>
          <a:bodyPr wrap="square" lIns="0" tIns="0" rIns="0" bIns="0" rtlCol="0" anchor="ctr"/>
          <a:lstStyle/>
          <a:p>
            <a:pPr indent="0" marL="0">
              <a:buNone/>
            </a:pPr>
            <a:r>
              <a:rPr lang="en-US" sz="1200" dirty="0">
                <a:solidFill>
                  <a:srgbClr val="9AA4B5"/>
                </a:solidFill>
                <a:latin typeface="Arial" pitchFamily="34" charset="0"/>
                <a:ea typeface="Arial" pitchFamily="34" charset="-122"/>
                <a:cs typeface="Arial" pitchFamily="34" charset="-120"/>
              </a:rPr>
              <a:t>to-do app on :5000</a:t>
            </a:r>
            <a:endParaRPr lang="en-US" sz="1200" dirty="0"/>
          </a:p>
        </p:txBody>
      </p:sp>
      <p:sp>
        <p:nvSpPr>
          <p:cNvPr id="12" name="Shape 10"/>
          <p:cNvSpPr/>
          <p:nvPr/>
        </p:nvSpPr>
        <p:spPr>
          <a:xfrm>
            <a:off x="548640" y="3392424"/>
            <a:ext cx="411480" cy="411480"/>
          </a:xfrm>
          <a:prstGeom prst="ellipse">
            <a:avLst/>
          </a:prstGeom>
          <a:solidFill>
            <a:srgbClr val="243353"/>
          </a:solidFill>
          <a:ln w="15875">
            <a:solidFill>
              <a:srgbClr val="F5A524"/>
            </a:solidFill>
            <a:prstDash val="solid"/>
          </a:ln>
        </p:spPr>
      </p:sp>
      <p:sp>
        <p:nvSpPr>
          <p:cNvPr id="13" name="Text 11"/>
          <p:cNvSpPr txBox="1"/>
          <p:nvPr/>
        </p:nvSpPr>
        <p:spPr>
          <a:xfrm>
            <a:off x="548640" y="3392424"/>
            <a:ext cx="411480" cy="411480"/>
          </a:xfrm>
          <a:prstGeom prst="rect">
            <a:avLst/>
          </a:prstGeom>
          <a:noFill/>
          <a:ln/>
        </p:spPr>
        <p:txBody>
          <a:bodyPr wrap="square" lIns="0" tIns="0" rIns="0" bIns="0" rtlCol="0" anchor="ctr"/>
          <a:lstStyle/>
          <a:p>
            <a:pPr algn="ctr" indent="0" marL="0">
              <a:buNone/>
            </a:pPr>
            <a:r>
              <a:rPr lang="en-US" sz="1400" b="1" dirty="0">
                <a:solidFill>
                  <a:srgbClr val="F5A524"/>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188720" y="3410712"/>
            <a:ext cx="4389120" cy="384048"/>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HEADLESS=0 pytest tests/ -v</a:t>
            </a:r>
            <a:endParaRPr lang="en-US" sz="1400" dirty="0"/>
          </a:p>
        </p:txBody>
      </p:sp>
      <p:sp>
        <p:nvSpPr>
          <p:cNvPr id="15" name="Text 13"/>
          <p:cNvSpPr txBox="1"/>
          <p:nvPr/>
        </p:nvSpPr>
        <p:spPr>
          <a:xfrm>
            <a:off x="5669280" y="3410712"/>
            <a:ext cx="2926080" cy="384048"/>
          </a:xfrm>
          <a:prstGeom prst="rect">
            <a:avLst/>
          </a:prstGeom>
          <a:noFill/>
          <a:ln/>
        </p:spPr>
        <p:txBody>
          <a:bodyPr wrap="square" lIns="0" tIns="0" rIns="0" bIns="0" rtlCol="0" anchor="ctr"/>
          <a:lstStyle/>
          <a:p>
            <a:pPr indent="0" marL="0">
              <a:buNone/>
            </a:pPr>
            <a:r>
              <a:rPr lang="en-US" sz="1200" dirty="0">
                <a:solidFill>
                  <a:srgbClr val="9AA4B5"/>
                </a:solidFill>
                <a:latin typeface="Arial" pitchFamily="34" charset="0"/>
                <a:ea typeface="Arial" pitchFamily="34" charset="-122"/>
                <a:cs typeface="Arial" pitchFamily="34" charset="-120"/>
              </a:rPr>
              <a:t>watch Chrome drive the app</a:t>
            </a:r>
            <a:endParaRPr lang="en-US" sz="1200" dirty="0"/>
          </a:p>
        </p:txBody>
      </p:sp>
      <p:sp>
        <p:nvSpPr>
          <p:cNvPr id="16" name="Shape 14"/>
          <p:cNvSpPr/>
          <p:nvPr/>
        </p:nvSpPr>
        <p:spPr>
          <a:xfrm>
            <a:off x="548640" y="4014216"/>
            <a:ext cx="411480" cy="411480"/>
          </a:xfrm>
          <a:prstGeom prst="ellipse">
            <a:avLst/>
          </a:prstGeom>
          <a:solidFill>
            <a:srgbClr val="243353"/>
          </a:solidFill>
          <a:ln w="15875">
            <a:solidFill>
              <a:srgbClr val="F5A524"/>
            </a:solidFill>
            <a:prstDash val="solid"/>
          </a:ln>
        </p:spPr>
      </p:sp>
      <p:sp>
        <p:nvSpPr>
          <p:cNvPr id="17" name="Text 15"/>
          <p:cNvSpPr txBox="1"/>
          <p:nvPr/>
        </p:nvSpPr>
        <p:spPr>
          <a:xfrm>
            <a:off x="548640" y="4014216"/>
            <a:ext cx="411480" cy="411480"/>
          </a:xfrm>
          <a:prstGeom prst="rect">
            <a:avLst/>
          </a:prstGeom>
          <a:noFill/>
          <a:ln/>
        </p:spPr>
        <p:txBody>
          <a:bodyPr wrap="square" lIns="0" tIns="0" rIns="0" bIns="0" rtlCol="0" anchor="ctr"/>
          <a:lstStyle/>
          <a:p>
            <a:pPr algn="ctr" indent="0" marL="0">
              <a:buNone/>
            </a:pPr>
            <a:r>
              <a:rPr lang="en-US" sz="1400" b="1" dirty="0">
                <a:solidFill>
                  <a:srgbClr val="F5A524"/>
                </a:solidFill>
                <a:latin typeface="Arial" pitchFamily="34" charset="0"/>
                <a:ea typeface="Arial" pitchFamily="34" charset="-122"/>
                <a:cs typeface="Arial" pitchFamily="34" charset="-120"/>
              </a:rPr>
              <a:t>4</a:t>
            </a:r>
            <a:endParaRPr lang="en-US" sz="1400" dirty="0"/>
          </a:p>
        </p:txBody>
      </p:sp>
      <p:sp>
        <p:nvSpPr>
          <p:cNvPr id="18" name="Text 16"/>
          <p:cNvSpPr txBox="1"/>
          <p:nvPr/>
        </p:nvSpPr>
        <p:spPr>
          <a:xfrm>
            <a:off x="1188720" y="4032504"/>
            <a:ext cx="4389120" cy="384048"/>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Jaeger → service: selenium-tests</a:t>
            </a:r>
            <a:endParaRPr lang="en-US" sz="1400" dirty="0"/>
          </a:p>
        </p:txBody>
      </p:sp>
      <p:sp>
        <p:nvSpPr>
          <p:cNvPr id="19" name="Text 17"/>
          <p:cNvSpPr txBox="1"/>
          <p:nvPr/>
        </p:nvSpPr>
        <p:spPr>
          <a:xfrm>
            <a:off x="5669280" y="4032504"/>
            <a:ext cx="2926080" cy="384048"/>
          </a:xfrm>
          <a:prstGeom prst="rect">
            <a:avLst/>
          </a:prstGeom>
          <a:noFill/>
          <a:ln/>
        </p:spPr>
        <p:txBody>
          <a:bodyPr wrap="square" lIns="0" tIns="0" rIns="0" bIns="0" rtlCol="0" anchor="ctr"/>
          <a:lstStyle/>
          <a:p>
            <a:pPr indent="0" marL="0">
              <a:buNone/>
            </a:pPr>
            <a:r>
              <a:rPr lang="en-US" sz="1200" dirty="0">
                <a:solidFill>
                  <a:srgbClr val="9AA4B5"/>
                </a:solidFill>
                <a:latin typeface="Arial" pitchFamily="34" charset="0"/>
                <a:ea typeface="Arial" pitchFamily="34" charset="-122"/>
                <a:cs typeface="Arial" pitchFamily="34" charset="-120"/>
              </a:rPr>
              <a:t>open the newest trace</a:t>
            </a:r>
            <a:endParaRPr lang="en-US" sz="1200" dirty="0"/>
          </a:p>
        </p:txBody>
      </p:sp>
      <p:sp>
        <p:nvSpPr>
          <p:cNvPr id="20" name="Text 18"/>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9AA4B5"/>
                </a:solidFill>
                <a:latin typeface="Arial" pitchFamily="34" charset="0"/>
                <a:ea typeface="Arial" pitchFamily="34" charset="-122"/>
                <a:cs typeface="Arial" pitchFamily="34" charset="-120"/>
              </a:rPr>
              <a:t>Stop guessing, start seeing  ·  Motacon 2026</a:t>
            </a:r>
            <a:endParaRPr lang="en-US" sz="800" dirty="0"/>
          </a:p>
        </p:txBody>
      </p:sp>
      <p:sp>
        <p:nvSpPr>
          <p:cNvPr id="21" name="Text 19"/>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00" dirty="0">
                <a:solidFill>
                  <a:srgbClr val="9AA4B5"/>
                </a:solidFill>
                <a:latin typeface="Arial" pitchFamily="34" charset="0"/>
                <a:ea typeface="Arial" pitchFamily="34" charset="-122"/>
                <a:cs typeface="Arial"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64592"/>
            <a:ext cx="8229600" cy="228600"/>
          </a:xfrm>
          <a:prstGeom prst="rect">
            <a:avLst/>
          </a:prstGeom>
          <a:noFill/>
          <a:ln/>
        </p:spPr>
        <p:txBody>
          <a:bodyPr wrap="square" lIns="0" tIns="0" rIns="0" bIns="0" rtlCol="0" anchor="t"/>
          <a:lstStyle/>
          <a:p>
            <a:pPr indent="0" marL="0">
              <a:buNone/>
            </a:pPr>
            <a:r>
              <a:rPr lang="en-US" sz="1000" b="1" spc="300" kern="0" dirty="0">
                <a:solidFill>
                  <a:srgbClr val="B7770A"/>
                </a:solidFill>
                <a:latin typeface="Arial" pitchFamily="34" charset="0"/>
                <a:ea typeface="Arial" pitchFamily="34" charset="-122"/>
                <a:cs typeface="Arial" pitchFamily="34" charset="-120"/>
              </a:rPr>
              <a:t>BACKUP: WHAT YOU'D SEE IN JAEGER</a:t>
            </a:r>
            <a:endParaRPr lang="en-US" sz="1000" dirty="0"/>
          </a:p>
        </p:txBody>
      </p:sp>
      <p:sp>
        <p:nvSpPr>
          <p:cNvPr id="3" name="Text 1"/>
          <p:cNvSpPr txBox="1"/>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0B1320"/>
                </a:solidFill>
                <a:latin typeface="Arial" pitchFamily="34" charset="0"/>
                <a:ea typeface="Arial" pitchFamily="34" charset="-122"/>
                <a:cs typeface="Arial" pitchFamily="34" charset="-120"/>
              </a:rPr>
              <a:t>One trace, two services</a:t>
            </a:r>
            <a:endParaRPr lang="en-US" sz="3000" dirty="0"/>
          </a:p>
        </p:txBody>
      </p:sp>
      <p:sp>
        <p:nvSpPr>
          <p:cNvPr id="4" name="Shape 2"/>
          <p:cNvSpPr/>
          <p:nvPr/>
        </p:nvSpPr>
        <p:spPr>
          <a:xfrm>
            <a:off x="457200" y="1234440"/>
            <a:ext cx="8229600" cy="3246120"/>
          </a:xfrm>
          <a:prstGeom prst="roundRect">
            <a:avLst>
              <a:gd name="adj" fmla="val 2254"/>
            </a:avLst>
          </a:prstGeom>
          <a:solidFill>
            <a:srgbClr val="F1F4F8"/>
          </a:solidFill>
          <a:ln w="12700">
            <a:solidFill>
              <a:srgbClr val="F1F4F8"/>
            </a:solidFill>
            <a:prstDash val="solid"/>
          </a:ln>
        </p:spPr>
      </p:sp>
      <p:sp>
        <p:nvSpPr>
          <p:cNvPr id="5" name="Text 3"/>
          <p:cNvSpPr txBox="1"/>
          <p:nvPr/>
        </p:nvSpPr>
        <p:spPr>
          <a:xfrm>
            <a:off x="594360" y="1371600"/>
            <a:ext cx="3200400" cy="237744"/>
          </a:xfrm>
          <a:prstGeom prst="rect">
            <a:avLst/>
          </a:prstGeom>
          <a:noFill/>
          <a:ln/>
        </p:spPr>
        <p:txBody>
          <a:bodyPr wrap="square" lIns="0" tIns="0" rIns="0" bIns="0" rtlCol="0" anchor="ctr"/>
          <a:lstStyle/>
          <a:p>
            <a:pPr indent="0" marL="0">
              <a:buNone/>
            </a:pPr>
            <a:r>
              <a:rPr lang="en-US" sz="1000" b="1" dirty="0">
                <a:solidFill>
                  <a:srgbClr val="0B1320"/>
                </a:solidFill>
                <a:latin typeface="Arial" pitchFamily="34" charset="0"/>
                <a:ea typeface="Arial" pitchFamily="34" charset="-122"/>
                <a:cs typeface="Arial" pitchFamily="34" charset="-120"/>
              </a:rPr>
              <a:t>test: full task lifecycle</a:t>
            </a:r>
            <a:endParaRPr lang="en-US" sz="1000" dirty="0"/>
          </a:p>
        </p:txBody>
      </p:sp>
      <p:sp>
        <p:nvSpPr>
          <p:cNvPr id="6" name="Shape 4"/>
          <p:cNvSpPr/>
          <p:nvPr/>
        </p:nvSpPr>
        <p:spPr>
          <a:xfrm>
            <a:off x="3840480" y="1426464"/>
            <a:ext cx="4754880" cy="128016"/>
          </a:xfrm>
          <a:prstGeom prst="roundRect">
            <a:avLst>
              <a:gd name="adj" fmla="val 42857"/>
            </a:avLst>
          </a:prstGeom>
          <a:solidFill>
            <a:srgbClr val="F5A524"/>
          </a:solidFill>
          <a:ln w="12700">
            <a:solidFill>
              <a:srgbClr val="F5A524"/>
            </a:solidFill>
            <a:prstDash val="solid"/>
          </a:ln>
        </p:spPr>
      </p:sp>
      <p:sp>
        <p:nvSpPr>
          <p:cNvPr id="7" name="Text 5"/>
          <p:cNvSpPr txBox="1"/>
          <p:nvPr/>
        </p:nvSpPr>
        <p:spPr>
          <a:xfrm>
            <a:off x="795528" y="1645920"/>
            <a:ext cx="2999232" cy="237744"/>
          </a:xfrm>
          <a:prstGeom prst="rect">
            <a:avLst/>
          </a:prstGeom>
          <a:noFill/>
          <a:ln/>
        </p:spPr>
        <p:txBody>
          <a:bodyPr wrap="square" lIns="0" tIns="0" rIns="0" bIns="0" rtlCol="0" anchor="ctr"/>
          <a:lstStyle/>
          <a:p>
            <a:pPr indent="0" marL="0">
              <a:buNone/>
            </a:pPr>
            <a:r>
              <a:rPr lang="en-US" sz="1000" b="1" dirty="0">
                <a:solidFill>
                  <a:srgbClr val="0B1320"/>
                </a:solidFill>
                <a:latin typeface="Arial" pitchFamily="34" charset="0"/>
                <a:ea typeface="Arial" pitchFamily="34" charset="-122"/>
                <a:cs typeface="Arial" pitchFamily="34" charset="-120"/>
              </a:rPr>
              <a:t>add task</a:t>
            </a:r>
            <a:endParaRPr lang="en-US" sz="1000" dirty="0"/>
          </a:p>
        </p:txBody>
      </p:sp>
      <p:sp>
        <p:nvSpPr>
          <p:cNvPr id="8" name="Shape 6"/>
          <p:cNvSpPr/>
          <p:nvPr/>
        </p:nvSpPr>
        <p:spPr>
          <a:xfrm>
            <a:off x="3935578" y="1700784"/>
            <a:ext cx="1426464" cy="128016"/>
          </a:xfrm>
          <a:prstGeom prst="roundRect">
            <a:avLst>
              <a:gd name="adj" fmla="val 42857"/>
            </a:avLst>
          </a:prstGeom>
          <a:solidFill>
            <a:srgbClr val="F5A524"/>
          </a:solidFill>
          <a:ln w="12700">
            <a:solidFill>
              <a:srgbClr val="F5A524"/>
            </a:solidFill>
            <a:prstDash val="solid"/>
          </a:ln>
        </p:spPr>
      </p:sp>
      <p:sp>
        <p:nvSpPr>
          <p:cNvPr id="9" name="Text 7"/>
          <p:cNvSpPr txBox="1"/>
          <p:nvPr/>
        </p:nvSpPr>
        <p:spPr>
          <a:xfrm>
            <a:off x="996696" y="1920240"/>
            <a:ext cx="2798064" cy="237744"/>
          </a:xfrm>
          <a:prstGeom prst="rect">
            <a:avLst/>
          </a:prstGeom>
          <a:noFill/>
          <a:ln/>
        </p:spPr>
        <p:txBody>
          <a:bodyPr wrap="square" lIns="0" tIns="0" rIns="0" bIns="0" rtlCol="0" anchor="ctr"/>
          <a:lstStyle/>
          <a:p>
            <a:pPr indent="0" marL="0">
              <a:buNone/>
            </a:pPr>
            <a:r>
              <a:rPr lang="en-US" sz="1000" dirty="0">
                <a:solidFill>
                  <a:srgbClr val="0B1320"/>
                </a:solidFill>
                <a:latin typeface="Courier New" pitchFamily="34" charset="0"/>
                <a:ea typeface="Courier New" pitchFamily="34" charset="-122"/>
                <a:cs typeface="Courier New" pitchFamily="34" charset="-120"/>
              </a:rPr>
              <a:t>POST /api/tasks</a:t>
            </a:r>
            <a:endParaRPr lang="en-US" sz="1000" dirty="0"/>
          </a:p>
        </p:txBody>
      </p:sp>
      <p:sp>
        <p:nvSpPr>
          <p:cNvPr id="10" name="Shape 8"/>
          <p:cNvSpPr/>
          <p:nvPr/>
        </p:nvSpPr>
        <p:spPr>
          <a:xfrm>
            <a:off x="4078224" y="1975104"/>
            <a:ext cx="475488" cy="128016"/>
          </a:xfrm>
          <a:prstGeom prst="roundRect">
            <a:avLst>
              <a:gd name="adj" fmla="val 42857"/>
            </a:avLst>
          </a:prstGeom>
          <a:solidFill>
            <a:srgbClr val="1FB5A8"/>
          </a:solidFill>
          <a:ln w="12700">
            <a:solidFill>
              <a:srgbClr val="1FB5A8"/>
            </a:solidFill>
            <a:prstDash val="solid"/>
          </a:ln>
        </p:spPr>
      </p:sp>
      <p:sp>
        <p:nvSpPr>
          <p:cNvPr id="11" name="Text 9"/>
          <p:cNvSpPr txBox="1"/>
          <p:nvPr/>
        </p:nvSpPr>
        <p:spPr>
          <a:xfrm>
            <a:off x="1197864" y="2194560"/>
            <a:ext cx="2596896" cy="237744"/>
          </a:xfrm>
          <a:prstGeom prst="rect">
            <a:avLst/>
          </a:prstGeom>
          <a:noFill/>
          <a:ln/>
        </p:spPr>
        <p:txBody>
          <a:bodyPr wrap="square" lIns="0" tIns="0" rIns="0" bIns="0" rtlCol="0" anchor="ctr"/>
          <a:lstStyle/>
          <a:p>
            <a:pPr indent="0" marL="0">
              <a:buNone/>
            </a:pPr>
            <a:r>
              <a:rPr lang="en-US" sz="1000" dirty="0">
                <a:solidFill>
                  <a:srgbClr val="0B1320"/>
                </a:solidFill>
                <a:latin typeface="Courier New" pitchFamily="34" charset="0"/>
                <a:ea typeface="Courier New" pitchFamily="34" charset="-122"/>
                <a:cs typeface="Courier New" pitchFamily="34" charset="-120"/>
              </a:rPr>
              <a:t>create_task</a:t>
            </a:r>
            <a:endParaRPr lang="en-US" sz="1000" dirty="0"/>
          </a:p>
        </p:txBody>
      </p:sp>
      <p:sp>
        <p:nvSpPr>
          <p:cNvPr id="12" name="Shape 10"/>
          <p:cNvSpPr/>
          <p:nvPr/>
        </p:nvSpPr>
        <p:spPr>
          <a:xfrm>
            <a:off x="4125773" y="2249424"/>
            <a:ext cx="332842" cy="128016"/>
          </a:xfrm>
          <a:prstGeom prst="roundRect">
            <a:avLst>
              <a:gd name="adj" fmla="val 42857"/>
            </a:avLst>
          </a:prstGeom>
          <a:solidFill>
            <a:srgbClr val="1FB5A8"/>
          </a:solidFill>
          <a:ln w="12700">
            <a:solidFill>
              <a:srgbClr val="1FB5A8"/>
            </a:solidFill>
            <a:prstDash val="solid"/>
          </a:ln>
        </p:spPr>
      </p:sp>
      <p:sp>
        <p:nvSpPr>
          <p:cNvPr id="13" name="Text 11"/>
          <p:cNvSpPr txBox="1"/>
          <p:nvPr/>
        </p:nvSpPr>
        <p:spPr>
          <a:xfrm>
            <a:off x="996696" y="2468880"/>
            <a:ext cx="2798064" cy="237744"/>
          </a:xfrm>
          <a:prstGeom prst="rect">
            <a:avLst/>
          </a:prstGeom>
          <a:noFill/>
          <a:ln/>
        </p:spPr>
        <p:txBody>
          <a:bodyPr wrap="square" lIns="0" tIns="0" rIns="0" bIns="0" rtlCol="0" anchor="ctr"/>
          <a:lstStyle/>
          <a:p>
            <a:pPr indent="0" marL="0">
              <a:buNone/>
            </a:pPr>
            <a:r>
              <a:rPr lang="en-US" sz="1000" dirty="0">
                <a:solidFill>
                  <a:srgbClr val="0B1320"/>
                </a:solidFill>
                <a:latin typeface="Courier New" pitchFamily="34" charset="0"/>
                <a:ea typeface="Courier New" pitchFamily="34" charset="-122"/>
                <a:cs typeface="Courier New" pitchFamily="34" charset="-120"/>
              </a:rPr>
              <a:t>GET /api/tasks</a:t>
            </a:r>
            <a:endParaRPr lang="en-US" sz="1000" dirty="0"/>
          </a:p>
        </p:txBody>
      </p:sp>
      <p:sp>
        <p:nvSpPr>
          <p:cNvPr id="14" name="Shape 12"/>
          <p:cNvSpPr/>
          <p:nvPr/>
        </p:nvSpPr>
        <p:spPr>
          <a:xfrm>
            <a:off x="4791456" y="2523744"/>
            <a:ext cx="285293" cy="128016"/>
          </a:xfrm>
          <a:prstGeom prst="roundRect">
            <a:avLst>
              <a:gd name="adj" fmla="val 42857"/>
            </a:avLst>
          </a:prstGeom>
          <a:solidFill>
            <a:srgbClr val="1FB5A8"/>
          </a:solidFill>
          <a:ln w="12700">
            <a:solidFill>
              <a:srgbClr val="1FB5A8"/>
            </a:solidFill>
            <a:prstDash val="solid"/>
          </a:ln>
        </p:spPr>
      </p:sp>
      <p:sp>
        <p:nvSpPr>
          <p:cNvPr id="15" name="Text 13"/>
          <p:cNvSpPr txBox="1"/>
          <p:nvPr/>
        </p:nvSpPr>
        <p:spPr>
          <a:xfrm>
            <a:off x="795528" y="2743200"/>
            <a:ext cx="2999232" cy="237744"/>
          </a:xfrm>
          <a:prstGeom prst="rect">
            <a:avLst/>
          </a:prstGeom>
          <a:noFill/>
          <a:ln/>
        </p:spPr>
        <p:txBody>
          <a:bodyPr wrap="square" lIns="0" tIns="0" rIns="0" bIns="0" rtlCol="0" anchor="ctr"/>
          <a:lstStyle/>
          <a:p>
            <a:pPr indent="0" marL="0">
              <a:buNone/>
            </a:pPr>
            <a:r>
              <a:rPr lang="en-US" sz="1000" b="1" dirty="0">
                <a:solidFill>
                  <a:srgbClr val="0B1320"/>
                </a:solidFill>
                <a:latin typeface="Arial" pitchFamily="34" charset="0"/>
                <a:ea typeface="Arial" pitchFamily="34" charset="-122"/>
                <a:cs typeface="Arial" pitchFamily="34" charset="-120"/>
              </a:rPr>
              <a:t>complete task</a:t>
            </a:r>
            <a:endParaRPr lang="en-US" sz="1000" dirty="0"/>
          </a:p>
        </p:txBody>
      </p:sp>
      <p:sp>
        <p:nvSpPr>
          <p:cNvPr id="16" name="Shape 14"/>
          <p:cNvSpPr/>
          <p:nvPr/>
        </p:nvSpPr>
        <p:spPr>
          <a:xfrm>
            <a:off x="5504688" y="2798064"/>
            <a:ext cx="1426464" cy="128016"/>
          </a:xfrm>
          <a:prstGeom prst="roundRect">
            <a:avLst>
              <a:gd name="adj" fmla="val 42857"/>
            </a:avLst>
          </a:prstGeom>
          <a:solidFill>
            <a:srgbClr val="F5A524"/>
          </a:solidFill>
          <a:ln w="12700">
            <a:solidFill>
              <a:srgbClr val="F5A524"/>
            </a:solidFill>
            <a:prstDash val="solid"/>
          </a:ln>
        </p:spPr>
      </p:sp>
      <p:sp>
        <p:nvSpPr>
          <p:cNvPr id="17" name="Text 15"/>
          <p:cNvSpPr txBox="1"/>
          <p:nvPr/>
        </p:nvSpPr>
        <p:spPr>
          <a:xfrm>
            <a:off x="996696" y="3017520"/>
            <a:ext cx="2798064" cy="237744"/>
          </a:xfrm>
          <a:prstGeom prst="rect">
            <a:avLst/>
          </a:prstGeom>
          <a:noFill/>
          <a:ln/>
        </p:spPr>
        <p:txBody>
          <a:bodyPr wrap="square" lIns="0" tIns="0" rIns="0" bIns="0" rtlCol="0" anchor="ctr"/>
          <a:lstStyle/>
          <a:p>
            <a:pPr indent="0" marL="0">
              <a:buNone/>
            </a:pPr>
            <a:r>
              <a:rPr lang="en-US" sz="1000" dirty="0">
                <a:solidFill>
                  <a:srgbClr val="0B1320"/>
                </a:solidFill>
                <a:latin typeface="Courier New" pitchFamily="34" charset="0"/>
                <a:ea typeface="Courier New" pitchFamily="34" charset="-122"/>
                <a:cs typeface="Courier New" pitchFamily="34" charset="-120"/>
              </a:rPr>
              <a:t>POST /api/tasks/&lt;id&gt;/complete</a:t>
            </a:r>
            <a:endParaRPr lang="en-US" sz="1000" dirty="0"/>
          </a:p>
        </p:txBody>
      </p:sp>
      <p:sp>
        <p:nvSpPr>
          <p:cNvPr id="18" name="Shape 16"/>
          <p:cNvSpPr/>
          <p:nvPr/>
        </p:nvSpPr>
        <p:spPr>
          <a:xfrm>
            <a:off x="5647334" y="3072384"/>
            <a:ext cx="475488" cy="128016"/>
          </a:xfrm>
          <a:prstGeom prst="roundRect">
            <a:avLst>
              <a:gd name="adj" fmla="val 42857"/>
            </a:avLst>
          </a:prstGeom>
          <a:solidFill>
            <a:srgbClr val="1FB5A8"/>
          </a:solidFill>
          <a:ln w="12700">
            <a:solidFill>
              <a:srgbClr val="1FB5A8"/>
            </a:solidFill>
            <a:prstDash val="solid"/>
          </a:ln>
        </p:spPr>
      </p:sp>
      <p:sp>
        <p:nvSpPr>
          <p:cNvPr id="19" name="Text 17"/>
          <p:cNvSpPr txBox="1"/>
          <p:nvPr/>
        </p:nvSpPr>
        <p:spPr>
          <a:xfrm>
            <a:off x="1197864" y="3291840"/>
            <a:ext cx="2596896" cy="237744"/>
          </a:xfrm>
          <a:prstGeom prst="rect">
            <a:avLst/>
          </a:prstGeom>
          <a:noFill/>
          <a:ln/>
        </p:spPr>
        <p:txBody>
          <a:bodyPr wrap="square" lIns="0" tIns="0" rIns="0" bIns="0" rtlCol="0" anchor="ctr"/>
          <a:lstStyle/>
          <a:p>
            <a:pPr indent="0" marL="0">
              <a:buNone/>
            </a:pPr>
            <a:r>
              <a:rPr lang="en-US" sz="1000" dirty="0">
                <a:solidFill>
                  <a:srgbClr val="0B1320"/>
                </a:solidFill>
                <a:latin typeface="Courier New" pitchFamily="34" charset="0"/>
                <a:ea typeface="Courier New" pitchFamily="34" charset="-122"/>
                <a:cs typeface="Courier New" pitchFamily="34" charset="-120"/>
              </a:rPr>
              <a:t>complete_task</a:t>
            </a:r>
            <a:endParaRPr lang="en-US" sz="1000" dirty="0"/>
          </a:p>
        </p:txBody>
      </p:sp>
      <p:sp>
        <p:nvSpPr>
          <p:cNvPr id="20" name="Shape 18"/>
          <p:cNvSpPr/>
          <p:nvPr/>
        </p:nvSpPr>
        <p:spPr>
          <a:xfrm>
            <a:off x="5694883" y="3346704"/>
            <a:ext cx="332842" cy="128016"/>
          </a:xfrm>
          <a:prstGeom prst="roundRect">
            <a:avLst>
              <a:gd name="adj" fmla="val 42857"/>
            </a:avLst>
          </a:prstGeom>
          <a:solidFill>
            <a:srgbClr val="1FB5A8"/>
          </a:solidFill>
          <a:ln w="12700">
            <a:solidFill>
              <a:srgbClr val="1FB5A8"/>
            </a:solidFill>
            <a:prstDash val="solid"/>
          </a:ln>
        </p:spPr>
      </p:sp>
      <p:sp>
        <p:nvSpPr>
          <p:cNvPr id="21" name="Text 19"/>
          <p:cNvSpPr txBox="1"/>
          <p:nvPr/>
        </p:nvSpPr>
        <p:spPr>
          <a:xfrm>
            <a:off x="795528" y="3566160"/>
            <a:ext cx="2999232" cy="237744"/>
          </a:xfrm>
          <a:prstGeom prst="rect">
            <a:avLst/>
          </a:prstGeom>
          <a:noFill/>
          <a:ln/>
        </p:spPr>
        <p:txBody>
          <a:bodyPr wrap="square" lIns="0" tIns="0" rIns="0" bIns="0" rtlCol="0" anchor="ctr"/>
          <a:lstStyle/>
          <a:p>
            <a:pPr indent="0" marL="0">
              <a:buNone/>
            </a:pPr>
            <a:r>
              <a:rPr lang="en-US" sz="1000" b="1" dirty="0">
                <a:solidFill>
                  <a:srgbClr val="0B1320"/>
                </a:solidFill>
                <a:latin typeface="Arial" pitchFamily="34" charset="0"/>
                <a:ea typeface="Arial" pitchFamily="34" charset="-122"/>
                <a:cs typeface="Arial" pitchFamily="34" charset="-120"/>
              </a:rPr>
              <a:t>delete task</a:t>
            </a:r>
            <a:endParaRPr lang="en-US" sz="1000" dirty="0"/>
          </a:p>
        </p:txBody>
      </p:sp>
      <p:sp>
        <p:nvSpPr>
          <p:cNvPr id="22" name="Shape 20"/>
          <p:cNvSpPr/>
          <p:nvPr/>
        </p:nvSpPr>
        <p:spPr>
          <a:xfrm>
            <a:off x="7073798" y="3621024"/>
            <a:ext cx="1426464" cy="128016"/>
          </a:xfrm>
          <a:prstGeom prst="roundRect">
            <a:avLst>
              <a:gd name="adj" fmla="val 42857"/>
            </a:avLst>
          </a:prstGeom>
          <a:solidFill>
            <a:srgbClr val="F5A524"/>
          </a:solidFill>
          <a:ln w="12700">
            <a:solidFill>
              <a:srgbClr val="F5A524"/>
            </a:solidFill>
            <a:prstDash val="solid"/>
          </a:ln>
        </p:spPr>
      </p:sp>
      <p:sp>
        <p:nvSpPr>
          <p:cNvPr id="23" name="Text 21"/>
          <p:cNvSpPr txBox="1"/>
          <p:nvPr/>
        </p:nvSpPr>
        <p:spPr>
          <a:xfrm>
            <a:off x="996696" y="3840480"/>
            <a:ext cx="2798064" cy="237744"/>
          </a:xfrm>
          <a:prstGeom prst="rect">
            <a:avLst/>
          </a:prstGeom>
          <a:noFill/>
          <a:ln/>
        </p:spPr>
        <p:txBody>
          <a:bodyPr wrap="square" lIns="0" tIns="0" rIns="0" bIns="0" rtlCol="0" anchor="ctr"/>
          <a:lstStyle/>
          <a:p>
            <a:pPr indent="0" marL="0">
              <a:buNone/>
            </a:pPr>
            <a:r>
              <a:rPr lang="en-US" sz="1000" dirty="0">
                <a:solidFill>
                  <a:srgbClr val="0B1320"/>
                </a:solidFill>
                <a:latin typeface="Courier New" pitchFamily="34" charset="0"/>
                <a:ea typeface="Courier New" pitchFamily="34" charset="-122"/>
                <a:cs typeface="Courier New" pitchFamily="34" charset="-120"/>
              </a:rPr>
              <a:t>DELETE /api/tasks/&lt;id&gt;</a:t>
            </a:r>
            <a:endParaRPr lang="en-US" sz="1000" dirty="0"/>
          </a:p>
        </p:txBody>
      </p:sp>
      <p:sp>
        <p:nvSpPr>
          <p:cNvPr id="24" name="Shape 22"/>
          <p:cNvSpPr/>
          <p:nvPr/>
        </p:nvSpPr>
        <p:spPr>
          <a:xfrm>
            <a:off x="7216445" y="3895344"/>
            <a:ext cx="475488" cy="128016"/>
          </a:xfrm>
          <a:prstGeom prst="roundRect">
            <a:avLst>
              <a:gd name="adj" fmla="val 42857"/>
            </a:avLst>
          </a:prstGeom>
          <a:solidFill>
            <a:srgbClr val="1FB5A8"/>
          </a:solidFill>
          <a:ln w="12700">
            <a:solidFill>
              <a:srgbClr val="1FB5A8"/>
            </a:solidFill>
            <a:prstDash val="solid"/>
          </a:ln>
        </p:spPr>
      </p:sp>
      <p:sp>
        <p:nvSpPr>
          <p:cNvPr id="25" name="Text 23"/>
          <p:cNvSpPr txBox="1"/>
          <p:nvPr/>
        </p:nvSpPr>
        <p:spPr>
          <a:xfrm>
            <a:off x="1197864" y="4114800"/>
            <a:ext cx="2596896" cy="237744"/>
          </a:xfrm>
          <a:prstGeom prst="rect">
            <a:avLst/>
          </a:prstGeom>
          <a:noFill/>
          <a:ln/>
        </p:spPr>
        <p:txBody>
          <a:bodyPr wrap="square" lIns="0" tIns="0" rIns="0" bIns="0" rtlCol="0" anchor="ctr"/>
          <a:lstStyle/>
          <a:p>
            <a:pPr indent="0" marL="0">
              <a:buNone/>
            </a:pPr>
            <a:r>
              <a:rPr lang="en-US" sz="1000" dirty="0">
                <a:solidFill>
                  <a:srgbClr val="0B1320"/>
                </a:solidFill>
                <a:latin typeface="Courier New" pitchFamily="34" charset="0"/>
                <a:ea typeface="Courier New" pitchFamily="34" charset="-122"/>
                <a:cs typeface="Courier New" pitchFamily="34" charset="-120"/>
              </a:rPr>
              <a:t>delete_task</a:t>
            </a:r>
            <a:endParaRPr lang="en-US" sz="1000" dirty="0"/>
          </a:p>
        </p:txBody>
      </p:sp>
      <p:sp>
        <p:nvSpPr>
          <p:cNvPr id="26" name="Shape 24"/>
          <p:cNvSpPr/>
          <p:nvPr/>
        </p:nvSpPr>
        <p:spPr>
          <a:xfrm>
            <a:off x="7263994" y="4169664"/>
            <a:ext cx="332842" cy="128016"/>
          </a:xfrm>
          <a:prstGeom prst="roundRect">
            <a:avLst>
              <a:gd name="adj" fmla="val 42857"/>
            </a:avLst>
          </a:prstGeom>
          <a:solidFill>
            <a:srgbClr val="1FB5A8"/>
          </a:solidFill>
          <a:ln w="12700">
            <a:solidFill>
              <a:srgbClr val="1FB5A8"/>
            </a:solidFill>
            <a:prstDash val="solid"/>
          </a:ln>
        </p:spPr>
      </p:sp>
      <p:sp>
        <p:nvSpPr>
          <p:cNvPr id="27" name="Shape 25"/>
          <p:cNvSpPr/>
          <p:nvPr/>
        </p:nvSpPr>
        <p:spPr>
          <a:xfrm>
            <a:off x="457200" y="4572000"/>
            <a:ext cx="128016" cy="128016"/>
          </a:xfrm>
          <a:prstGeom prst="ellipse">
            <a:avLst/>
          </a:prstGeom>
          <a:solidFill>
            <a:srgbClr val="F5A524"/>
          </a:solidFill>
          <a:ln w="12700">
            <a:solidFill>
              <a:srgbClr val="F5A524"/>
            </a:solidFill>
            <a:prstDash val="solid"/>
          </a:ln>
        </p:spPr>
      </p:sp>
      <p:sp>
        <p:nvSpPr>
          <p:cNvPr id="28" name="Text 26"/>
          <p:cNvSpPr txBox="1"/>
          <p:nvPr/>
        </p:nvSpPr>
        <p:spPr>
          <a:xfrm>
            <a:off x="640080" y="4535424"/>
            <a:ext cx="1371600" cy="201168"/>
          </a:xfrm>
          <a:prstGeom prst="rect">
            <a:avLst/>
          </a:prstGeom>
          <a:noFill/>
          <a:ln/>
        </p:spPr>
        <p:txBody>
          <a:bodyPr wrap="square" lIns="0" tIns="0" rIns="0" bIns="0" rtlCol="0" anchor="ctr"/>
          <a:lstStyle/>
          <a:p>
            <a:pPr indent="0" marL="0">
              <a:buNone/>
            </a:pPr>
            <a:r>
              <a:rPr lang="en-US" sz="1000" dirty="0">
                <a:solidFill>
                  <a:srgbClr val="5B6577"/>
                </a:solidFill>
                <a:latin typeface="Arial" pitchFamily="34" charset="0"/>
                <a:ea typeface="Arial" pitchFamily="34" charset="-122"/>
                <a:cs typeface="Arial" pitchFamily="34" charset="-120"/>
              </a:rPr>
              <a:t>selenium-tests</a:t>
            </a:r>
            <a:endParaRPr lang="en-US" sz="1000" dirty="0"/>
          </a:p>
        </p:txBody>
      </p:sp>
      <p:sp>
        <p:nvSpPr>
          <p:cNvPr id="29" name="Shape 27"/>
          <p:cNvSpPr/>
          <p:nvPr/>
        </p:nvSpPr>
        <p:spPr>
          <a:xfrm>
            <a:off x="2011680" y="4572000"/>
            <a:ext cx="128016" cy="128016"/>
          </a:xfrm>
          <a:prstGeom prst="ellipse">
            <a:avLst/>
          </a:prstGeom>
          <a:solidFill>
            <a:srgbClr val="1FB5A8"/>
          </a:solidFill>
          <a:ln w="12700">
            <a:solidFill>
              <a:srgbClr val="1FB5A8"/>
            </a:solidFill>
            <a:prstDash val="solid"/>
          </a:ln>
        </p:spPr>
      </p:sp>
      <p:sp>
        <p:nvSpPr>
          <p:cNvPr id="30" name="Text 28"/>
          <p:cNvSpPr txBox="1"/>
          <p:nvPr/>
        </p:nvSpPr>
        <p:spPr>
          <a:xfrm>
            <a:off x="2194560" y="4535424"/>
            <a:ext cx="1371600" cy="201168"/>
          </a:xfrm>
          <a:prstGeom prst="rect">
            <a:avLst/>
          </a:prstGeom>
          <a:noFill/>
          <a:ln/>
        </p:spPr>
        <p:txBody>
          <a:bodyPr wrap="square" lIns="0" tIns="0" rIns="0" bIns="0" rtlCol="0" anchor="ctr"/>
          <a:lstStyle/>
          <a:p>
            <a:pPr indent="0" marL="0">
              <a:buNone/>
            </a:pPr>
            <a:r>
              <a:rPr lang="en-US" sz="1000" dirty="0">
                <a:solidFill>
                  <a:srgbClr val="5B6577"/>
                </a:solidFill>
                <a:latin typeface="Arial" pitchFamily="34" charset="0"/>
                <a:ea typeface="Arial" pitchFamily="34" charset="-122"/>
                <a:cs typeface="Arial" pitchFamily="34" charset="-120"/>
              </a:rPr>
              <a:t>todo-app</a:t>
            </a:r>
            <a:endParaRPr lang="en-US" sz="1000" dirty="0"/>
          </a:p>
        </p:txBody>
      </p:sp>
      <p:sp>
        <p:nvSpPr>
          <p:cNvPr id="31" name="Text 29"/>
          <p:cNvSpPr txBox="1"/>
          <p:nvPr/>
        </p:nvSpPr>
        <p:spPr>
          <a:xfrm>
            <a:off x="6400800" y="4535424"/>
            <a:ext cx="2286000" cy="201168"/>
          </a:xfrm>
          <a:prstGeom prst="rect">
            <a:avLst/>
          </a:prstGeom>
          <a:noFill/>
          <a:ln/>
        </p:spPr>
        <p:txBody>
          <a:bodyPr wrap="square" lIns="0" tIns="0" rIns="0" bIns="0" rtlCol="0" anchor="ctr"/>
          <a:lstStyle/>
          <a:p>
            <a:pPr algn="r" indent="0" marL="0">
              <a:buNone/>
            </a:pPr>
            <a:r>
              <a:rPr lang="en-US" sz="1000" i="1" dirty="0">
                <a:solidFill>
                  <a:srgbClr val="5B6577"/>
                </a:solidFill>
                <a:latin typeface="Arial" pitchFamily="34" charset="0"/>
                <a:ea typeface="Arial" pitchFamily="34" charset="-122"/>
                <a:cs typeface="Arial" pitchFamily="34" charset="-120"/>
              </a:rPr>
              <a:t>Illustrative timings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64592"/>
            <a:ext cx="8229600" cy="228600"/>
          </a:xfrm>
          <a:prstGeom prst="rect">
            <a:avLst/>
          </a:prstGeom>
          <a:noFill/>
          <a:ln/>
        </p:spPr>
        <p:txBody>
          <a:bodyPr wrap="square" lIns="0" tIns="0" rIns="0" bIns="0" rtlCol="0" anchor="t"/>
          <a:lstStyle/>
          <a:p>
            <a:pPr indent="0" marL="0">
              <a:buNone/>
            </a:pPr>
            <a:r>
              <a:rPr lang="en-US" sz="1000" b="1" spc="300" kern="0" dirty="0">
                <a:solidFill>
                  <a:srgbClr val="B7770A"/>
                </a:solidFill>
                <a:latin typeface="Arial" pitchFamily="34" charset="0"/>
                <a:ea typeface="Arial" pitchFamily="34" charset="-122"/>
                <a:cs typeface="Arial" pitchFamily="34" charset="-120"/>
              </a:rPr>
              <a:t>LESSONS FROM BUILDING IT</a:t>
            </a:r>
            <a:endParaRPr lang="en-US" sz="1000" dirty="0"/>
          </a:p>
        </p:txBody>
      </p:sp>
      <p:sp>
        <p:nvSpPr>
          <p:cNvPr id="3" name="Text 1"/>
          <p:cNvSpPr txBox="1"/>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0B1320"/>
                </a:solidFill>
                <a:latin typeface="Arial" pitchFamily="34" charset="0"/>
                <a:ea typeface="Arial" pitchFamily="34" charset="-122"/>
                <a:cs typeface="Arial" pitchFamily="34" charset="-120"/>
              </a:rPr>
              <a:t>Two gotchas that will bite you</a:t>
            </a:r>
            <a:endParaRPr lang="en-US" sz="3000" dirty="0"/>
          </a:p>
        </p:txBody>
      </p:sp>
      <p:sp>
        <p:nvSpPr>
          <p:cNvPr id="4" name="Shape 2"/>
          <p:cNvSpPr/>
          <p:nvPr/>
        </p:nvSpPr>
        <p:spPr>
          <a:xfrm>
            <a:off x="457200" y="1325880"/>
            <a:ext cx="4023360" cy="3200400"/>
          </a:xfrm>
          <a:prstGeom prst="roundRect">
            <a:avLst>
              <a:gd name="adj" fmla="val 2286"/>
            </a:avLst>
          </a:prstGeom>
          <a:solidFill>
            <a:srgbClr val="F1F4F8"/>
          </a:solidFill>
          <a:ln w="12700">
            <a:solidFill>
              <a:srgbClr val="F1F4F8"/>
            </a:solidFill>
            <a:prstDash val="solid"/>
          </a:ln>
        </p:spPr>
      </p:sp>
      <p:sp>
        <p:nvSpPr>
          <p:cNvPr id="5" name="Shape 3"/>
          <p:cNvSpPr/>
          <p:nvPr/>
        </p:nvSpPr>
        <p:spPr>
          <a:xfrm>
            <a:off x="685800" y="1536192"/>
            <a:ext cx="384048" cy="384048"/>
          </a:xfrm>
          <a:prstGeom prst="ellipse">
            <a:avLst/>
          </a:prstGeom>
          <a:solidFill>
            <a:srgbClr val="E5484D"/>
          </a:solidFill>
          <a:ln w="12700">
            <a:solidFill>
              <a:srgbClr val="E5484D"/>
            </a:solidFill>
            <a:prstDash val="solid"/>
          </a:ln>
        </p:spPr>
      </p:sp>
      <p:sp>
        <p:nvSpPr>
          <p:cNvPr id="6" name="Text 4"/>
          <p:cNvSpPr txBox="1"/>
          <p:nvPr/>
        </p:nvSpPr>
        <p:spPr>
          <a:xfrm>
            <a:off x="685800" y="1536192"/>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7" name="Text 5"/>
          <p:cNvSpPr txBox="1"/>
          <p:nvPr/>
        </p:nvSpPr>
        <p:spPr>
          <a:xfrm>
            <a:off x="1234440" y="1508760"/>
            <a:ext cx="3108960" cy="457200"/>
          </a:xfrm>
          <a:prstGeom prst="rect">
            <a:avLst/>
          </a:prstGeom>
          <a:noFill/>
          <a:ln/>
        </p:spPr>
        <p:txBody>
          <a:bodyPr wrap="square" lIns="0" tIns="0" rIns="0" bIns="0" rtlCol="0" anchor="ctr"/>
          <a:lstStyle/>
          <a:p>
            <a:pPr indent="0" marL="0">
              <a:buNone/>
            </a:pPr>
            <a:r>
              <a:rPr lang="en-US" sz="1400" b="1" dirty="0">
                <a:solidFill>
                  <a:srgbClr val="0B1320"/>
                </a:solidFill>
                <a:latin typeface="Arial" pitchFamily="34" charset="0"/>
                <a:ea typeface="Arial" pitchFamily="34" charset="-122"/>
                <a:cs typeface="Arial" pitchFamily="34" charset="-120"/>
              </a:rPr>
              <a:t>Navigate with BiDi, not driver.get()</a:t>
            </a:r>
            <a:endParaRPr lang="en-US" sz="1400" dirty="0"/>
          </a:p>
        </p:txBody>
      </p:sp>
      <p:sp>
        <p:nvSpPr>
          <p:cNvPr id="8" name="Text 6"/>
          <p:cNvSpPr txBox="1"/>
          <p:nvPr/>
        </p:nvSpPr>
        <p:spPr>
          <a:xfrm>
            <a:off x="685800" y="2103120"/>
            <a:ext cx="3566160" cy="1188720"/>
          </a:xfrm>
          <a:prstGeom prst="rect">
            <a:avLst/>
          </a:prstGeom>
          <a:noFill/>
          <a:ln/>
        </p:spPr>
        <p:txBody>
          <a:bodyPr wrap="square" lIns="0" tIns="0" rIns="0" bIns="0" rtlCol="0" anchor="t"/>
          <a:lstStyle/>
          <a:p>
            <a:pPr indent="0" marL="0">
              <a:buNone/>
            </a:pPr>
            <a:r>
              <a:rPr lang="en-US" sz="1200" dirty="0">
                <a:solidFill>
                  <a:srgbClr val="5B6577"/>
                </a:solidFill>
                <a:latin typeface="Arial" pitchFamily="34" charset="0"/>
                <a:ea typeface="Arial" pitchFamily="34" charset="-122"/>
                <a:cs typeface="Arial" pitchFamily="34" charset="-120"/>
              </a:rPr>
              <a:t>With a network intercept active, classic navigation never gets its load signal and times out: “Timed out receiving message from renderer”.</a:t>
            </a:r>
            <a:endParaRPr lang="en-US" sz="1200" dirty="0"/>
          </a:p>
        </p:txBody>
      </p:sp>
      <p:sp>
        <p:nvSpPr>
          <p:cNvPr id="9" name="Shape 7"/>
          <p:cNvSpPr/>
          <p:nvPr/>
        </p:nvSpPr>
        <p:spPr>
          <a:xfrm>
            <a:off x="685800" y="3383280"/>
            <a:ext cx="3566160" cy="914400"/>
          </a:xfrm>
          <a:prstGeom prst="roundRect">
            <a:avLst>
              <a:gd name="adj" fmla="val 8000"/>
            </a:avLst>
          </a:prstGeom>
          <a:solidFill>
            <a:srgbClr val="0F1A2B"/>
          </a:solidFill>
          <a:ln w="12700">
            <a:solidFill>
              <a:srgbClr val="0F1A2B"/>
            </a:solidFill>
            <a:prstDash val="solid"/>
          </a:ln>
        </p:spPr>
      </p:sp>
      <p:sp>
        <p:nvSpPr>
          <p:cNvPr id="10" name="Text 8"/>
          <p:cNvSpPr txBox="1"/>
          <p:nvPr/>
        </p:nvSpPr>
        <p:spPr>
          <a:xfrm>
            <a:off x="822960" y="3474720"/>
            <a:ext cx="3291840" cy="731520"/>
          </a:xfrm>
          <a:prstGeom prst="rect">
            <a:avLst/>
          </a:prstGeom>
          <a:noFill/>
          <a:ln/>
        </p:spPr>
        <p:txBody>
          <a:bodyPr wrap="square" lIns="0" tIns="0" rIns="0" bIns="0" rtlCol="0" anchor="ctr"/>
          <a:lstStyle/>
          <a:p>
            <a:pPr indent="0" marL="0">
              <a:buNone/>
            </a:pPr>
            <a:r>
              <a:rPr lang="en-US" sz="950" dirty="0">
                <a:solidFill>
                  <a:srgbClr val="E6EDF3"/>
                </a:solidFill>
                <a:latin typeface="Courier New" pitchFamily="34" charset="0"/>
                <a:ea typeface="Courier New" pitchFamily="34" charset="-122"/>
                <a:cs typeface="Courier New" pitchFamily="34" charset="-120"/>
              </a:rPr>
              <a:t>driver.browsing_context.navigate(handle, url, wait="complete")</a:t>
            </a:r>
            <a:endParaRPr lang="en-US" sz="950" dirty="0"/>
          </a:p>
        </p:txBody>
      </p:sp>
      <p:sp>
        <p:nvSpPr>
          <p:cNvPr id="11" name="Shape 9"/>
          <p:cNvSpPr/>
          <p:nvPr/>
        </p:nvSpPr>
        <p:spPr>
          <a:xfrm>
            <a:off x="4663440" y="1325880"/>
            <a:ext cx="4023360" cy="3200400"/>
          </a:xfrm>
          <a:prstGeom prst="roundRect">
            <a:avLst>
              <a:gd name="adj" fmla="val 2286"/>
            </a:avLst>
          </a:prstGeom>
          <a:solidFill>
            <a:srgbClr val="F1F4F8"/>
          </a:solidFill>
          <a:ln w="12700">
            <a:solidFill>
              <a:srgbClr val="F1F4F8"/>
            </a:solidFill>
            <a:prstDash val="solid"/>
          </a:ln>
        </p:spPr>
      </p:sp>
      <p:sp>
        <p:nvSpPr>
          <p:cNvPr id="12" name="Shape 10"/>
          <p:cNvSpPr/>
          <p:nvPr/>
        </p:nvSpPr>
        <p:spPr>
          <a:xfrm>
            <a:off x="4892040" y="1536192"/>
            <a:ext cx="384048" cy="384048"/>
          </a:xfrm>
          <a:prstGeom prst="ellipse">
            <a:avLst/>
          </a:prstGeom>
          <a:solidFill>
            <a:srgbClr val="E5484D"/>
          </a:solidFill>
          <a:ln w="12700">
            <a:solidFill>
              <a:srgbClr val="E5484D"/>
            </a:solidFill>
            <a:prstDash val="solid"/>
          </a:ln>
        </p:spPr>
      </p:sp>
      <p:sp>
        <p:nvSpPr>
          <p:cNvPr id="13" name="Text 11"/>
          <p:cNvSpPr txBox="1"/>
          <p:nvPr/>
        </p:nvSpPr>
        <p:spPr>
          <a:xfrm>
            <a:off x="4892040" y="1536192"/>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14" name="Text 12"/>
          <p:cNvSpPr txBox="1"/>
          <p:nvPr/>
        </p:nvSpPr>
        <p:spPr>
          <a:xfrm>
            <a:off x="5440680" y="1508760"/>
            <a:ext cx="3108960" cy="457200"/>
          </a:xfrm>
          <a:prstGeom prst="rect">
            <a:avLst/>
          </a:prstGeom>
          <a:noFill/>
          <a:ln/>
        </p:spPr>
        <p:txBody>
          <a:bodyPr wrap="square" lIns="0" tIns="0" rIns="0" bIns="0" rtlCol="0" anchor="ctr"/>
          <a:lstStyle/>
          <a:p>
            <a:pPr indent="0" marL="0">
              <a:buNone/>
            </a:pPr>
            <a:r>
              <a:rPr lang="en-US" sz="1400" b="1" dirty="0">
                <a:solidFill>
                  <a:srgbClr val="0B1320"/>
                </a:solidFill>
                <a:latin typeface="Arial" pitchFamily="34" charset="0"/>
                <a:ea typeface="Arial" pitchFamily="34" charset="-122"/>
                <a:cs typeface="Arial" pitchFamily="34" charset="-120"/>
              </a:rPr>
              <a:t>Serialise continue_request()</a:t>
            </a:r>
            <a:endParaRPr lang="en-US" sz="1400" dirty="0"/>
          </a:p>
        </p:txBody>
      </p:sp>
      <p:sp>
        <p:nvSpPr>
          <p:cNvPr id="15" name="Text 13"/>
          <p:cNvSpPr txBox="1"/>
          <p:nvPr/>
        </p:nvSpPr>
        <p:spPr>
          <a:xfrm>
            <a:off x="4892040" y="2103120"/>
            <a:ext cx="3566160" cy="1188720"/>
          </a:xfrm>
          <a:prstGeom prst="rect">
            <a:avLst/>
          </a:prstGeom>
          <a:noFill/>
          <a:ln/>
        </p:spPr>
        <p:txBody>
          <a:bodyPr wrap="square" lIns="0" tIns="0" rIns="0" bIns="0" rtlCol="0" anchor="t"/>
          <a:lstStyle/>
          <a:p>
            <a:pPr indent="0" marL="0">
              <a:buNone/>
            </a:pPr>
            <a:r>
              <a:rPr lang="en-US" sz="1200" dirty="0">
                <a:solidFill>
                  <a:srgbClr val="5B6577"/>
                </a:solidFill>
                <a:latin typeface="Arial" pitchFamily="34" charset="0"/>
                <a:ea typeface="Arial" pitchFamily="34" charset="-122"/>
                <a:cs typeface="Arial" pitchFamily="34" charset="-120"/>
              </a:rPr>
              <a:t>The Python BiDi websocket isn't thread-safe. Concurrent calls interleave frames and drop the connection, leaving requests hung.</a:t>
            </a:r>
            <a:endParaRPr lang="en-US" sz="1200" dirty="0"/>
          </a:p>
        </p:txBody>
      </p:sp>
      <p:sp>
        <p:nvSpPr>
          <p:cNvPr id="16" name="Shape 14"/>
          <p:cNvSpPr/>
          <p:nvPr/>
        </p:nvSpPr>
        <p:spPr>
          <a:xfrm>
            <a:off x="4892040" y="3383280"/>
            <a:ext cx="3566160" cy="914400"/>
          </a:xfrm>
          <a:prstGeom prst="roundRect">
            <a:avLst>
              <a:gd name="adj" fmla="val 8000"/>
            </a:avLst>
          </a:prstGeom>
          <a:solidFill>
            <a:srgbClr val="0F1A2B"/>
          </a:solidFill>
          <a:ln w="12700">
            <a:solidFill>
              <a:srgbClr val="0F1A2B"/>
            </a:solidFill>
            <a:prstDash val="solid"/>
          </a:ln>
        </p:spPr>
      </p:sp>
      <p:sp>
        <p:nvSpPr>
          <p:cNvPr id="17" name="Text 15"/>
          <p:cNvSpPr txBox="1"/>
          <p:nvPr/>
        </p:nvSpPr>
        <p:spPr>
          <a:xfrm>
            <a:off x="5029200" y="3474720"/>
            <a:ext cx="3291840" cy="731520"/>
          </a:xfrm>
          <a:prstGeom prst="rect">
            <a:avLst/>
          </a:prstGeom>
          <a:noFill/>
          <a:ln/>
        </p:spPr>
        <p:txBody>
          <a:bodyPr wrap="square" lIns="0" tIns="0" rIns="0" bIns="0" rtlCol="0" anchor="ctr"/>
          <a:lstStyle/>
          <a:p>
            <a:pPr indent="0" marL="0">
              <a:buNone/>
            </a:pPr>
            <a:r>
              <a:rPr lang="en-US" sz="950" dirty="0">
                <a:solidFill>
                  <a:srgbClr val="E6EDF3"/>
                </a:solidFill>
                <a:latin typeface="Courier New" pitchFamily="34" charset="0"/>
                <a:ea typeface="Courier New" pitchFamily="34" charset="-122"/>
                <a:cs typeface="Courier New" pitchFamily="34" charset="-120"/>
              </a:rPr>
              <a:t>with _SEND_LOCK:</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request.continue_request(headers=headers)</a:t>
            </a:r>
            <a:endParaRPr lang="en-US" sz="950" dirty="0"/>
          </a:p>
        </p:txBody>
      </p:sp>
      <p:sp>
        <p:nvSpPr>
          <p:cNvPr id="18" name="Text 16"/>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5B6577"/>
                </a:solidFill>
                <a:latin typeface="Arial" pitchFamily="34" charset="0"/>
                <a:ea typeface="Arial" pitchFamily="34" charset="-122"/>
                <a:cs typeface="Arial" pitchFamily="34" charset="-120"/>
              </a:rPr>
              <a:t>Stop guessing, start seeing  ·  Motacon 2026</a:t>
            </a:r>
            <a:endParaRPr lang="en-US" sz="800" dirty="0"/>
          </a:p>
        </p:txBody>
      </p:sp>
      <p:sp>
        <p:nvSpPr>
          <p:cNvPr id="19" name="Text 17"/>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00" dirty="0">
                <a:solidFill>
                  <a:srgbClr val="5B6577"/>
                </a:solidFill>
                <a:latin typeface="Arial" pitchFamily="34" charset="0"/>
                <a:ea typeface="Arial" pitchFamily="34" charset="-122"/>
                <a:cs typeface="Arial"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320"/>
        </a:solidFill>
      </p:bgPr>
    </p:bg>
    <p:spTree>
      <p:nvGrpSpPr>
        <p:cNvPr id="1" name=""/>
        <p:cNvGrpSpPr/>
        <p:nvPr/>
      </p:nvGrpSpPr>
      <p:grpSpPr>
        <a:xfrm>
          <a:off x="0" y="0"/>
          <a:ext cx="0" cy="0"/>
          <a:chOff x="0" y="0"/>
          <a:chExt cx="0" cy="0"/>
        </a:xfrm>
      </p:grpSpPr>
      <p:sp>
        <p:nvSpPr>
          <p:cNvPr id="2" name="Shape 0"/>
          <p:cNvSpPr/>
          <p:nvPr/>
        </p:nvSpPr>
        <p:spPr>
          <a:xfrm>
            <a:off x="548640" y="1371600"/>
            <a:ext cx="1152144" cy="115214"/>
          </a:xfrm>
          <a:prstGeom prst="roundRect">
            <a:avLst>
              <a:gd name="adj" fmla="val 47619"/>
            </a:avLst>
          </a:prstGeom>
          <a:solidFill>
            <a:srgbClr val="F5A524"/>
          </a:solidFill>
          <a:ln w="12700">
            <a:solidFill>
              <a:srgbClr val="F5A524"/>
            </a:solidFill>
            <a:prstDash val="solid"/>
          </a:ln>
        </p:spPr>
      </p:sp>
      <p:sp>
        <p:nvSpPr>
          <p:cNvPr id="3" name="Shape 1"/>
          <p:cNvSpPr/>
          <p:nvPr/>
        </p:nvSpPr>
        <p:spPr>
          <a:xfrm>
            <a:off x="740664" y="1576426"/>
            <a:ext cx="768096" cy="115214"/>
          </a:xfrm>
          <a:prstGeom prst="roundRect">
            <a:avLst>
              <a:gd name="adj" fmla="val 47619"/>
            </a:avLst>
          </a:prstGeom>
          <a:solidFill>
            <a:srgbClr val="8B7CF6"/>
          </a:solidFill>
          <a:ln w="12700">
            <a:solidFill>
              <a:srgbClr val="8B7CF6"/>
            </a:solidFill>
            <a:prstDash val="solid"/>
          </a:ln>
        </p:spPr>
      </p:sp>
      <p:sp>
        <p:nvSpPr>
          <p:cNvPr id="4" name="Shape 2"/>
          <p:cNvSpPr/>
          <p:nvPr/>
        </p:nvSpPr>
        <p:spPr>
          <a:xfrm>
            <a:off x="932688" y="1781251"/>
            <a:ext cx="512064" cy="115214"/>
          </a:xfrm>
          <a:prstGeom prst="roundRect">
            <a:avLst>
              <a:gd name="adj" fmla="val 47619"/>
            </a:avLst>
          </a:prstGeom>
          <a:solidFill>
            <a:srgbClr val="1FB5A8"/>
          </a:solidFill>
          <a:ln w="12700">
            <a:solidFill>
              <a:srgbClr val="1FB5A8"/>
            </a:solidFill>
            <a:prstDash val="solid"/>
          </a:ln>
        </p:spPr>
      </p:sp>
      <p:sp>
        <p:nvSpPr>
          <p:cNvPr id="5" name="Text 3"/>
          <p:cNvSpPr txBox="1"/>
          <p:nvPr/>
        </p:nvSpPr>
        <p:spPr>
          <a:xfrm>
            <a:off x="548640" y="2148840"/>
            <a:ext cx="7315200" cy="274320"/>
          </a:xfrm>
          <a:prstGeom prst="rect">
            <a:avLst/>
          </a:prstGeom>
          <a:noFill/>
          <a:ln/>
        </p:spPr>
        <p:txBody>
          <a:bodyPr wrap="square" lIns="0" tIns="0" rIns="0" bIns="0" rtlCol="0" anchor="t"/>
          <a:lstStyle/>
          <a:p>
            <a:pPr indent="0" marL="0">
              <a:buNone/>
            </a:pPr>
            <a:r>
              <a:rPr lang="en-US" sz="1200" b="1" spc="400" kern="0" dirty="0">
                <a:solidFill>
                  <a:srgbClr val="F5A524"/>
                </a:solidFill>
                <a:latin typeface="Arial" pitchFamily="34" charset="0"/>
                <a:ea typeface="Arial" pitchFamily="34" charset="-122"/>
                <a:cs typeface="Arial" pitchFamily="34" charset="-120"/>
              </a:rPr>
              <a:t>PART 3</a:t>
            </a:r>
            <a:endParaRPr lang="en-US" sz="1200" dirty="0"/>
          </a:p>
        </p:txBody>
      </p:sp>
      <p:sp>
        <p:nvSpPr>
          <p:cNvPr id="6" name="Text 4"/>
          <p:cNvSpPr txBox="1"/>
          <p:nvPr/>
        </p:nvSpPr>
        <p:spPr>
          <a:xfrm>
            <a:off x="548640" y="2468880"/>
            <a:ext cx="7863840" cy="82296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From production traces to tests</a:t>
            </a:r>
            <a:endParaRPr lang="en-US" sz="3800" dirty="0"/>
          </a:p>
        </p:txBody>
      </p:sp>
      <p:sp>
        <p:nvSpPr>
          <p:cNvPr id="7" name="Text 5"/>
          <p:cNvSpPr txBox="1"/>
          <p:nvPr/>
        </p:nvSpPr>
        <p:spPr>
          <a:xfrm>
            <a:off x="548640" y="3291840"/>
            <a:ext cx="7315200" cy="548640"/>
          </a:xfrm>
          <a:prstGeom prst="rect">
            <a:avLst/>
          </a:prstGeom>
          <a:noFill/>
          <a:ln/>
        </p:spPr>
        <p:txBody>
          <a:bodyPr wrap="square" lIns="0" tIns="0" rIns="0" bIns="0" rtlCol="0" anchor="t"/>
          <a:lstStyle/>
          <a:p>
            <a:pPr indent="0" marL="0">
              <a:buNone/>
            </a:pPr>
            <a:r>
              <a:rPr lang="en-US" sz="1600" dirty="0">
                <a:solidFill>
                  <a:srgbClr val="9AA4B5"/>
                </a:solidFill>
                <a:latin typeface="Arial" pitchFamily="34" charset="0"/>
                <a:ea typeface="Arial" pitchFamily="34" charset="-122"/>
                <a:cs typeface="Arial" pitchFamily="34" charset="-120"/>
              </a:rPr>
              <a:t>Real-user journeys as your regression suite</a:t>
            </a:r>
            <a:endParaRPr lang="en-US" sz="1600" dirty="0"/>
          </a:p>
        </p:txBody>
      </p:sp>
      <p:sp>
        <p:nvSpPr>
          <p:cNvPr id="8" name="Text 6"/>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9AA4B5"/>
                </a:solidFill>
                <a:latin typeface="Arial" pitchFamily="34" charset="0"/>
                <a:ea typeface="Arial" pitchFamily="34" charset="-122"/>
                <a:cs typeface="Arial" pitchFamily="34" charset="-120"/>
              </a:rPr>
              <a:t>Stop guessing, start seeing  ·  Motacon 2026</a:t>
            </a:r>
            <a:endParaRPr lang="en-US" sz="800" dirty="0"/>
          </a:p>
        </p:txBody>
      </p:sp>
      <p:sp>
        <p:nvSpPr>
          <p:cNvPr id="9" name="Text 7"/>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00" dirty="0">
                <a:solidFill>
                  <a:srgbClr val="9AA4B5"/>
                </a:solidFill>
                <a:latin typeface="Arial" pitchFamily="34" charset="0"/>
                <a:ea typeface="Arial" pitchFamily="34" charset="-122"/>
                <a:cs typeface="Arial"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64592"/>
            <a:ext cx="8229600" cy="228600"/>
          </a:xfrm>
          <a:prstGeom prst="rect">
            <a:avLst/>
          </a:prstGeom>
          <a:noFill/>
          <a:ln/>
        </p:spPr>
        <p:txBody>
          <a:bodyPr wrap="square" lIns="0" tIns="0" rIns="0" bIns="0" rtlCol="0" anchor="t"/>
          <a:lstStyle/>
          <a:p>
            <a:pPr indent="0" marL="0">
              <a:buNone/>
            </a:pPr>
            <a:r>
              <a:rPr lang="en-US" sz="1000" b="1" spc="300" kern="0" dirty="0">
                <a:solidFill>
                  <a:srgbClr val="B7770A"/>
                </a:solidFill>
                <a:latin typeface="Arial" pitchFamily="34" charset="0"/>
                <a:ea typeface="Arial" pitchFamily="34" charset="-122"/>
                <a:cs typeface="Arial" pitchFamily="34" charset="-120"/>
              </a:rPr>
              <a:t>THE ODT LOOP</a:t>
            </a:r>
            <a:endParaRPr lang="en-US" sz="1000" dirty="0"/>
          </a:p>
        </p:txBody>
      </p:sp>
      <p:sp>
        <p:nvSpPr>
          <p:cNvPr id="3" name="Text 1"/>
          <p:cNvSpPr txBox="1"/>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0B1320"/>
                </a:solidFill>
                <a:latin typeface="Arial" pitchFamily="34" charset="0"/>
                <a:ea typeface="Arial" pitchFamily="34" charset="-122"/>
                <a:cs typeface="Arial" pitchFamily="34" charset="-120"/>
              </a:rPr>
              <a:t>Turning traces into integration tests</a:t>
            </a:r>
            <a:endParaRPr lang="en-US" sz="3000" dirty="0"/>
          </a:p>
        </p:txBody>
      </p:sp>
      <p:sp>
        <p:nvSpPr>
          <p:cNvPr id="4" name="Shape 2"/>
          <p:cNvSpPr/>
          <p:nvPr/>
        </p:nvSpPr>
        <p:spPr>
          <a:xfrm>
            <a:off x="457200" y="1371600"/>
            <a:ext cx="1499616" cy="2514600"/>
          </a:xfrm>
          <a:prstGeom prst="roundRect">
            <a:avLst>
              <a:gd name="adj" fmla="val 4878"/>
            </a:avLst>
          </a:prstGeom>
          <a:solidFill>
            <a:srgbClr val="F1F4F8"/>
          </a:solidFill>
          <a:ln w="12700">
            <a:solidFill>
              <a:srgbClr val="F1F4F8"/>
            </a:solidFill>
            <a:prstDash val="solid"/>
          </a:ln>
        </p:spPr>
      </p:sp>
      <p:sp>
        <p:nvSpPr>
          <p:cNvPr id="5" name="Shape 3"/>
          <p:cNvSpPr/>
          <p:nvPr/>
        </p:nvSpPr>
        <p:spPr>
          <a:xfrm>
            <a:off x="640080" y="1645920"/>
            <a:ext cx="457200" cy="457200"/>
          </a:xfrm>
          <a:prstGeom prst="ellipse">
            <a:avLst/>
          </a:prstGeom>
          <a:solidFill>
            <a:srgbClr val="F5A524"/>
          </a:solidFill>
          <a:ln w="12700">
            <a:solidFill>
              <a:srgbClr val="F5A524"/>
            </a:solidFill>
            <a:prstDash val="solid"/>
          </a:ln>
        </p:spPr>
      </p:sp>
      <p:sp>
        <p:nvSpPr>
          <p:cNvPr id="6" name="Text 4"/>
          <p:cNvSpPr txBox="1"/>
          <p:nvPr/>
        </p:nvSpPr>
        <p:spPr>
          <a:xfrm>
            <a:off x="640080" y="1645920"/>
            <a:ext cx="457200" cy="457200"/>
          </a:xfrm>
          <a:prstGeom prst="rect">
            <a:avLst/>
          </a:prstGeom>
          <a:noFill/>
          <a:ln/>
        </p:spPr>
        <p:txBody>
          <a:bodyPr wrap="square" lIns="0" tIns="0" rIns="0" bIns="0" rtlCol="0" anchor="ctr"/>
          <a:lstStyle/>
          <a:p>
            <a:pPr algn="ctr" indent="0" marL="0">
              <a:buNone/>
            </a:pPr>
            <a:r>
              <a:rPr lang="en-US" sz="1600" b="1" dirty="0">
                <a:solidFill>
                  <a:srgbClr val="0B1320"/>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640080" y="2240280"/>
            <a:ext cx="1188720" cy="320040"/>
          </a:xfrm>
          <a:prstGeom prst="rect">
            <a:avLst/>
          </a:prstGeom>
          <a:noFill/>
          <a:ln/>
        </p:spPr>
        <p:txBody>
          <a:bodyPr wrap="square" lIns="0" tIns="0" rIns="0" bIns="0" rtlCol="0" anchor="t"/>
          <a:lstStyle/>
          <a:p>
            <a:pPr indent="0" marL="0">
              <a:buNone/>
            </a:pPr>
            <a:r>
              <a:rPr lang="en-US" sz="1500" b="1" dirty="0">
                <a:solidFill>
                  <a:srgbClr val="0B1320"/>
                </a:solidFill>
                <a:latin typeface="Arial" pitchFamily="34" charset="0"/>
                <a:ea typeface="Arial" pitchFamily="34" charset="-122"/>
                <a:cs typeface="Arial" pitchFamily="34" charset="-120"/>
              </a:rPr>
              <a:t>Capture</a:t>
            </a:r>
            <a:endParaRPr lang="en-US" sz="1500" dirty="0"/>
          </a:p>
        </p:txBody>
      </p:sp>
      <p:sp>
        <p:nvSpPr>
          <p:cNvPr id="8" name="Text 6"/>
          <p:cNvSpPr txBox="1"/>
          <p:nvPr/>
        </p:nvSpPr>
        <p:spPr>
          <a:xfrm>
            <a:off x="640080" y="2606040"/>
            <a:ext cx="1188720" cy="1417320"/>
          </a:xfrm>
          <a:prstGeom prst="rect">
            <a:avLst/>
          </a:prstGeom>
          <a:noFill/>
          <a:ln/>
        </p:spPr>
        <p:txBody>
          <a:bodyPr wrap="square" lIns="0" tIns="0" rIns="0" bIns="0" rtlCol="0" anchor="t"/>
          <a:lstStyle/>
          <a:p>
            <a:pPr indent="0" marL="0">
              <a:buNone/>
            </a:pPr>
            <a:r>
              <a:rPr lang="en-US" sz="1100" dirty="0">
                <a:solidFill>
                  <a:srgbClr val="5B6577"/>
                </a:solidFill>
                <a:latin typeface="Arial" pitchFamily="34" charset="0"/>
                <a:ea typeface="Arial" pitchFamily="34" charset="-122"/>
                <a:cs typeface="Arial" pitchFamily="34" charset="-120"/>
              </a:rPr>
              <a:t>Sample real sessions via OTel. Tail-sample errors and slow traces.</a:t>
            </a:r>
            <a:endParaRPr lang="en-US" sz="1100" dirty="0"/>
          </a:p>
        </p:txBody>
      </p:sp>
      <p:sp>
        <p:nvSpPr>
          <p:cNvPr id="9" name="Shape 7"/>
          <p:cNvSpPr/>
          <p:nvPr/>
        </p:nvSpPr>
        <p:spPr>
          <a:xfrm>
            <a:off x="1965960" y="2788920"/>
            <a:ext cx="164592" cy="0"/>
          </a:xfrm>
          <a:prstGeom prst="line">
            <a:avLst/>
          </a:prstGeom>
          <a:noFill/>
          <a:ln w="15875">
            <a:solidFill>
              <a:srgbClr val="9AA4B5"/>
            </a:solidFill>
            <a:prstDash val="solid"/>
            <a:tailEnd type="triangle"/>
          </a:ln>
        </p:spPr>
      </p:sp>
      <p:sp>
        <p:nvSpPr>
          <p:cNvPr id="10" name="Shape 8"/>
          <p:cNvSpPr/>
          <p:nvPr/>
        </p:nvSpPr>
        <p:spPr>
          <a:xfrm>
            <a:off x="2139696" y="1371600"/>
            <a:ext cx="1499616" cy="2514600"/>
          </a:xfrm>
          <a:prstGeom prst="roundRect">
            <a:avLst>
              <a:gd name="adj" fmla="val 4878"/>
            </a:avLst>
          </a:prstGeom>
          <a:solidFill>
            <a:srgbClr val="F1F4F8"/>
          </a:solidFill>
          <a:ln w="12700">
            <a:solidFill>
              <a:srgbClr val="F1F4F8"/>
            </a:solidFill>
            <a:prstDash val="solid"/>
          </a:ln>
        </p:spPr>
      </p:sp>
      <p:sp>
        <p:nvSpPr>
          <p:cNvPr id="11" name="Shape 9"/>
          <p:cNvSpPr/>
          <p:nvPr/>
        </p:nvSpPr>
        <p:spPr>
          <a:xfrm>
            <a:off x="2322576" y="1645920"/>
            <a:ext cx="457200" cy="457200"/>
          </a:xfrm>
          <a:prstGeom prst="ellipse">
            <a:avLst/>
          </a:prstGeom>
          <a:solidFill>
            <a:srgbClr val="8B7CF6"/>
          </a:solidFill>
          <a:ln w="12700">
            <a:solidFill>
              <a:srgbClr val="8B7CF6"/>
            </a:solidFill>
            <a:prstDash val="solid"/>
          </a:ln>
        </p:spPr>
      </p:sp>
      <p:sp>
        <p:nvSpPr>
          <p:cNvPr id="12" name="Text 10"/>
          <p:cNvSpPr txBox="1"/>
          <p:nvPr/>
        </p:nvSpPr>
        <p:spPr>
          <a:xfrm>
            <a:off x="2322576" y="1645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2322576" y="2240280"/>
            <a:ext cx="1188720" cy="320040"/>
          </a:xfrm>
          <a:prstGeom prst="rect">
            <a:avLst/>
          </a:prstGeom>
          <a:noFill/>
          <a:ln/>
        </p:spPr>
        <p:txBody>
          <a:bodyPr wrap="square" lIns="0" tIns="0" rIns="0" bIns="0" rtlCol="0" anchor="t"/>
          <a:lstStyle/>
          <a:p>
            <a:pPr indent="0" marL="0">
              <a:buNone/>
            </a:pPr>
            <a:r>
              <a:rPr lang="en-US" sz="1500" b="1" dirty="0">
                <a:solidFill>
                  <a:srgbClr val="0B1320"/>
                </a:solidFill>
                <a:latin typeface="Arial" pitchFamily="34" charset="0"/>
                <a:ea typeface="Arial" pitchFamily="34" charset="-122"/>
                <a:cs typeface="Arial" pitchFamily="34" charset="-120"/>
              </a:rPr>
              <a:t>Cluster</a:t>
            </a:r>
            <a:endParaRPr lang="en-US" sz="1500" dirty="0"/>
          </a:p>
        </p:txBody>
      </p:sp>
      <p:sp>
        <p:nvSpPr>
          <p:cNvPr id="14" name="Text 12"/>
          <p:cNvSpPr txBox="1"/>
          <p:nvPr/>
        </p:nvSpPr>
        <p:spPr>
          <a:xfrm>
            <a:off x="2322576" y="2606040"/>
            <a:ext cx="1188720" cy="1417320"/>
          </a:xfrm>
          <a:prstGeom prst="rect">
            <a:avLst/>
          </a:prstGeom>
          <a:noFill/>
          <a:ln/>
        </p:spPr>
        <p:txBody>
          <a:bodyPr wrap="square" lIns="0" tIns="0" rIns="0" bIns="0" rtlCol="0" anchor="t"/>
          <a:lstStyle/>
          <a:p>
            <a:pPr indent="0" marL="0">
              <a:buNone/>
            </a:pPr>
            <a:r>
              <a:rPr lang="en-US" sz="1100" dirty="0">
                <a:solidFill>
                  <a:srgbClr val="5B6577"/>
                </a:solidFill>
                <a:latin typeface="Arial" pitchFamily="34" charset="0"/>
                <a:ea typeface="Arial" pitchFamily="34" charset="-122"/>
                <a:cs typeface="Arial" pitchFamily="34" charset="-120"/>
              </a:rPr>
              <a:t>Group traces by span shape into journeys. Rank by traffic and risk.</a:t>
            </a:r>
            <a:endParaRPr lang="en-US" sz="1100" dirty="0"/>
          </a:p>
        </p:txBody>
      </p:sp>
      <p:sp>
        <p:nvSpPr>
          <p:cNvPr id="15" name="Shape 13"/>
          <p:cNvSpPr/>
          <p:nvPr/>
        </p:nvSpPr>
        <p:spPr>
          <a:xfrm>
            <a:off x="3648456" y="2788920"/>
            <a:ext cx="164592" cy="0"/>
          </a:xfrm>
          <a:prstGeom prst="line">
            <a:avLst/>
          </a:prstGeom>
          <a:noFill/>
          <a:ln w="15875">
            <a:solidFill>
              <a:srgbClr val="9AA4B5"/>
            </a:solidFill>
            <a:prstDash val="solid"/>
            <a:tailEnd type="triangle"/>
          </a:ln>
        </p:spPr>
      </p:sp>
      <p:sp>
        <p:nvSpPr>
          <p:cNvPr id="16" name="Shape 14"/>
          <p:cNvSpPr/>
          <p:nvPr/>
        </p:nvSpPr>
        <p:spPr>
          <a:xfrm>
            <a:off x="3822192" y="1371600"/>
            <a:ext cx="1499616" cy="2514600"/>
          </a:xfrm>
          <a:prstGeom prst="roundRect">
            <a:avLst>
              <a:gd name="adj" fmla="val 4878"/>
            </a:avLst>
          </a:prstGeom>
          <a:solidFill>
            <a:srgbClr val="F1F4F8"/>
          </a:solidFill>
          <a:ln w="12700">
            <a:solidFill>
              <a:srgbClr val="F1F4F8"/>
            </a:solidFill>
            <a:prstDash val="solid"/>
          </a:ln>
        </p:spPr>
      </p:sp>
      <p:sp>
        <p:nvSpPr>
          <p:cNvPr id="17" name="Shape 15"/>
          <p:cNvSpPr/>
          <p:nvPr/>
        </p:nvSpPr>
        <p:spPr>
          <a:xfrm>
            <a:off x="4005072" y="1645920"/>
            <a:ext cx="457200" cy="457200"/>
          </a:xfrm>
          <a:prstGeom prst="ellipse">
            <a:avLst/>
          </a:prstGeom>
          <a:solidFill>
            <a:srgbClr val="1FB5A8"/>
          </a:solidFill>
          <a:ln w="12700">
            <a:solidFill>
              <a:srgbClr val="1FB5A8"/>
            </a:solidFill>
            <a:prstDash val="solid"/>
          </a:ln>
        </p:spPr>
      </p:sp>
      <p:sp>
        <p:nvSpPr>
          <p:cNvPr id="18" name="Text 16"/>
          <p:cNvSpPr txBox="1"/>
          <p:nvPr/>
        </p:nvSpPr>
        <p:spPr>
          <a:xfrm>
            <a:off x="4005072" y="1645920"/>
            <a:ext cx="457200" cy="457200"/>
          </a:xfrm>
          <a:prstGeom prst="rect">
            <a:avLst/>
          </a:prstGeom>
          <a:noFill/>
          <a:ln/>
        </p:spPr>
        <p:txBody>
          <a:bodyPr wrap="square" lIns="0" tIns="0" rIns="0" bIns="0" rtlCol="0" anchor="ctr"/>
          <a:lstStyle/>
          <a:p>
            <a:pPr algn="ctr" indent="0" marL="0">
              <a:buNone/>
            </a:pPr>
            <a:r>
              <a:rPr lang="en-US" sz="1600" b="1" dirty="0">
                <a:solidFill>
                  <a:srgbClr val="0B1320"/>
                </a:solidFill>
                <a:latin typeface="Arial" pitchFamily="34" charset="0"/>
                <a:ea typeface="Arial" pitchFamily="34" charset="-122"/>
                <a:cs typeface="Arial" pitchFamily="34" charset="-120"/>
              </a:rPr>
              <a:t>3</a:t>
            </a:r>
            <a:endParaRPr lang="en-US" sz="1600" dirty="0"/>
          </a:p>
        </p:txBody>
      </p:sp>
      <p:sp>
        <p:nvSpPr>
          <p:cNvPr id="19" name="Text 17"/>
          <p:cNvSpPr txBox="1"/>
          <p:nvPr/>
        </p:nvSpPr>
        <p:spPr>
          <a:xfrm>
            <a:off x="4005072" y="2240280"/>
            <a:ext cx="1188720" cy="320040"/>
          </a:xfrm>
          <a:prstGeom prst="rect">
            <a:avLst/>
          </a:prstGeom>
          <a:noFill/>
          <a:ln/>
        </p:spPr>
        <p:txBody>
          <a:bodyPr wrap="square" lIns="0" tIns="0" rIns="0" bIns="0" rtlCol="0" anchor="t"/>
          <a:lstStyle/>
          <a:p>
            <a:pPr indent="0" marL="0">
              <a:buNone/>
            </a:pPr>
            <a:r>
              <a:rPr lang="en-US" sz="1500" b="1" dirty="0">
                <a:solidFill>
                  <a:srgbClr val="0B1320"/>
                </a:solidFill>
                <a:latin typeface="Arial" pitchFamily="34" charset="0"/>
                <a:ea typeface="Arial" pitchFamily="34" charset="-122"/>
                <a:cs typeface="Arial" pitchFamily="34" charset="-120"/>
              </a:rPr>
              <a:t>Generate</a:t>
            </a:r>
            <a:endParaRPr lang="en-US" sz="1500" dirty="0"/>
          </a:p>
        </p:txBody>
      </p:sp>
      <p:sp>
        <p:nvSpPr>
          <p:cNvPr id="20" name="Text 18"/>
          <p:cNvSpPr txBox="1"/>
          <p:nvPr/>
        </p:nvSpPr>
        <p:spPr>
          <a:xfrm>
            <a:off x="4005072" y="2606040"/>
            <a:ext cx="1188720" cy="1417320"/>
          </a:xfrm>
          <a:prstGeom prst="rect">
            <a:avLst/>
          </a:prstGeom>
          <a:noFill/>
          <a:ln/>
        </p:spPr>
        <p:txBody>
          <a:bodyPr wrap="square" lIns="0" tIns="0" rIns="0" bIns="0" rtlCol="0" anchor="t"/>
          <a:lstStyle/>
          <a:p>
            <a:pPr indent="0" marL="0">
              <a:buNone/>
            </a:pPr>
            <a:r>
              <a:rPr lang="en-US" sz="1100" dirty="0">
                <a:solidFill>
                  <a:srgbClr val="5B6577"/>
                </a:solidFill>
                <a:latin typeface="Arial" pitchFamily="34" charset="0"/>
                <a:ea typeface="Arial" pitchFamily="34" charset="-122"/>
                <a:cs typeface="Arial" pitchFamily="34" charset="-120"/>
              </a:rPr>
              <a:t>Turn the top journeys into replayable scripts with scrubbed data.</a:t>
            </a:r>
            <a:endParaRPr lang="en-US" sz="1100" dirty="0"/>
          </a:p>
        </p:txBody>
      </p:sp>
      <p:sp>
        <p:nvSpPr>
          <p:cNvPr id="21" name="Shape 19"/>
          <p:cNvSpPr/>
          <p:nvPr/>
        </p:nvSpPr>
        <p:spPr>
          <a:xfrm>
            <a:off x="5330952" y="2788920"/>
            <a:ext cx="164592" cy="0"/>
          </a:xfrm>
          <a:prstGeom prst="line">
            <a:avLst/>
          </a:prstGeom>
          <a:noFill/>
          <a:ln w="15875">
            <a:solidFill>
              <a:srgbClr val="9AA4B5"/>
            </a:solidFill>
            <a:prstDash val="solid"/>
            <a:tailEnd type="triangle"/>
          </a:ln>
        </p:spPr>
      </p:sp>
      <p:sp>
        <p:nvSpPr>
          <p:cNvPr id="22" name="Shape 20"/>
          <p:cNvSpPr/>
          <p:nvPr/>
        </p:nvSpPr>
        <p:spPr>
          <a:xfrm>
            <a:off x="5504688" y="1371600"/>
            <a:ext cx="1499616" cy="2514600"/>
          </a:xfrm>
          <a:prstGeom prst="roundRect">
            <a:avLst>
              <a:gd name="adj" fmla="val 4878"/>
            </a:avLst>
          </a:prstGeom>
          <a:solidFill>
            <a:srgbClr val="F1F4F8"/>
          </a:solidFill>
          <a:ln w="12700">
            <a:solidFill>
              <a:srgbClr val="F1F4F8"/>
            </a:solidFill>
            <a:prstDash val="solid"/>
          </a:ln>
        </p:spPr>
      </p:sp>
      <p:sp>
        <p:nvSpPr>
          <p:cNvPr id="23" name="Shape 21"/>
          <p:cNvSpPr/>
          <p:nvPr/>
        </p:nvSpPr>
        <p:spPr>
          <a:xfrm>
            <a:off x="5687568" y="1645920"/>
            <a:ext cx="457200" cy="457200"/>
          </a:xfrm>
          <a:prstGeom prst="ellipse">
            <a:avLst/>
          </a:prstGeom>
          <a:solidFill>
            <a:srgbClr val="F5A524"/>
          </a:solidFill>
          <a:ln w="12700">
            <a:solidFill>
              <a:srgbClr val="F5A524"/>
            </a:solidFill>
            <a:prstDash val="solid"/>
          </a:ln>
        </p:spPr>
      </p:sp>
      <p:sp>
        <p:nvSpPr>
          <p:cNvPr id="24" name="Text 22"/>
          <p:cNvSpPr txBox="1"/>
          <p:nvPr/>
        </p:nvSpPr>
        <p:spPr>
          <a:xfrm>
            <a:off x="5687568" y="1645920"/>
            <a:ext cx="457200" cy="457200"/>
          </a:xfrm>
          <a:prstGeom prst="rect">
            <a:avLst/>
          </a:prstGeom>
          <a:noFill/>
          <a:ln/>
        </p:spPr>
        <p:txBody>
          <a:bodyPr wrap="square" lIns="0" tIns="0" rIns="0" bIns="0" rtlCol="0" anchor="ctr"/>
          <a:lstStyle/>
          <a:p>
            <a:pPr algn="ctr" indent="0" marL="0">
              <a:buNone/>
            </a:pPr>
            <a:r>
              <a:rPr lang="en-US" sz="1600" b="1" dirty="0">
                <a:solidFill>
                  <a:srgbClr val="0B1320"/>
                </a:solidFill>
                <a:latin typeface="Arial" pitchFamily="34" charset="0"/>
                <a:ea typeface="Arial" pitchFamily="34" charset="-122"/>
                <a:cs typeface="Arial" pitchFamily="34" charset="-120"/>
              </a:rPr>
              <a:t>4</a:t>
            </a:r>
            <a:endParaRPr lang="en-US" sz="1600" dirty="0"/>
          </a:p>
        </p:txBody>
      </p:sp>
      <p:sp>
        <p:nvSpPr>
          <p:cNvPr id="25" name="Text 23"/>
          <p:cNvSpPr txBox="1"/>
          <p:nvPr/>
        </p:nvSpPr>
        <p:spPr>
          <a:xfrm>
            <a:off x="5687568" y="2240280"/>
            <a:ext cx="1188720" cy="320040"/>
          </a:xfrm>
          <a:prstGeom prst="rect">
            <a:avLst/>
          </a:prstGeom>
          <a:noFill/>
          <a:ln/>
        </p:spPr>
        <p:txBody>
          <a:bodyPr wrap="square" lIns="0" tIns="0" rIns="0" bIns="0" rtlCol="0" anchor="t"/>
          <a:lstStyle/>
          <a:p>
            <a:pPr indent="0" marL="0">
              <a:buNone/>
            </a:pPr>
            <a:r>
              <a:rPr lang="en-US" sz="1500" b="1" dirty="0">
                <a:solidFill>
                  <a:srgbClr val="0B1320"/>
                </a:solidFill>
                <a:latin typeface="Arial" pitchFamily="34" charset="0"/>
                <a:ea typeface="Arial" pitchFamily="34" charset="-122"/>
                <a:cs typeface="Arial" pitchFamily="34" charset="-120"/>
              </a:rPr>
              <a:t>Assert</a:t>
            </a:r>
            <a:endParaRPr lang="en-US" sz="1500" dirty="0"/>
          </a:p>
        </p:txBody>
      </p:sp>
      <p:sp>
        <p:nvSpPr>
          <p:cNvPr id="26" name="Text 24"/>
          <p:cNvSpPr txBox="1"/>
          <p:nvPr/>
        </p:nvSpPr>
        <p:spPr>
          <a:xfrm>
            <a:off x="5687568" y="2606040"/>
            <a:ext cx="1188720" cy="1417320"/>
          </a:xfrm>
          <a:prstGeom prst="rect">
            <a:avLst/>
          </a:prstGeom>
          <a:noFill/>
          <a:ln/>
        </p:spPr>
        <p:txBody>
          <a:bodyPr wrap="square" lIns="0" tIns="0" rIns="0" bIns="0" rtlCol="0" anchor="t"/>
          <a:lstStyle/>
          <a:p>
            <a:pPr indent="0" marL="0">
              <a:buNone/>
            </a:pPr>
            <a:r>
              <a:rPr lang="en-US" sz="1100" dirty="0">
                <a:solidFill>
                  <a:srgbClr val="5B6577"/>
                </a:solidFill>
                <a:latin typeface="Arial" pitchFamily="34" charset="0"/>
                <a:ea typeface="Arial" pitchFamily="34" charset="-122"/>
                <a:cs typeface="Arial" pitchFamily="34" charset="-120"/>
              </a:rPr>
              <a:t>Check invariants on the new trace: shape, status, budgets.</a:t>
            </a:r>
            <a:endParaRPr lang="en-US" sz="1100" dirty="0"/>
          </a:p>
        </p:txBody>
      </p:sp>
      <p:sp>
        <p:nvSpPr>
          <p:cNvPr id="27" name="Shape 25"/>
          <p:cNvSpPr/>
          <p:nvPr/>
        </p:nvSpPr>
        <p:spPr>
          <a:xfrm>
            <a:off x="7013448" y="2788920"/>
            <a:ext cx="164592" cy="0"/>
          </a:xfrm>
          <a:prstGeom prst="line">
            <a:avLst/>
          </a:prstGeom>
          <a:noFill/>
          <a:ln w="15875">
            <a:solidFill>
              <a:srgbClr val="9AA4B5"/>
            </a:solidFill>
            <a:prstDash val="solid"/>
            <a:tailEnd type="triangle"/>
          </a:ln>
        </p:spPr>
      </p:sp>
      <p:sp>
        <p:nvSpPr>
          <p:cNvPr id="28" name="Shape 26"/>
          <p:cNvSpPr/>
          <p:nvPr/>
        </p:nvSpPr>
        <p:spPr>
          <a:xfrm>
            <a:off x="7187184" y="1371600"/>
            <a:ext cx="1499616" cy="2514600"/>
          </a:xfrm>
          <a:prstGeom prst="roundRect">
            <a:avLst>
              <a:gd name="adj" fmla="val 4878"/>
            </a:avLst>
          </a:prstGeom>
          <a:solidFill>
            <a:srgbClr val="F1F4F8"/>
          </a:solidFill>
          <a:ln w="12700">
            <a:solidFill>
              <a:srgbClr val="F1F4F8"/>
            </a:solidFill>
            <a:prstDash val="solid"/>
          </a:ln>
        </p:spPr>
      </p:sp>
      <p:sp>
        <p:nvSpPr>
          <p:cNvPr id="29" name="Shape 27"/>
          <p:cNvSpPr/>
          <p:nvPr/>
        </p:nvSpPr>
        <p:spPr>
          <a:xfrm>
            <a:off x="7370064" y="1645920"/>
            <a:ext cx="457200" cy="457200"/>
          </a:xfrm>
          <a:prstGeom prst="ellipse">
            <a:avLst/>
          </a:prstGeom>
          <a:solidFill>
            <a:srgbClr val="8B7CF6"/>
          </a:solidFill>
          <a:ln w="12700">
            <a:solidFill>
              <a:srgbClr val="8B7CF6"/>
            </a:solidFill>
            <a:prstDash val="solid"/>
          </a:ln>
        </p:spPr>
      </p:sp>
      <p:sp>
        <p:nvSpPr>
          <p:cNvPr id="30" name="Text 28"/>
          <p:cNvSpPr txBox="1"/>
          <p:nvPr/>
        </p:nvSpPr>
        <p:spPr>
          <a:xfrm>
            <a:off x="7370064" y="1645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31" name="Text 29"/>
          <p:cNvSpPr txBox="1"/>
          <p:nvPr/>
        </p:nvSpPr>
        <p:spPr>
          <a:xfrm>
            <a:off x="7370064" y="2240280"/>
            <a:ext cx="1188720" cy="320040"/>
          </a:xfrm>
          <a:prstGeom prst="rect">
            <a:avLst/>
          </a:prstGeom>
          <a:noFill/>
          <a:ln/>
        </p:spPr>
        <p:txBody>
          <a:bodyPr wrap="square" lIns="0" tIns="0" rIns="0" bIns="0" rtlCol="0" anchor="t"/>
          <a:lstStyle/>
          <a:p>
            <a:pPr indent="0" marL="0">
              <a:buNone/>
            </a:pPr>
            <a:r>
              <a:rPr lang="en-US" sz="1500" b="1" dirty="0">
                <a:solidFill>
                  <a:srgbClr val="0B1320"/>
                </a:solidFill>
                <a:latin typeface="Arial" pitchFamily="34" charset="0"/>
                <a:ea typeface="Arial" pitchFamily="34" charset="-122"/>
                <a:cs typeface="Arial" pitchFamily="34" charset="-120"/>
              </a:rPr>
              <a:t>Feed back</a:t>
            </a:r>
            <a:endParaRPr lang="en-US" sz="1500" dirty="0"/>
          </a:p>
        </p:txBody>
      </p:sp>
      <p:sp>
        <p:nvSpPr>
          <p:cNvPr id="32" name="Text 30"/>
          <p:cNvSpPr txBox="1"/>
          <p:nvPr/>
        </p:nvSpPr>
        <p:spPr>
          <a:xfrm>
            <a:off x="7370064" y="2606040"/>
            <a:ext cx="1188720" cy="1417320"/>
          </a:xfrm>
          <a:prstGeom prst="rect">
            <a:avLst/>
          </a:prstGeom>
          <a:noFill/>
          <a:ln/>
        </p:spPr>
        <p:txBody>
          <a:bodyPr wrap="square" lIns="0" tIns="0" rIns="0" bIns="0" rtlCol="0" anchor="t"/>
          <a:lstStyle/>
          <a:p>
            <a:pPr indent="0" marL="0">
              <a:buNone/>
            </a:pPr>
            <a:r>
              <a:rPr lang="en-US" sz="1100" dirty="0">
                <a:solidFill>
                  <a:srgbClr val="5B6577"/>
                </a:solidFill>
                <a:latin typeface="Arial" pitchFamily="34" charset="0"/>
                <a:ea typeface="Arial" pitchFamily="34" charset="-122"/>
                <a:cs typeface="Arial" pitchFamily="34" charset="-120"/>
              </a:rPr>
              <a:t>New production shapes that no test covers get flagged.</a:t>
            </a:r>
            <a:endParaRPr lang="en-US" sz="1100" dirty="0"/>
          </a:p>
        </p:txBody>
      </p:sp>
      <p:sp>
        <p:nvSpPr>
          <p:cNvPr id="33" name="Text 31"/>
          <p:cNvSpPr txBox="1"/>
          <p:nvPr/>
        </p:nvSpPr>
        <p:spPr>
          <a:xfrm>
            <a:off x="457200" y="4251960"/>
            <a:ext cx="8229600" cy="411480"/>
          </a:xfrm>
          <a:prstGeom prst="rect">
            <a:avLst/>
          </a:prstGeom>
          <a:noFill/>
          <a:ln/>
        </p:spPr>
        <p:txBody>
          <a:bodyPr wrap="square" lIns="0" tIns="0" rIns="0" bIns="0" rtlCol="0" anchor="t"/>
          <a:lstStyle/>
          <a:p>
            <a:pPr indent="0" marL="0">
              <a:buNone/>
            </a:pPr>
            <a:r>
              <a:rPr lang="en-US" sz="1300" b="1" dirty="0">
                <a:solidFill>
                  <a:srgbClr val="0B1320"/>
                </a:solidFill>
                <a:latin typeface="Arial" pitchFamily="34" charset="0"/>
                <a:ea typeface="Arial" pitchFamily="34" charset="-122"/>
                <a:cs typeface="Arial" pitchFamily="34" charset="-120"/>
              </a:rPr>
              <a:t>The same trace format flows both ways: production → test cases, and tests → traces you can diff against production.</a:t>
            </a:r>
            <a:endParaRPr lang="en-US" sz="1300" dirty="0"/>
          </a:p>
        </p:txBody>
      </p:sp>
      <p:sp>
        <p:nvSpPr>
          <p:cNvPr id="34" name="Text 3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5B6577"/>
                </a:solidFill>
                <a:latin typeface="Arial" pitchFamily="34" charset="0"/>
                <a:ea typeface="Arial" pitchFamily="34" charset="-122"/>
                <a:cs typeface="Arial" pitchFamily="34" charset="-120"/>
              </a:rPr>
              <a:t>Stop guessing, start seeing  ·  Motacon 2026</a:t>
            </a:r>
            <a:endParaRPr lang="en-US" sz="800" dirty="0"/>
          </a:p>
        </p:txBody>
      </p:sp>
      <p:sp>
        <p:nvSpPr>
          <p:cNvPr id="35" name="Text 3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00" dirty="0">
                <a:solidFill>
                  <a:srgbClr val="5B6577"/>
                </a:solidFill>
                <a:latin typeface="Arial" pitchFamily="34" charset="0"/>
                <a:ea typeface="Arial" pitchFamily="34" charset="-122"/>
                <a:cs typeface="Arial"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64592"/>
            <a:ext cx="8229600" cy="228600"/>
          </a:xfrm>
          <a:prstGeom prst="rect">
            <a:avLst/>
          </a:prstGeom>
          <a:noFill/>
          <a:ln/>
        </p:spPr>
        <p:txBody>
          <a:bodyPr wrap="square" lIns="0" tIns="0" rIns="0" bIns="0" rtlCol="0" anchor="t"/>
          <a:lstStyle/>
          <a:p>
            <a:pPr indent="0" marL="0">
              <a:buNone/>
            </a:pPr>
            <a:r>
              <a:rPr lang="en-US" sz="1000" b="1" spc="300" kern="0" dirty="0">
                <a:solidFill>
                  <a:srgbClr val="B7770A"/>
                </a:solidFill>
                <a:latin typeface="Arial" pitchFamily="34" charset="0"/>
                <a:ea typeface="Arial" pitchFamily="34" charset="-122"/>
                <a:cs typeface="Arial" pitchFamily="34" charset="-120"/>
              </a:rPr>
              <a:t>ASSERTIONS AS PATTERNS</a:t>
            </a:r>
            <a:endParaRPr lang="en-US" sz="1000" dirty="0"/>
          </a:p>
        </p:txBody>
      </p:sp>
      <p:sp>
        <p:nvSpPr>
          <p:cNvPr id="3" name="Text 1"/>
          <p:cNvSpPr txBox="1"/>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0B1320"/>
                </a:solidFill>
                <a:latin typeface="Arial" pitchFamily="34" charset="0"/>
                <a:ea typeface="Arial" pitchFamily="34" charset="-122"/>
                <a:cs typeface="Arial" pitchFamily="34" charset="-120"/>
              </a:rPr>
              <a:t>From expected values to invariants</a:t>
            </a:r>
            <a:endParaRPr lang="en-US" sz="3000" dirty="0"/>
          </a:p>
        </p:txBody>
      </p:sp>
      <p:sp>
        <p:nvSpPr>
          <p:cNvPr id="4" name="Shape 2"/>
          <p:cNvSpPr/>
          <p:nvPr/>
        </p:nvSpPr>
        <p:spPr>
          <a:xfrm>
            <a:off x="457200" y="1280160"/>
            <a:ext cx="5303520" cy="3291840"/>
          </a:xfrm>
          <a:prstGeom prst="roundRect">
            <a:avLst>
              <a:gd name="adj" fmla="val 2222"/>
            </a:avLst>
          </a:prstGeom>
          <a:solidFill>
            <a:srgbClr val="0F1A2B"/>
          </a:solidFill>
          <a:ln w="12700">
            <a:solidFill>
              <a:srgbClr val="0F1A2B"/>
            </a:solidFill>
            <a:prstDash val="solid"/>
          </a:ln>
        </p:spPr>
      </p:sp>
      <p:sp>
        <p:nvSpPr>
          <p:cNvPr id="5" name="Text 3"/>
          <p:cNvSpPr txBox="1"/>
          <p:nvPr/>
        </p:nvSpPr>
        <p:spPr>
          <a:xfrm>
            <a:off x="640080" y="1417320"/>
            <a:ext cx="4937760" cy="3017520"/>
          </a:xfrm>
          <a:prstGeom prst="rect">
            <a:avLst/>
          </a:prstGeom>
          <a:noFill/>
          <a:ln/>
        </p:spPr>
        <p:txBody>
          <a:bodyPr wrap="square" lIns="0" tIns="0" rIns="0" bIns="0" rtlCol="0" anchor="t"/>
          <a:lstStyle/>
          <a:p>
            <a:pPr indent="0" marL="0">
              <a:lnSpc>
                <a:spcPct val="105000"/>
              </a:lnSpc>
              <a:buNone/>
            </a:pPr>
            <a:r>
              <a:rPr lang="en-US" sz="1000" dirty="0">
                <a:solidFill>
                  <a:srgbClr val="7F8BA0"/>
                </a:solidFill>
                <a:latin typeface="Courier New" pitchFamily="34" charset="0"/>
                <a:ea typeface="Courier New" pitchFamily="34" charset="-122"/>
                <a:cs typeface="Courier New" pitchFamily="34" charset="-120"/>
              </a:rPr>
              <a:t># sketch: assert on the trace the test just produced</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spans = jaeger.get_trace(trace_id)          # /api/traces/{id}</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add = spans.child_of("add task")</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assert add.has("POST /api/tasks")</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assert add.has("create_task", attrs={"task.id": ui_task_id})</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assert all(s.status != "ERROR" for s in spans)</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assert spans.op("create_task").duration_ms &lt; 50</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7F8BA0"/>
                </a:solidFill>
                <a:latin typeface="Courier New" pitchFamily="34" charset="0"/>
                <a:ea typeface="Courier New" pitchFamily="34" charset="-122"/>
                <a:cs typeface="Courier New" pitchFamily="34" charset="-120"/>
              </a:rPr>
              <a:t># AI agent: shape, not string</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assert spans.order("retrieve", "plan", "tool:search")</a:t>
            </a:r>
            <a:endParaRPr lang="en-US" sz="1000" dirty="0"/>
          </a:p>
          <a:p>
            <a:pPr indent="0" marL="0">
              <a:lnSpc>
                <a:spcPct val="105000"/>
              </a:lnSpc>
              <a:buNone/>
            </a:pPr>
            <a:r>
              <a:rPr lang="en-US" sz="1000" dirty="0">
                <a:solidFill>
                  <a:srgbClr val="E6EDF3"/>
                </a:solidFill>
                <a:latin typeface="Courier New" pitchFamily="34" charset="0"/>
                <a:ea typeface="Courier New" pitchFamily="34" charset="-122"/>
                <a:cs typeface="Courier New" pitchFamily="34" charset="-120"/>
              </a:rPr>
              <a:t>assert spans.count("llm.call") &lt;= 3</a:t>
            </a:r>
            <a:endParaRPr lang="en-US" sz="1000" dirty="0"/>
          </a:p>
        </p:txBody>
      </p:sp>
      <p:sp>
        <p:nvSpPr>
          <p:cNvPr id="6" name="Shape 4"/>
          <p:cNvSpPr/>
          <p:nvPr/>
        </p:nvSpPr>
        <p:spPr>
          <a:xfrm>
            <a:off x="6035040" y="1325880"/>
            <a:ext cx="2651760" cy="685800"/>
          </a:xfrm>
          <a:prstGeom prst="roundRect">
            <a:avLst>
              <a:gd name="adj" fmla="val 10667"/>
            </a:avLst>
          </a:prstGeom>
          <a:solidFill>
            <a:srgbClr val="F1F4F8"/>
          </a:solidFill>
          <a:ln w="12700">
            <a:solidFill>
              <a:srgbClr val="F1F4F8"/>
            </a:solidFill>
            <a:prstDash val="solid"/>
          </a:ln>
        </p:spPr>
      </p:sp>
      <p:sp>
        <p:nvSpPr>
          <p:cNvPr id="7" name="Text 5"/>
          <p:cNvSpPr txBox="1"/>
          <p:nvPr/>
        </p:nvSpPr>
        <p:spPr>
          <a:xfrm>
            <a:off x="6217920" y="1399032"/>
            <a:ext cx="2377440" cy="256032"/>
          </a:xfrm>
          <a:prstGeom prst="rect">
            <a:avLst/>
          </a:prstGeom>
          <a:noFill/>
          <a:ln/>
        </p:spPr>
        <p:txBody>
          <a:bodyPr wrap="square" lIns="0" tIns="0" rIns="0" bIns="0" rtlCol="0" anchor="t"/>
          <a:lstStyle/>
          <a:p>
            <a:pPr indent="0" marL="0">
              <a:buNone/>
            </a:pPr>
            <a:r>
              <a:rPr lang="en-US" sz="1300" b="1" dirty="0">
                <a:solidFill>
                  <a:srgbClr val="0B1320"/>
                </a:solidFill>
                <a:latin typeface="Arial" pitchFamily="34" charset="0"/>
                <a:ea typeface="Arial" pitchFamily="34" charset="-122"/>
                <a:cs typeface="Arial" pitchFamily="34" charset="-120"/>
              </a:rPr>
              <a:t>Shape</a:t>
            </a:r>
            <a:endParaRPr lang="en-US" sz="1300" dirty="0"/>
          </a:p>
        </p:txBody>
      </p:sp>
      <p:sp>
        <p:nvSpPr>
          <p:cNvPr id="8" name="Text 6"/>
          <p:cNvSpPr txBox="1"/>
          <p:nvPr/>
        </p:nvSpPr>
        <p:spPr>
          <a:xfrm>
            <a:off x="6217920" y="1673352"/>
            <a:ext cx="2377440" cy="274320"/>
          </a:xfrm>
          <a:prstGeom prst="rect">
            <a:avLst/>
          </a:prstGeom>
          <a:noFill/>
          <a:ln/>
        </p:spPr>
        <p:txBody>
          <a:bodyPr wrap="square" lIns="0" tIns="0" rIns="0" bIns="0" rtlCol="0" anchor="t"/>
          <a:lstStyle/>
          <a:p>
            <a:pPr indent="0" marL="0">
              <a:buNone/>
            </a:pPr>
            <a:r>
              <a:rPr lang="en-US" sz="1050" dirty="0">
                <a:solidFill>
                  <a:srgbClr val="5B6577"/>
                </a:solidFill>
                <a:latin typeface="Arial" pitchFamily="34" charset="0"/>
                <a:ea typeface="Arial" pitchFamily="34" charset="-122"/>
                <a:cs typeface="Arial" pitchFamily="34" charset="-120"/>
              </a:rPr>
              <a:t>the right services, in the right order</a:t>
            </a:r>
            <a:endParaRPr lang="en-US" sz="1050" dirty="0"/>
          </a:p>
        </p:txBody>
      </p:sp>
      <p:sp>
        <p:nvSpPr>
          <p:cNvPr id="9" name="Shape 7"/>
          <p:cNvSpPr/>
          <p:nvPr/>
        </p:nvSpPr>
        <p:spPr>
          <a:xfrm>
            <a:off x="6035040" y="2148840"/>
            <a:ext cx="2651760" cy="685800"/>
          </a:xfrm>
          <a:prstGeom prst="roundRect">
            <a:avLst>
              <a:gd name="adj" fmla="val 10667"/>
            </a:avLst>
          </a:prstGeom>
          <a:solidFill>
            <a:srgbClr val="F1F4F8"/>
          </a:solidFill>
          <a:ln w="12700">
            <a:solidFill>
              <a:srgbClr val="F1F4F8"/>
            </a:solidFill>
            <a:prstDash val="solid"/>
          </a:ln>
        </p:spPr>
      </p:sp>
      <p:sp>
        <p:nvSpPr>
          <p:cNvPr id="10" name="Text 8"/>
          <p:cNvSpPr txBox="1"/>
          <p:nvPr/>
        </p:nvSpPr>
        <p:spPr>
          <a:xfrm>
            <a:off x="6217920" y="2221992"/>
            <a:ext cx="2377440" cy="256032"/>
          </a:xfrm>
          <a:prstGeom prst="rect">
            <a:avLst/>
          </a:prstGeom>
          <a:noFill/>
          <a:ln/>
        </p:spPr>
        <p:txBody>
          <a:bodyPr wrap="square" lIns="0" tIns="0" rIns="0" bIns="0" rtlCol="0" anchor="t"/>
          <a:lstStyle/>
          <a:p>
            <a:pPr indent="0" marL="0">
              <a:buNone/>
            </a:pPr>
            <a:r>
              <a:rPr lang="en-US" sz="1300" b="1" dirty="0">
                <a:solidFill>
                  <a:srgbClr val="0B1320"/>
                </a:solidFill>
                <a:latin typeface="Arial" pitchFamily="34" charset="0"/>
                <a:ea typeface="Arial" pitchFamily="34" charset="-122"/>
                <a:cs typeface="Arial" pitchFamily="34" charset="-120"/>
              </a:rPr>
              <a:t>Health</a:t>
            </a:r>
            <a:endParaRPr lang="en-US" sz="1300" dirty="0"/>
          </a:p>
        </p:txBody>
      </p:sp>
      <p:sp>
        <p:nvSpPr>
          <p:cNvPr id="11" name="Text 9"/>
          <p:cNvSpPr txBox="1"/>
          <p:nvPr/>
        </p:nvSpPr>
        <p:spPr>
          <a:xfrm>
            <a:off x="6217920" y="2496312"/>
            <a:ext cx="2377440" cy="274320"/>
          </a:xfrm>
          <a:prstGeom prst="rect">
            <a:avLst/>
          </a:prstGeom>
          <a:noFill/>
          <a:ln/>
        </p:spPr>
        <p:txBody>
          <a:bodyPr wrap="square" lIns="0" tIns="0" rIns="0" bIns="0" rtlCol="0" anchor="t"/>
          <a:lstStyle/>
          <a:p>
            <a:pPr indent="0" marL="0">
              <a:buNone/>
            </a:pPr>
            <a:r>
              <a:rPr lang="en-US" sz="1050" dirty="0">
                <a:solidFill>
                  <a:srgbClr val="5B6577"/>
                </a:solidFill>
                <a:latin typeface="Arial" pitchFamily="34" charset="0"/>
                <a:ea typeface="Arial" pitchFamily="34" charset="-122"/>
                <a:cs typeface="Arial" pitchFamily="34" charset="-120"/>
              </a:rPr>
              <a:t>no error spans, including behind retries</a:t>
            </a:r>
            <a:endParaRPr lang="en-US" sz="1050" dirty="0"/>
          </a:p>
        </p:txBody>
      </p:sp>
      <p:sp>
        <p:nvSpPr>
          <p:cNvPr id="12" name="Shape 10"/>
          <p:cNvSpPr/>
          <p:nvPr/>
        </p:nvSpPr>
        <p:spPr>
          <a:xfrm>
            <a:off x="6035040" y="2971800"/>
            <a:ext cx="2651760" cy="685800"/>
          </a:xfrm>
          <a:prstGeom prst="roundRect">
            <a:avLst>
              <a:gd name="adj" fmla="val 10667"/>
            </a:avLst>
          </a:prstGeom>
          <a:solidFill>
            <a:srgbClr val="F1F4F8"/>
          </a:solidFill>
          <a:ln w="12700">
            <a:solidFill>
              <a:srgbClr val="F1F4F8"/>
            </a:solidFill>
            <a:prstDash val="solid"/>
          </a:ln>
        </p:spPr>
      </p:sp>
      <p:sp>
        <p:nvSpPr>
          <p:cNvPr id="13" name="Text 11"/>
          <p:cNvSpPr txBox="1"/>
          <p:nvPr/>
        </p:nvSpPr>
        <p:spPr>
          <a:xfrm>
            <a:off x="6217920" y="3044952"/>
            <a:ext cx="2377440" cy="256032"/>
          </a:xfrm>
          <a:prstGeom prst="rect">
            <a:avLst/>
          </a:prstGeom>
          <a:noFill/>
          <a:ln/>
        </p:spPr>
        <p:txBody>
          <a:bodyPr wrap="square" lIns="0" tIns="0" rIns="0" bIns="0" rtlCol="0" anchor="t"/>
          <a:lstStyle/>
          <a:p>
            <a:pPr indent="0" marL="0">
              <a:buNone/>
            </a:pPr>
            <a:r>
              <a:rPr lang="en-US" sz="1300" b="1" dirty="0">
                <a:solidFill>
                  <a:srgbClr val="0B1320"/>
                </a:solidFill>
                <a:latin typeface="Arial" pitchFamily="34" charset="0"/>
                <a:ea typeface="Arial" pitchFamily="34" charset="-122"/>
                <a:cs typeface="Arial" pitchFamily="34" charset="-120"/>
              </a:rPr>
              <a:t>Budget</a:t>
            </a:r>
            <a:endParaRPr lang="en-US" sz="1300" dirty="0"/>
          </a:p>
        </p:txBody>
      </p:sp>
      <p:sp>
        <p:nvSpPr>
          <p:cNvPr id="14" name="Text 12"/>
          <p:cNvSpPr txBox="1"/>
          <p:nvPr/>
        </p:nvSpPr>
        <p:spPr>
          <a:xfrm>
            <a:off x="6217920" y="3319272"/>
            <a:ext cx="2377440" cy="274320"/>
          </a:xfrm>
          <a:prstGeom prst="rect">
            <a:avLst/>
          </a:prstGeom>
          <a:noFill/>
          <a:ln/>
        </p:spPr>
        <p:txBody>
          <a:bodyPr wrap="square" lIns="0" tIns="0" rIns="0" bIns="0" rtlCol="0" anchor="t"/>
          <a:lstStyle/>
          <a:p>
            <a:pPr indent="0" marL="0">
              <a:buNone/>
            </a:pPr>
            <a:r>
              <a:rPr lang="en-US" sz="1050" dirty="0">
                <a:solidFill>
                  <a:srgbClr val="5B6577"/>
                </a:solidFill>
                <a:latin typeface="Arial" pitchFamily="34" charset="0"/>
                <a:ea typeface="Arial" pitchFamily="34" charset="-122"/>
                <a:cs typeface="Arial" pitchFamily="34" charset="-120"/>
              </a:rPr>
              <a:t>latency and call-count limits</a:t>
            </a:r>
            <a:endParaRPr lang="en-US" sz="1050" dirty="0"/>
          </a:p>
        </p:txBody>
      </p:sp>
      <p:sp>
        <p:nvSpPr>
          <p:cNvPr id="15" name="Shape 13"/>
          <p:cNvSpPr/>
          <p:nvPr/>
        </p:nvSpPr>
        <p:spPr>
          <a:xfrm>
            <a:off x="6035040" y="3794760"/>
            <a:ext cx="2651760" cy="685800"/>
          </a:xfrm>
          <a:prstGeom prst="roundRect">
            <a:avLst>
              <a:gd name="adj" fmla="val 10667"/>
            </a:avLst>
          </a:prstGeom>
          <a:solidFill>
            <a:srgbClr val="F1F4F8"/>
          </a:solidFill>
          <a:ln w="12700">
            <a:solidFill>
              <a:srgbClr val="F1F4F8"/>
            </a:solidFill>
            <a:prstDash val="solid"/>
          </a:ln>
        </p:spPr>
      </p:sp>
      <p:sp>
        <p:nvSpPr>
          <p:cNvPr id="16" name="Text 14"/>
          <p:cNvSpPr txBox="1"/>
          <p:nvPr/>
        </p:nvSpPr>
        <p:spPr>
          <a:xfrm>
            <a:off x="6217920" y="3867912"/>
            <a:ext cx="2377440" cy="256032"/>
          </a:xfrm>
          <a:prstGeom prst="rect">
            <a:avLst/>
          </a:prstGeom>
          <a:noFill/>
          <a:ln/>
        </p:spPr>
        <p:txBody>
          <a:bodyPr wrap="square" lIns="0" tIns="0" rIns="0" bIns="0" rtlCol="0" anchor="t"/>
          <a:lstStyle/>
          <a:p>
            <a:pPr indent="0" marL="0">
              <a:buNone/>
            </a:pPr>
            <a:r>
              <a:rPr lang="en-US" sz="1300" b="1" dirty="0">
                <a:solidFill>
                  <a:srgbClr val="0B1320"/>
                </a:solidFill>
                <a:latin typeface="Arial" pitchFamily="34" charset="0"/>
                <a:ea typeface="Arial" pitchFamily="34" charset="-122"/>
                <a:cs typeface="Arial" pitchFamily="34" charset="-120"/>
              </a:rPr>
              <a:t>Identity</a:t>
            </a:r>
            <a:endParaRPr lang="en-US" sz="1300" dirty="0"/>
          </a:p>
        </p:txBody>
      </p:sp>
      <p:sp>
        <p:nvSpPr>
          <p:cNvPr id="17" name="Text 15"/>
          <p:cNvSpPr txBox="1"/>
          <p:nvPr/>
        </p:nvSpPr>
        <p:spPr>
          <a:xfrm>
            <a:off x="6217920" y="4142232"/>
            <a:ext cx="2377440" cy="274320"/>
          </a:xfrm>
          <a:prstGeom prst="rect">
            <a:avLst/>
          </a:prstGeom>
          <a:noFill/>
          <a:ln/>
        </p:spPr>
        <p:txBody>
          <a:bodyPr wrap="square" lIns="0" tIns="0" rIns="0" bIns="0" rtlCol="0" anchor="t"/>
          <a:lstStyle/>
          <a:p>
            <a:pPr indent="0" marL="0">
              <a:buNone/>
            </a:pPr>
            <a:r>
              <a:rPr lang="en-US" sz="1050" dirty="0">
                <a:solidFill>
                  <a:srgbClr val="5B6577"/>
                </a:solidFill>
                <a:latin typeface="Arial" pitchFamily="34" charset="0"/>
                <a:ea typeface="Arial" pitchFamily="34" charset="-122"/>
                <a:cs typeface="Arial" pitchFamily="34" charset="-120"/>
              </a:rPr>
              <a:t>UI data matches span attributes</a:t>
            </a:r>
            <a:endParaRPr lang="en-US" sz="1050" dirty="0"/>
          </a:p>
        </p:txBody>
      </p:sp>
      <p:sp>
        <p:nvSpPr>
          <p:cNvPr id="18" name="Text 16"/>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5B6577"/>
                </a:solidFill>
                <a:latin typeface="Arial" pitchFamily="34" charset="0"/>
                <a:ea typeface="Arial" pitchFamily="34" charset="-122"/>
                <a:cs typeface="Arial" pitchFamily="34" charset="-120"/>
              </a:rPr>
              <a:t>Stop guessing, start seeing  ·  Motacon 2026</a:t>
            </a:r>
            <a:endParaRPr lang="en-US" sz="800" dirty="0"/>
          </a:p>
        </p:txBody>
      </p:sp>
      <p:sp>
        <p:nvSpPr>
          <p:cNvPr id="19" name="Text 17"/>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00" dirty="0">
                <a:solidFill>
                  <a:srgbClr val="5B6577"/>
                </a:solidFill>
                <a:latin typeface="Arial" pitchFamily="34" charset="0"/>
                <a:ea typeface="Arial" pitchFamily="34" charset="-122"/>
                <a:cs typeface="Arial"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64592"/>
            <a:ext cx="8229600" cy="228600"/>
          </a:xfrm>
          <a:prstGeom prst="rect">
            <a:avLst/>
          </a:prstGeom>
          <a:noFill/>
          <a:ln/>
        </p:spPr>
        <p:txBody>
          <a:bodyPr wrap="square" lIns="0" tIns="0" rIns="0" bIns="0" rtlCol="0" anchor="t"/>
          <a:lstStyle/>
          <a:p>
            <a:pPr indent="0" marL="0">
              <a:buNone/>
            </a:pPr>
            <a:r>
              <a:rPr lang="en-US" sz="1000" b="1" spc="300" kern="0" dirty="0">
                <a:solidFill>
                  <a:srgbClr val="B7770A"/>
                </a:solidFill>
                <a:latin typeface="Arial" pitchFamily="34" charset="0"/>
                <a:ea typeface="Arial" pitchFamily="34" charset="-122"/>
                <a:cs typeface="Arial" pitchFamily="34" charset="-120"/>
              </a:rPr>
              <a:t>MONDAY MORNING</a:t>
            </a:r>
            <a:endParaRPr lang="en-US" sz="1000" dirty="0"/>
          </a:p>
        </p:txBody>
      </p:sp>
      <p:sp>
        <p:nvSpPr>
          <p:cNvPr id="3" name="Text 1"/>
          <p:cNvSpPr txBox="1"/>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0B1320"/>
                </a:solidFill>
                <a:latin typeface="Arial" pitchFamily="34" charset="0"/>
                <a:ea typeface="Arial" pitchFamily="34" charset="-122"/>
                <a:cs typeface="Arial" pitchFamily="34" charset="-120"/>
              </a:rPr>
              <a:t>Start small, and watch the sharp edges</a:t>
            </a:r>
            <a:endParaRPr lang="en-US" sz="3000" dirty="0"/>
          </a:p>
        </p:txBody>
      </p:sp>
      <p:sp>
        <p:nvSpPr>
          <p:cNvPr id="4" name="Text 2"/>
          <p:cNvSpPr txBox="1"/>
          <p:nvPr/>
        </p:nvSpPr>
        <p:spPr>
          <a:xfrm>
            <a:off x="457200" y="1325880"/>
            <a:ext cx="4206240" cy="274320"/>
          </a:xfrm>
          <a:prstGeom prst="rect">
            <a:avLst/>
          </a:prstGeom>
          <a:noFill/>
          <a:ln/>
        </p:spPr>
        <p:txBody>
          <a:bodyPr wrap="square" lIns="0" tIns="0" rIns="0" bIns="0" rtlCol="0" anchor="t"/>
          <a:lstStyle/>
          <a:p>
            <a:pPr indent="0" marL="0">
              <a:buNone/>
            </a:pPr>
            <a:r>
              <a:rPr lang="en-US" sz="1200" b="1" spc="300" kern="0" dirty="0">
                <a:solidFill>
                  <a:srgbClr val="1FB5A8"/>
                </a:solidFill>
                <a:latin typeface="Arial" pitchFamily="34" charset="0"/>
                <a:ea typeface="Arial" pitchFamily="34" charset="-122"/>
                <a:cs typeface="Arial" pitchFamily="34" charset="-120"/>
              </a:rPr>
              <a:t>DO THIS</a:t>
            </a:r>
            <a:endParaRPr lang="en-US" sz="1200" dirty="0"/>
          </a:p>
        </p:txBody>
      </p:sp>
      <p:sp>
        <p:nvSpPr>
          <p:cNvPr id="5" name="Shape 3"/>
          <p:cNvSpPr/>
          <p:nvPr/>
        </p:nvSpPr>
        <p:spPr>
          <a:xfrm>
            <a:off x="457200" y="1691640"/>
            <a:ext cx="384048" cy="384048"/>
          </a:xfrm>
          <a:prstGeom prst="ellipse">
            <a:avLst/>
          </a:prstGeom>
          <a:solidFill>
            <a:srgbClr val="1FB5A8"/>
          </a:solidFill>
          <a:ln w="12700">
            <a:solidFill>
              <a:srgbClr val="1FB5A8"/>
            </a:solidFill>
            <a:prstDash val="solid"/>
          </a:ln>
        </p:spPr>
      </p:sp>
      <p:sp>
        <p:nvSpPr>
          <p:cNvPr id="6" name="Text 4"/>
          <p:cNvSpPr txBox="1"/>
          <p:nvPr/>
        </p:nvSpPr>
        <p:spPr>
          <a:xfrm>
            <a:off x="457200" y="1691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005840" y="1655064"/>
            <a:ext cx="3566160" cy="457200"/>
          </a:xfrm>
          <a:prstGeom prst="rect">
            <a:avLst/>
          </a:prstGeom>
          <a:noFill/>
          <a:ln/>
        </p:spPr>
        <p:txBody>
          <a:bodyPr wrap="square" lIns="0" tIns="0" rIns="0" bIns="0" rtlCol="0" anchor="ctr"/>
          <a:lstStyle/>
          <a:p>
            <a:pPr indent="0" marL="0">
              <a:buNone/>
            </a:pPr>
            <a:r>
              <a:rPr lang="en-US" sz="1300" dirty="0">
                <a:solidFill>
                  <a:srgbClr val="0B1320"/>
                </a:solidFill>
                <a:latin typeface="Arial" pitchFamily="34" charset="0"/>
                <a:ea typeface="Arial" pitchFamily="34" charset="-122"/>
                <a:cs typeface="Arial" pitchFamily="34" charset="-120"/>
              </a:rPr>
              <a:t>Instrument one service with OTel auto-instrumentation</a:t>
            </a:r>
            <a:endParaRPr lang="en-US" sz="1300" dirty="0"/>
          </a:p>
        </p:txBody>
      </p:sp>
      <p:sp>
        <p:nvSpPr>
          <p:cNvPr id="8" name="Shape 6"/>
          <p:cNvSpPr/>
          <p:nvPr/>
        </p:nvSpPr>
        <p:spPr>
          <a:xfrm>
            <a:off x="457200" y="2377440"/>
            <a:ext cx="384048" cy="384048"/>
          </a:xfrm>
          <a:prstGeom prst="ellipse">
            <a:avLst/>
          </a:prstGeom>
          <a:solidFill>
            <a:srgbClr val="1FB5A8"/>
          </a:solidFill>
          <a:ln w="12700">
            <a:solidFill>
              <a:srgbClr val="1FB5A8"/>
            </a:solidFill>
            <a:prstDash val="solid"/>
          </a:ln>
        </p:spPr>
      </p:sp>
      <p:sp>
        <p:nvSpPr>
          <p:cNvPr id="9" name="Text 7"/>
          <p:cNvSpPr txBox="1"/>
          <p:nvPr/>
        </p:nvSpPr>
        <p:spPr>
          <a:xfrm>
            <a:off x="457200" y="2377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1005840" y="2340864"/>
            <a:ext cx="3566160" cy="457200"/>
          </a:xfrm>
          <a:prstGeom prst="rect">
            <a:avLst/>
          </a:prstGeom>
          <a:noFill/>
          <a:ln/>
        </p:spPr>
        <p:txBody>
          <a:bodyPr wrap="square" lIns="0" tIns="0" rIns="0" bIns="0" rtlCol="0" anchor="ctr"/>
          <a:lstStyle/>
          <a:p>
            <a:pPr indent="0" marL="0">
              <a:buNone/>
            </a:pPr>
            <a:r>
              <a:rPr lang="en-US" sz="1300" dirty="0">
                <a:solidFill>
                  <a:srgbClr val="0B1320"/>
                </a:solidFill>
                <a:latin typeface="Arial" pitchFamily="34" charset="0"/>
                <a:ea typeface="Arial" pitchFamily="34" charset="-122"/>
                <a:cs typeface="Arial" pitchFamily="34" charset="-120"/>
              </a:rPr>
              <a:t>Propagate traceparent from your E2E tests (BiDi, or a proxy)</a:t>
            </a:r>
            <a:endParaRPr lang="en-US" sz="1300" dirty="0"/>
          </a:p>
        </p:txBody>
      </p:sp>
      <p:sp>
        <p:nvSpPr>
          <p:cNvPr id="11" name="Shape 9"/>
          <p:cNvSpPr/>
          <p:nvPr/>
        </p:nvSpPr>
        <p:spPr>
          <a:xfrm>
            <a:off x="457200" y="3063240"/>
            <a:ext cx="384048" cy="384048"/>
          </a:xfrm>
          <a:prstGeom prst="ellipse">
            <a:avLst/>
          </a:prstGeom>
          <a:solidFill>
            <a:srgbClr val="1FB5A8"/>
          </a:solidFill>
          <a:ln w="12700">
            <a:solidFill>
              <a:srgbClr val="1FB5A8"/>
            </a:solidFill>
            <a:prstDash val="solid"/>
          </a:ln>
        </p:spPr>
      </p:sp>
      <p:sp>
        <p:nvSpPr>
          <p:cNvPr id="12" name="Text 10"/>
          <p:cNvSpPr txBox="1"/>
          <p:nvPr/>
        </p:nvSpPr>
        <p:spPr>
          <a:xfrm>
            <a:off x="457200" y="3063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3" name="Text 11"/>
          <p:cNvSpPr txBox="1"/>
          <p:nvPr/>
        </p:nvSpPr>
        <p:spPr>
          <a:xfrm>
            <a:off x="1005840" y="3026664"/>
            <a:ext cx="3566160" cy="457200"/>
          </a:xfrm>
          <a:prstGeom prst="rect">
            <a:avLst/>
          </a:prstGeom>
          <a:noFill/>
          <a:ln/>
        </p:spPr>
        <p:txBody>
          <a:bodyPr wrap="square" lIns="0" tIns="0" rIns="0" bIns="0" rtlCol="0" anchor="ctr"/>
          <a:lstStyle/>
          <a:p>
            <a:pPr indent="0" marL="0">
              <a:buNone/>
            </a:pPr>
            <a:r>
              <a:rPr lang="en-US" sz="1300" dirty="0">
                <a:solidFill>
                  <a:srgbClr val="0B1320"/>
                </a:solidFill>
                <a:latin typeface="Arial" pitchFamily="34" charset="0"/>
                <a:ea typeface="Arial" pitchFamily="34" charset="-122"/>
                <a:cs typeface="Arial" pitchFamily="34" charset="-120"/>
              </a:rPr>
              <a:t>Add one trace assertion: no error spans</a:t>
            </a:r>
            <a:endParaRPr lang="en-US" sz="1300" dirty="0"/>
          </a:p>
        </p:txBody>
      </p:sp>
      <p:sp>
        <p:nvSpPr>
          <p:cNvPr id="14" name="Shape 12"/>
          <p:cNvSpPr/>
          <p:nvPr/>
        </p:nvSpPr>
        <p:spPr>
          <a:xfrm>
            <a:off x="457200" y="3749040"/>
            <a:ext cx="384048" cy="384048"/>
          </a:xfrm>
          <a:prstGeom prst="ellipse">
            <a:avLst/>
          </a:prstGeom>
          <a:solidFill>
            <a:srgbClr val="1FB5A8"/>
          </a:solidFill>
          <a:ln w="12700">
            <a:solidFill>
              <a:srgbClr val="1FB5A8"/>
            </a:solidFill>
            <a:prstDash val="solid"/>
          </a:ln>
        </p:spPr>
      </p:sp>
      <p:sp>
        <p:nvSpPr>
          <p:cNvPr id="15" name="Text 13"/>
          <p:cNvSpPr txBox="1"/>
          <p:nvPr/>
        </p:nvSpPr>
        <p:spPr>
          <a:xfrm>
            <a:off x="457200" y="3749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6" name="Text 14"/>
          <p:cNvSpPr txBox="1"/>
          <p:nvPr/>
        </p:nvSpPr>
        <p:spPr>
          <a:xfrm>
            <a:off x="1005840" y="3712464"/>
            <a:ext cx="3566160" cy="457200"/>
          </a:xfrm>
          <a:prstGeom prst="rect">
            <a:avLst/>
          </a:prstGeom>
          <a:noFill/>
          <a:ln/>
        </p:spPr>
        <p:txBody>
          <a:bodyPr wrap="square" lIns="0" tIns="0" rIns="0" bIns="0" rtlCol="0" anchor="ctr"/>
          <a:lstStyle/>
          <a:p>
            <a:pPr indent="0" marL="0">
              <a:buNone/>
            </a:pPr>
            <a:r>
              <a:rPr lang="en-US" sz="1300" dirty="0">
                <a:solidFill>
                  <a:srgbClr val="0B1320"/>
                </a:solidFill>
                <a:latin typeface="Arial" pitchFamily="34" charset="0"/>
                <a:ea typeface="Arial" pitchFamily="34" charset="-122"/>
                <a:cs typeface="Arial" pitchFamily="34" charset="-120"/>
              </a:rPr>
              <a:t>Mine production traces for your top 5 journeys</a:t>
            </a:r>
            <a:endParaRPr lang="en-US" sz="1300" dirty="0"/>
          </a:p>
        </p:txBody>
      </p:sp>
      <p:sp>
        <p:nvSpPr>
          <p:cNvPr id="17" name="Shape 15"/>
          <p:cNvSpPr/>
          <p:nvPr/>
        </p:nvSpPr>
        <p:spPr>
          <a:xfrm>
            <a:off x="4937760" y="1325880"/>
            <a:ext cx="3749040" cy="3200400"/>
          </a:xfrm>
          <a:prstGeom prst="roundRect">
            <a:avLst>
              <a:gd name="adj" fmla="val 2286"/>
            </a:avLst>
          </a:prstGeom>
          <a:solidFill>
            <a:srgbClr val="0B1320"/>
          </a:solidFill>
          <a:ln w="12700">
            <a:solidFill>
              <a:srgbClr val="0B1320"/>
            </a:solidFill>
            <a:prstDash val="solid"/>
          </a:ln>
        </p:spPr>
      </p:sp>
      <p:sp>
        <p:nvSpPr>
          <p:cNvPr id="18" name="Text 16"/>
          <p:cNvSpPr txBox="1"/>
          <p:nvPr/>
        </p:nvSpPr>
        <p:spPr>
          <a:xfrm>
            <a:off x="5212080" y="1508760"/>
            <a:ext cx="3291840" cy="274320"/>
          </a:xfrm>
          <a:prstGeom prst="rect">
            <a:avLst/>
          </a:prstGeom>
          <a:noFill/>
          <a:ln/>
        </p:spPr>
        <p:txBody>
          <a:bodyPr wrap="square" lIns="0" tIns="0" rIns="0" bIns="0" rtlCol="0" anchor="t"/>
          <a:lstStyle/>
          <a:p>
            <a:pPr indent="0" marL="0">
              <a:buNone/>
            </a:pPr>
            <a:r>
              <a:rPr lang="en-US" sz="1200" b="1" spc="300" kern="0" dirty="0">
                <a:solidFill>
                  <a:srgbClr val="F5A524"/>
                </a:solidFill>
                <a:latin typeface="Arial" pitchFamily="34" charset="0"/>
                <a:ea typeface="Arial" pitchFamily="34" charset="-122"/>
                <a:cs typeface="Arial" pitchFamily="34" charset="-120"/>
              </a:rPr>
              <a:t>WATCH OUT FOR</a:t>
            </a:r>
            <a:endParaRPr lang="en-US" sz="1200" dirty="0"/>
          </a:p>
        </p:txBody>
      </p:sp>
      <p:sp>
        <p:nvSpPr>
          <p:cNvPr id="19" name="Text 17"/>
          <p:cNvSpPr txBox="1"/>
          <p:nvPr/>
        </p:nvSpPr>
        <p:spPr>
          <a:xfrm>
            <a:off x="5212080" y="1920240"/>
            <a:ext cx="3291840" cy="246888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FFFFFF"/>
                </a:solidFill>
                <a:latin typeface="Arial" pitchFamily="34" charset="0"/>
                <a:ea typeface="Arial" pitchFamily="34" charset="-122"/>
                <a:cs typeface="Arial" pitchFamily="34" charset="-120"/>
              </a:rPr>
              <a:t>PII in span attributes: scrub before replay</a:t>
            </a:r>
            <a:endParaRPr lang="en-US" sz="1300" dirty="0"/>
          </a:p>
          <a:p>
            <a:pPr marL="342900" indent="-342900">
              <a:spcAft>
                <a:spcPts val="1000"/>
              </a:spcAft>
              <a:buSzPct val="100000"/>
              <a:buChar char="•"/>
            </a:pPr>
            <a:r>
              <a:rPr lang="en-US" sz="1300" dirty="0">
                <a:solidFill>
                  <a:srgbClr val="FFFFFF"/>
                </a:solidFill>
                <a:latin typeface="Arial" pitchFamily="34" charset="0"/>
                <a:ea typeface="Arial" pitchFamily="34" charset="-122"/>
                <a:cs typeface="Arial" pitchFamily="34" charset="-120"/>
              </a:rPr>
              <a:t>Sampling: a missing span is not always a bug</a:t>
            </a:r>
            <a:endParaRPr lang="en-US" sz="1300" dirty="0"/>
          </a:p>
          <a:p>
            <a:pPr marL="342900" indent="-342900">
              <a:spcAft>
                <a:spcPts val="1000"/>
              </a:spcAft>
              <a:buSzPct val="100000"/>
              <a:buChar char="•"/>
            </a:pPr>
            <a:r>
              <a:rPr lang="en-US" sz="1300" dirty="0">
                <a:solidFill>
                  <a:srgbClr val="FFFFFF"/>
                </a:solidFill>
                <a:latin typeface="Arial" pitchFamily="34" charset="0"/>
                <a:ea typeface="Arial" pitchFamily="34" charset="-122"/>
                <a:cs typeface="Arial" pitchFamily="34" charset="-120"/>
              </a:rPr>
              <a:t>Exporter flush: force_flush() before you query</a:t>
            </a:r>
            <a:endParaRPr lang="en-US" sz="1300" dirty="0"/>
          </a:p>
          <a:p>
            <a:pPr marL="342900" indent="-342900">
              <a:spcAft>
                <a:spcPts val="1000"/>
              </a:spcAft>
              <a:buSzPct val="100000"/>
              <a:buChar char="•"/>
            </a:pPr>
            <a:r>
              <a:rPr lang="en-US" sz="1300" dirty="0">
                <a:solidFill>
                  <a:srgbClr val="FFFFFF"/>
                </a:solidFill>
                <a:latin typeface="Arial" pitchFamily="34" charset="0"/>
                <a:ea typeface="Arial" pitchFamily="34" charset="-122"/>
                <a:cs typeface="Arial" pitchFamily="34" charset="-120"/>
              </a:rPr>
              <a:t>Cardinality and cost of high-volume telemetry</a:t>
            </a:r>
            <a:endParaRPr lang="en-US" sz="1300" dirty="0"/>
          </a:p>
        </p:txBody>
      </p:sp>
      <p:sp>
        <p:nvSpPr>
          <p:cNvPr id="20" name="Text 18"/>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5B6577"/>
                </a:solidFill>
                <a:latin typeface="Arial" pitchFamily="34" charset="0"/>
                <a:ea typeface="Arial" pitchFamily="34" charset="-122"/>
                <a:cs typeface="Arial" pitchFamily="34" charset="-120"/>
              </a:rPr>
              <a:t>Stop guessing, start seeing  ·  Motacon 2026</a:t>
            </a:r>
            <a:endParaRPr lang="en-US" sz="800" dirty="0"/>
          </a:p>
        </p:txBody>
      </p:sp>
      <p:sp>
        <p:nvSpPr>
          <p:cNvPr id="21" name="Text 19"/>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00" dirty="0">
                <a:solidFill>
                  <a:srgbClr val="5B6577"/>
                </a:solidFill>
                <a:latin typeface="Arial" pitchFamily="34" charset="0"/>
                <a:ea typeface="Arial" pitchFamily="34" charset="-122"/>
                <a:cs typeface="Arial" pitchFamily="34" charset="-120"/>
              </a:rPr>
              <a:t>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320"/>
        </a:solidFill>
      </p:bgPr>
    </p:bg>
    <p:spTree>
      <p:nvGrpSpPr>
        <p:cNvPr id="1" name=""/>
        <p:cNvGrpSpPr/>
        <p:nvPr/>
      </p:nvGrpSpPr>
      <p:grpSpPr>
        <a:xfrm>
          <a:off x="0" y="0"/>
          <a:ext cx="0" cy="0"/>
          <a:chOff x="0" y="0"/>
          <a:chExt cx="0" cy="0"/>
        </a:xfrm>
      </p:grpSpPr>
      <p:sp>
        <p:nvSpPr>
          <p:cNvPr id="2" name="Shape 0"/>
          <p:cNvSpPr/>
          <p:nvPr/>
        </p:nvSpPr>
        <p:spPr>
          <a:xfrm>
            <a:off x="548640" y="822960"/>
            <a:ext cx="1152144" cy="115214"/>
          </a:xfrm>
          <a:prstGeom prst="roundRect">
            <a:avLst>
              <a:gd name="adj" fmla="val 47619"/>
            </a:avLst>
          </a:prstGeom>
          <a:solidFill>
            <a:srgbClr val="F5A524"/>
          </a:solidFill>
          <a:ln w="12700">
            <a:solidFill>
              <a:srgbClr val="F5A524"/>
            </a:solidFill>
            <a:prstDash val="solid"/>
          </a:ln>
        </p:spPr>
      </p:sp>
      <p:sp>
        <p:nvSpPr>
          <p:cNvPr id="3" name="Shape 1"/>
          <p:cNvSpPr/>
          <p:nvPr/>
        </p:nvSpPr>
        <p:spPr>
          <a:xfrm>
            <a:off x="740664" y="1027786"/>
            <a:ext cx="768096" cy="115214"/>
          </a:xfrm>
          <a:prstGeom prst="roundRect">
            <a:avLst>
              <a:gd name="adj" fmla="val 47619"/>
            </a:avLst>
          </a:prstGeom>
          <a:solidFill>
            <a:srgbClr val="8B7CF6"/>
          </a:solidFill>
          <a:ln w="12700">
            <a:solidFill>
              <a:srgbClr val="8B7CF6"/>
            </a:solidFill>
            <a:prstDash val="solid"/>
          </a:ln>
        </p:spPr>
      </p:sp>
      <p:sp>
        <p:nvSpPr>
          <p:cNvPr id="4" name="Shape 2"/>
          <p:cNvSpPr/>
          <p:nvPr/>
        </p:nvSpPr>
        <p:spPr>
          <a:xfrm>
            <a:off x="932688" y="1232611"/>
            <a:ext cx="512064" cy="115214"/>
          </a:xfrm>
          <a:prstGeom prst="roundRect">
            <a:avLst>
              <a:gd name="adj" fmla="val 47619"/>
            </a:avLst>
          </a:prstGeom>
          <a:solidFill>
            <a:srgbClr val="1FB5A8"/>
          </a:solidFill>
          <a:ln w="12700">
            <a:solidFill>
              <a:srgbClr val="1FB5A8"/>
            </a:solidFill>
            <a:prstDash val="solid"/>
          </a:ln>
        </p:spPr>
      </p:sp>
      <p:sp>
        <p:nvSpPr>
          <p:cNvPr id="5" name="Text 3"/>
          <p:cNvSpPr txBox="1"/>
          <p:nvPr/>
        </p:nvSpPr>
        <p:spPr>
          <a:xfrm>
            <a:off x="548640" y="1600200"/>
            <a:ext cx="7772400" cy="137160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Stop guessing.</a:t>
            </a:r>
            <a:endParaRPr lang="en-US" sz="4400" dirty="0"/>
          </a:p>
          <a:p>
            <a:pPr indent="0" marL="0">
              <a:buNone/>
            </a:pPr>
            <a:r>
              <a:rPr lang="en-US" sz="4400" b="1" dirty="0">
                <a:solidFill>
                  <a:srgbClr val="FFFFFF"/>
                </a:solidFill>
                <a:latin typeface="Arial" pitchFamily="34" charset="0"/>
                <a:ea typeface="Arial" pitchFamily="34" charset="-122"/>
                <a:cs typeface="Arial" pitchFamily="34" charset="-120"/>
              </a:rPr>
              <a:t>Start seeing.</a:t>
            </a:r>
            <a:endParaRPr lang="en-US" sz="4400" dirty="0"/>
          </a:p>
        </p:txBody>
      </p:sp>
      <p:sp>
        <p:nvSpPr>
          <p:cNvPr id="6" name="Text 4"/>
          <p:cNvSpPr txBox="1"/>
          <p:nvPr/>
        </p:nvSpPr>
        <p:spPr>
          <a:xfrm>
            <a:off x="548640" y="3246120"/>
            <a:ext cx="5029200" cy="11887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9AA4B5"/>
                </a:solidFill>
                <a:latin typeface="Arial" pitchFamily="34" charset="0"/>
                <a:ea typeface="Arial" pitchFamily="34" charset="-122"/>
                <a:cs typeface="Arial" pitchFamily="34" charset="-120"/>
              </a:rPr>
              <a:t>Telemetry is the oracle</a:t>
            </a:r>
            <a:endParaRPr lang="en-US" sz="1500" dirty="0"/>
          </a:p>
          <a:p>
            <a:pPr marL="342900" indent="-342900">
              <a:spcAft>
                <a:spcPts val="600"/>
              </a:spcAft>
              <a:buSzPct val="100000"/>
              <a:buChar char="•"/>
            </a:pPr>
            <a:r>
              <a:rPr lang="en-US" sz="1500" dirty="0">
                <a:solidFill>
                  <a:srgbClr val="9AA4B5"/>
                </a:solidFill>
                <a:latin typeface="Arial" pitchFamily="34" charset="0"/>
                <a:ea typeface="Arial" pitchFamily="34" charset="-122"/>
                <a:cs typeface="Arial" pitchFamily="34" charset="-120"/>
              </a:rPr>
              <a:t>The test is the root of the trace</a:t>
            </a:r>
            <a:endParaRPr lang="en-US" sz="1500" dirty="0"/>
          </a:p>
          <a:p>
            <a:pPr marL="342900" indent="-342900">
              <a:spcAft>
                <a:spcPts val="600"/>
              </a:spcAft>
              <a:buSzPct val="100000"/>
              <a:buChar char="•"/>
            </a:pPr>
            <a:r>
              <a:rPr lang="en-US" sz="1500" dirty="0">
                <a:solidFill>
                  <a:srgbClr val="9AA4B5"/>
                </a:solidFill>
                <a:latin typeface="Arial" pitchFamily="34" charset="0"/>
                <a:ea typeface="Arial" pitchFamily="34" charset="-122"/>
                <a:cs typeface="Arial" pitchFamily="34" charset="-120"/>
              </a:rPr>
              <a:t>Production journeys are your regression suite</a:t>
            </a:r>
            <a:endParaRPr lang="en-US" sz="1500" dirty="0"/>
          </a:p>
        </p:txBody>
      </p:sp>
      <p:sp>
        <p:nvSpPr>
          <p:cNvPr id="7" name="Text 5"/>
          <p:cNvSpPr txBox="1"/>
          <p:nvPr/>
        </p:nvSpPr>
        <p:spPr>
          <a:xfrm>
            <a:off x="5852160" y="3017520"/>
            <a:ext cx="2834640" cy="411480"/>
          </a:xfrm>
          <a:prstGeom prst="rect">
            <a:avLst/>
          </a:prstGeom>
          <a:noFill/>
          <a:ln/>
        </p:spPr>
        <p:txBody>
          <a:bodyPr wrap="square" lIns="0" tIns="0" rIns="0" bIns="0" rtlCol="0" anchor="t"/>
          <a:lstStyle/>
          <a:p>
            <a:pPr algn="r" indent="0" marL="0">
              <a:buNone/>
            </a:pPr>
            <a:r>
              <a:rPr lang="en-US" sz="2200" b="1" dirty="0">
                <a:solidFill>
                  <a:srgbClr val="F5A524"/>
                </a:solidFill>
                <a:latin typeface="Arial" pitchFamily="34" charset="0"/>
                <a:ea typeface="Arial" pitchFamily="34" charset="-122"/>
                <a:cs typeface="Arial" pitchFamily="34" charset="-120"/>
              </a:rPr>
              <a:t>Thank you</a:t>
            </a:r>
            <a:endParaRPr lang="en-US" sz="2200" dirty="0"/>
          </a:p>
        </p:txBody>
      </p:sp>
      <p:sp>
        <p:nvSpPr>
          <p:cNvPr id="8" name="Text 6"/>
          <p:cNvSpPr txBox="1"/>
          <p:nvPr/>
        </p:nvSpPr>
        <p:spPr>
          <a:xfrm>
            <a:off x="5852160" y="3474720"/>
            <a:ext cx="2834640" cy="640080"/>
          </a:xfrm>
          <a:prstGeom prst="rect">
            <a:avLst/>
          </a:prstGeom>
          <a:noFill/>
          <a:ln/>
        </p:spPr>
        <p:txBody>
          <a:bodyPr wrap="square" lIns="0" tIns="0" rIns="0" bIns="0" rtlCol="0" anchor="t"/>
          <a:lstStyle/>
          <a:p>
            <a:pPr algn="r" indent="0" marL="0">
              <a:buNone/>
            </a:pPr>
            <a:r>
              <a:rPr lang="en-US" sz="1200" dirty="0">
                <a:solidFill>
                  <a:srgbClr val="FFFFFF"/>
                </a:solidFill>
                <a:latin typeface="Arial" pitchFamily="34" charset="0"/>
                <a:ea typeface="Arial" pitchFamily="34" charset="-122"/>
                <a:cs typeface="Arial" pitchFamily="34" charset="-120"/>
              </a:rPr>
              <a:t>David Burns</a:t>
            </a:r>
            <a:endParaRPr lang="en-US" sz="1200" dirty="0"/>
          </a:p>
          <a:p>
            <a:pPr algn="r" indent="0" marL="0">
              <a:buNone/>
            </a:pPr>
            <a:r>
              <a:rPr lang="en-US" sz="1200" dirty="0">
                <a:solidFill>
                  <a:srgbClr val="FFFFFF"/>
                </a:solidFill>
                <a:latin typeface="Arial" pitchFamily="34" charset="0"/>
                <a:ea typeface="Arial" pitchFamily="34" charset="-122"/>
                <a:cs typeface="Arial" pitchFamily="34" charset="-120"/>
              </a:rPr>
              <a:t>github.com/AutomatedTester</a:t>
            </a:r>
            <a:endParaRPr lang="en-US" sz="1200" dirty="0"/>
          </a:p>
        </p:txBody>
      </p:sp>
      <p:sp>
        <p:nvSpPr>
          <p:cNvPr id="9" name="Text 7"/>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00" dirty="0">
                <a:solidFill>
                  <a:srgbClr val="9AA4B5"/>
                </a:solidFill>
                <a:latin typeface="Arial" pitchFamily="34" charset="0"/>
                <a:ea typeface="Arial" pitchFamily="34" charset="-122"/>
                <a:cs typeface="Arial" pitchFamily="34" charset="-120"/>
              </a:rPr>
              <a:t>Stop guessing, start seeing  ·  Motacon 2026</a:t>
            </a:r>
            <a:endParaRPr lang="en-US" sz="800" dirty="0"/>
          </a:p>
        </p:txBody>
      </p:sp>
      <p:sp>
        <p:nvSpPr>
          <p:cNvPr id="10" name="Text 8"/>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00" dirty="0">
                <a:solidFill>
                  <a:srgbClr val="9AA4B5"/>
                </a:solidFill>
                <a:latin typeface="Arial" pitchFamily="34" charset="0"/>
                <a:ea typeface="Arial" pitchFamily="34" charset="-122"/>
                <a:cs typeface="Arial" pitchFamily="34" charset="-120"/>
              </a:rPr>
              <a:t>22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Stop guessing, start seeing: the rise of Observability-Driven Testing</dc:title>
  <dc:subject>PptxGenJS Presentation</dc:subject>
  <dc:creator>David Burns</dc:creator>
  <cp:lastModifiedBy>David Burns</cp:lastModifiedBy>
  <cp:revision>1</cp:revision>
  <dcterms:created xsi:type="dcterms:W3CDTF">2026-09-25T10:44:53Z</dcterms:created>
  <dcterms:modified xsi:type="dcterms:W3CDTF">2026-09-25T10:44:53Z</dcterms:modified>
</cp:coreProperties>
</file>